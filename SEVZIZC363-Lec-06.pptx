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60" r:id="rId2"/>
    <p:sldId id="257" r:id="rId3"/>
    <p:sldId id="599" r:id="rId4"/>
    <p:sldId id="600" r:id="rId5"/>
    <p:sldId id="507" r:id="rId6"/>
    <p:sldId id="540" r:id="rId7"/>
    <p:sldId id="541" r:id="rId8"/>
    <p:sldId id="543" r:id="rId9"/>
    <p:sldId id="539" r:id="rId10"/>
    <p:sldId id="508" r:id="rId11"/>
    <p:sldId id="509" r:id="rId12"/>
    <p:sldId id="510" r:id="rId13"/>
    <p:sldId id="511" r:id="rId14"/>
    <p:sldId id="512" r:id="rId15"/>
    <p:sldId id="513" r:id="rId16"/>
    <p:sldId id="514" r:id="rId17"/>
    <p:sldId id="515" r:id="rId18"/>
    <p:sldId id="516" r:id="rId19"/>
    <p:sldId id="517" r:id="rId20"/>
    <p:sldId id="518" r:id="rId21"/>
    <p:sldId id="519" r:id="rId22"/>
    <p:sldId id="520" r:id="rId23"/>
    <p:sldId id="522" r:id="rId24"/>
    <p:sldId id="535" r:id="rId25"/>
    <p:sldId id="523" r:id="rId26"/>
    <p:sldId id="524" r:id="rId27"/>
    <p:sldId id="525" r:id="rId28"/>
    <p:sldId id="526" r:id="rId29"/>
    <p:sldId id="527" r:id="rId30"/>
    <p:sldId id="528" r:id="rId31"/>
    <p:sldId id="529" r:id="rId32"/>
    <p:sldId id="530" r:id="rId33"/>
    <p:sldId id="531" r:id="rId34"/>
    <p:sldId id="532" r:id="rId35"/>
    <p:sldId id="537" r:id="rId36"/>
    <p:sldId id="533" r:id="rId37"/>
    <p:sldId id="538" r:id="rId38"/>
    <p:sldId id="53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C18207-F25A-4EAF-AFF7-23242646E77D}">
          <p14:sldIdLst>
            <p14:sldId id="260"/>
            <p14:sldId id="257"/>
            <p14:sldId id="599"/>
            <p14:sldId id="600"/>
            <p14:sldId id="507"/>
            <p14:sldId id="540"/>
            <p14:sldId id="541"/>
            <p14:sldId id="543"/>
            <p14:sldId id="539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2"/>
            <p14:sldId id="535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7"/>
            <p14:sldId id="533"/>
            <p14:sldId id="538"/>
            <p14:sldId id="5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98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B4E8DC-0834-4650-9D61-C4E340743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AC8CB-8A01-44F9-850C-16FE848F51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79B6-C1D5-4ED8-A556-C696C458761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48502-FD76-4E89-AE94-AA0CB984F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8A08-D39B-4959-9CF9-CD46C1288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2BC3D-0DAC-4FAD-B9FD-6500134C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2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7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9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113943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9A58594-808C-449C-B483-BE1860649E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2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7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6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5D9FA3-A275-4FFC-BD28-8294B363B9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2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4" y="1131249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CE4EB96-C0BE-4CCE-B15C-C776F702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0"/>
            <a:ext cx="6705600" cy="1524000"/>
          </a:xfrm>
        </p:spPr>
        <p:txBody>
          <a:bodyPr/>
          <a:lstStyle/>
          <a:p>
            <a:pPr algn="ctr"/>
            <a:r>
              <a:rPr lang="en-US" sz="2800"/>
              <a:t>Data </a:t>
            </a:r>
            <a:r>
              <a:rPr lang="en-US" sz="2800" dirty="0"/>
              <a:t>Structures and Algorithms Design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257802"/>
            <a:ext cx="6019800" cy="685799"/>
          </a:xfrm>
        </p:spPr>
        <p:txBody>
          <a:bodyPr/>
          <a:lstStyle/>
          <a:p>
            <a:r>
              <a:rPr lang="en-US" sz="1600" dirty="0"/>
              <a:t>Harish Aggarwal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 anchor="ctr"/>
          <a:lstStyle/>
          <a:p>
            <a:pPr algn="ctr"/>
            <a:r>
              <a:rPr lang="en-US" sz="3200" dirty="0"/>
              <a:t>Hashing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Lecture-01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Introduction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Handout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Text Books, Reference Books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Marks Distribution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Algorithm Analysis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Pseudo Code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Random Access model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Time Complexity of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Asymptotic Notations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Basic Maths Needed in the course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Lecture-02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General Rules and Problems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Non-recursive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Iteration vs Recursion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Tree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Iterative Substitution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Masters Theorem with example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Lecture-03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Abstract Data Types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Arrays and Linked Lists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List, Stack, Queues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 and Linked Implementation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Add, Remove operations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Applications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Infix, </a:t>
            </a:r>
            <a:r>
              <a:rPr lang="en-US" altLang="en-US" sz="1200" dirty="0" err="1"/>
              <a:t>PreFix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PostFix</a:t>
            </a:r>
            <a:r>
              <a:rPr lang="en-US" altLang="en-US" sz="1200" dirty="0"/>
              <a:t> Notations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Lecture-04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relation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Recursion Method (With help from Merge sort)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Substitution Method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Tree – Definitions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Tree –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Proper, (Strict/Full), Complete, Perfect</a:t>
            </a:r>
          </a:p>
          <a:p>
            <a:pPr marL="182880" lvl="1" indent="-18288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Char char="•"/>
            </a:pPr>
            <a:r>
              <a:rPr lang="en-US" altLang="en-US" sz="1200" dirty="0"/>
              <a:t>Tree Traversal – </a:t>
            </a:r>
            <a:r>
              <a:rPr lang="en-US" altLang="en-US" sz="1200" dirty="0" err="1"/>
              <a:t>PreOrder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InOrder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PostOrder</a:t>
            </a: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endParaRPr lang="en-US" altLang="en-US" sz="1200" b="1" dirty="0"/>
          </a:p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Lecture-05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Sorting –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Bubble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Insertion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Selection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Bucket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Quick Sort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Complexity of Sorting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 err="1"/>
              <a:t>Heapify</a:t>
            </a:r>
            <a:endParaRPr lang="en-US" altLang="en-US" sz="1200" dirty="0"/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 Sort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1091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Hash Tables (Intro-1)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0D0FA-4B6F-43C1-B57C-4A7AA3253600}"/>
              </a:ext>
            </a:extLst>
          </p:cNvPr>
          <p:cNvSpPr/>
          <p:nvPr/>
        </p:nvSpPr>
        <p:spPr>
          <a:xfrm>
            <a:off x="228600" y="1589672"/>
            <a:ext cx="5181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Insert 6, 16, 22, 23, 11, 18 in this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Direct Index to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Search, Insert, Delete all take single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range is still limited to 29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Waste of space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BE0F39-0F50-42E9-A958-A811D9F43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699826"/>
            <a:ext cx="81343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9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Hash Tables – (Intro – 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0D0FA-4B6F-43C1-B57C-4A7AA3253600}"/>
              </a:ext>
            </a:extLst>
          </p:cNvPr>
          <p:cNvSpPr/>
          <p:nvPr/>
        </p:nvSpPr>
        <p:spPr>
          <a:xfrm>
            <a:off x="304800" y="1524000"/>
            <a:ext cx="5181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Insert Key (k) - 76, 27, 37, 61, 20, 63, 11, 23  in this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h(k) = k mod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Direct Index to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Search, Insert, Delete all take two operation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One for finding hash value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Another for search, insert, delete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Range of Key is unlimited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BB1C7D-63FD-4521-8217-31B6B82E4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093" y="1648466"/>
            <a:ext cx="1807202" cy="189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D6481B-ACCC-4C54-8768-4A3C2D6AC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19600"/>
            <a:ext cx="4162926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2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Hash Tables – (Intro – 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0D0FA-4B6F-43C1-B57C-4A7AA3253600}"/>
              </a:ext>
            </a:extLst>
          </p:cNvPr>
          <p:cNvSpPr/>
          <p:nvPr/>
        </p:nvSpPr>
        <p:spPr>
          <a:xfrm>
            <a:off x="304800" y="1524000"/>
            <a:ext cx="5867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Insert Key (k) - 74, 27, 36, 63, 19, 30, 16, 25 in this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h(k) = k mod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 –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Direct Index to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Search, Insert, Delete all take two operation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One for finding hash value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Another for search, insert, delete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Range of Key is unlimited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More than one key map to same index (Called as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F2AAA-1502-4044-A7C3-DF4E69A95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50325"/>
            <a:ext cx="181727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27E56-6A70-4538-B75B-C85F9375E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79" y="4721108"/>
            <a:ext cx="4812211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4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Hash Tables – (Intro – 4)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0D0FA-4B6F-43C1-B57C-4A7AA3253600}"/>
              </a:ext>
            </a:extLst>
          </p:cNvPr>
          <p:cNvSpPr/>
          <p:nvPr/>
        </p:nvSpPr>
        <p:spPr>
          <a:xfrm>
            <a:off x="304800" y="1524000"/>
            <a:ext cx="58674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Improve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How to Deal with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Open Addressing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Linear Probing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Quadratic Probing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Double Hashing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66725E1C-9E5B-4F8C-9193-2511C6E61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735007"/>
              </p:ext>
            </p:extLst>
          </p:nvPr>
        </p:nvGraphicFramePr>
        <p:xfrm>
          <a:off x="2438400" y="3620142"/>
          <a:ext cx="381000" cy="23996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969889034"/>
                    </a:ext>
                  </a:extLst>
                </a:gridCol>
              </a:tblGrid>
              <a:tr h="697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72765"/>
                  </a:ext>
                </a:extLst>
              </a:tr>
              <a:tr h="697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924553"/>
                  </a:ext>
                </a:extLst>
              </a:tr>
              <a:tr h="5527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35589"/>
                  </a:ext>
                </a:extLst>
              </a:tr>
              <a:tr h="452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46118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9CC9E3-1379-4D46-8D9A-8A6666A1E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54138"/>
              </p:ext>
            </p:extLst>
          </p:nvPr>
        </p:nvGraphicFramePr>
        <p:xfrm>
          <a:off x="3207727" y="50679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7053030E-6480-43D1-AFE4-17FA0FE65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81519"/>
              </p:ext>
            </p:extLst>
          </p:nvPr>
        </p:nvGraphicFramePr>
        <p:xfrm>
          <a:off x="5569927" y="50679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A07BF6D4-FABB-4D3C-8C62-5EFFE5F9B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236"/>
              </p:ext>
            </p:extLst>
          </p:nvPr>
        </p:nvGraphicFramePr>
        <p:xfrm>
          <a:off x="4388827" y="50679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3C51E960-9B21-4C53-B22E-AB313B65D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19666"/>
              </p:ext>
            </p:extLst>
          </p:nvPr>
        </p:nvGraphicFramePr>
        <p:xfrm>
          <a:off x="6751027" y="50679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  <a:r>
                        <a:rPr lang="en-US" sz="1400" baseline="-25000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0AAD2F99-8396-4558-92EC-AAB2EF007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551889"/>
              </p:ext>
            </p:extLst>
          </p:nvPr>
        </p:nvGraphicFramePr>
        <p:xfrm>
          <a:off x="7932127" y="50679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03FE3F-B018-4EE0-B98F-83AC0FF43594}"/>
              </a:ext>
            </a:extLst>
          </p:cNvPr>
          <p:cNvCxnSpPr>
            <a:cxnSpLocks/>
          </p:cNvCxnSpPr>
          <p:nvPr/>
        </p:nvCxnSpPr>
        <p:spPr>
          <a:xfrm>
            <a:off x="5265127" y="51441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420ADD-184B-4DB2-BC3F-D07658912974}"/>
              </a:ext>
            </a:extLst>
          </p:cNvPr>
          <p:cNvCxnSpPr>
            <a:cxnSpLocks/>
          </p:cNvCxnSpPr>
          <p:nvPr/>
        </p:nvCxnSpPr>
        <p:spPr>
          <a:xfrm>
            <a:off x="4045927" y="51441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CC7273-91AC-46EA-9503-756AED640B1D}"/>
              </a:ext>
            </a:extLst>
          </p:cNvPr>
          <p:cNvCxnSpPr>
            <a:cxnSpLocks/>
          </p:cNvCxnSpPr>
          <p:nvPr/>
        </p:nvCxnSpPr>
        <p:spPr>
          <a:xfrm>
            <a:off x="6408127" y="51441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A6C741-8453-4F28-BA4B-9BBCA593AC38}"/>
              </a:ext>
            </a:extLst>
          </p:cNvPr>
          <p:cNvCxnSpPr>
            <a:cxnSpLocks/>
          </p:cNvCxnSpPr>
          <p:nvPr/>
        </p:nvCxnSpPr>
        <p:spPr>
          <a:xfrm>
            <a:off x="7589227" y="51441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027EC4-FCBD-4827-ABB1-E0BD7F51A56E}"/>
              </a:ext>
            </a:extLst>
          </p:cNvPr>
          <p:cNvCxnSpPr>
            <a:cxnSpLocks/>
          </p:cNvCxnSpPr>
          <p:nvPr/>
        </p:nvCxnSpPr>
        <p:spPr>
          <a:xfrm>
            <a:off x="2826727" y="51441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DC978C-9B01-4FA1-BF6E-04B3EDBE0632}"/>
              </a:ext>
            </a:extLst>
          </p:cNvPr>
          <p:cNvCxnSpPr>
            <a:cxnSpLocks/>
          </p:cNvCxnSpPr>
          <p:nvPr/>
        </p:nvCxnSpPr>
        <p:spPr>
          <a:xfrm flipH="1">
            <a:off x="4045927" y="52965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DE6F0F-98EA-4169-90F7-4A60E08FECD6}"/>
              </a:ext>
            </a:extLst>
          </p:cNvPr>
          <p:cNvCxnSpPr>
            <a:cxnSpLocks/>
          </p:cNvCxnSpPr>
          <p:nvPr/>
        </p:nvCxnSpPr>
        <p:spPr>
          <a:xfrm flipH="1">
            <a:off x="2826727" y="52965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0BCCB8-2518-42ED-AEAC-6CA21B4F5090}"/>
              </a:ext>
            </a:extLst>
          </p:cNvPr>
          <p:cNvCxnSpPr>
            <a:cxnSpLocks/>
          </p:cNvCxnSpPr>
          <p:nvPr/>
        </p:nvCxnSpPr>
        <p:spPr>
          <a:xfrm flipH="1">
            <a:off x="5188927" y="52965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479BC2-37FF-4985-9812-C5ECF3FCB937}"/>
              </a:ext>
            </a:extLst>
          </p:cNvPr>
          <p:cNvCxnSpPr>
            <a:cxnSpLocks/>
          </p:cNvCxnSpPr>
          <p:nvPr/>
        </p:nvCxnSpPr>
        <p:spPr>
          <a:xfrm flipH="1">
            <a:off x="6408127" y="52965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1B6C21-8C89-46A4-8202-199396666416}"/>
              </a:ext>
            </a:extLst>
          </p:cNvPr>
          <p:cNvCxnSpPr>
            <a:cxnSpLocks/>
          </p:cNvCxnSpPr>
          <p:nvPr/>
        </p:nvCxnSpPr>
        <p:spPr>
          <a:xfrm flipH="1">
            <a:off x="7589227" y="52965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7">
            <a:extLst>
              <a:ext uri="{FF2B5EF4-FFF2-40B4-BE49-F238E27FC236}">
                <a16:creationId xmlns:a16="http://schemas.microsoft.com/office/drawing/2014/main" id="{0A9A68ED-D40F-4694-87B3-278C263D1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949371"/>
              </p:ext>
            </p:extLst>
          </p:nvPr>
        </p:nvGraphicFramePr>
        <p:xfrm>
          <a:off x="3207727" y="43821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0D4ECA1A-0964-451D-A1CC-EBFB7461C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282464"/>
              </p:ext>
            </p:extLst>
          </p:nvPr>
        </p:nvGraphicFramePr>
        <p:xfrm>
          <a:off x="5569927" y="43821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ECE7A987-9BD7-4244-9C51-C29971420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510522"/>
              </p:ext>
            </p:extLst>
          </p:nvPr>
        </p:nvGraphicFramePr>
        <p:xfrm>
          <a:off x="4388827" y="4382139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3C7AF4-C25C-4034-B59C-6595735EBFBF}"/>
              </a:ext>
            </a:extLst>
          </p:cNvPr>
          <p:cNvCxnSpPr>
            <a:cxnSpLocks/>
          </p:cNvCxnSpPr>
          <p:nvPr/>
        </p:nvCxnSpPr>
        <p:spPr>
          <a:xfrm>
            <a:off x="5265127" y="44583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B0FD0B-07C1-49D7-98A7-9E499872DEC4}"/>
              </a:ext>
            </a:extLst>
          </p:cNvPr>
          <p:cNvCxnSpPr>
            <a:cxnSpLocks/>
          </p:cNvCxnSpPr>
          <p:nvPr/>
        </p:nvCxnSpPr>
        <p:spPr>
          <a:xfrm>
            <a:off x="4045927" y="44583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DDE126-8072-4820-BB67-CFF1508E4DD9}"/>
              </a:ext>
            </a:extLst>
          </p:cNvPr>
          <p:cNvCxnSpPr>
            <a:cxnSpLocks/>
          </p:cNvCxnSpPr>
          <p:nvPr/>
        </p:nvCxnSpPr>
        <p:spPr>
          <a:xfrm>
            <a:off x="2826727" y="44583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1DA769-977C-4069-96E7-0165AB7D8BE0}"/>
              </a:ext>
            </a:extLst>
          </p:cNvPr>
          <p:cNvCxnSpPr>
            <a:cxnSpLocks/>
          </p:cNvCxnSpPr>
          <p:nvPr/>
        </p:nvCxnSpPr>
        <p:spPr>
          <a:xfrm flipH="1">
            <a:off x="4045927" y="46107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644477-8DD1-45DA-AFCB-C24D0CA8E378}"/>
              </a:ext>
            </a:extLst>
          </p:cNvPr>
          <p:cNvCxnSpPr>
            <a:cxnSpLocks/>
          </p:cNvCxnSpPr>
          <p:nvPr/>
        </p:nvCxnSpPr>
        <p:spPr>
          <a:xfrm flipH="1">
            <a:off x="2826727" y="46107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9BA1E25-1ED3-4D24-B402-CB32B86C09E4}"/>
              </a:ext>
            </a:extLst>
          </p:cNvPr>
          <p:cNvCxnSpPr>
            <a:cxnSpLocks/>
          </p:cNvCxnSpPr>
          <p:nvPr/>
        </p:nvCxnSpPr>
        <p:spPr>
          <a:xfrm flipH="1">
            <a:off x="5188927" y="4610739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35F3327-3D93-4F66-A62D-9B64CDCC0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694254"/>
              </p:ext>
            </p:extLst>
          </p:nvPr>
        </p:nvGraphicFramePr>
        <p:xfrm>
          <a:off x="3200400" y="3733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34" name="Table 7">
            <a:extLst>
              <a:ext uri="{FF2B5EF4-FFF2-40B4-BE49-F238E27FC236}">
                <a16:creationId xmlns:a16="http://schemas.microsoft.com/office/drawing/2014/main" id="{55F12989-5694-44DB-89BF-E777DEB98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585608"/>
              </p:ext>
            </p:extLst>
          </p:nvPr>
        </p:nvGraphicFramePr>
        <p:xfrm>
          <a:off x="5562600" y="3733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35" name="Table 7">
            <a:extLst>
              <a:ext uri="{FF2B5EF4-FFF2-40B4-BE49-F238E27FC236}">
                <a16:creationId xmlns:a16="http://schemas.microsoft.com/office/drawing/2014/main" id="{5BE942E0-3A08-49AD-964C-80082D02F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938917"/>
              </p:ext>
            </p:extLst>
          </p:nvPr>
        </p:nvGraphicFramePr>
        <p:xfrm>
          <a:off x="4381500" y="3733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36" name="Table 7">
            <a:extLst>
              <a:ext uri="{FF2B5EF4-FFF2-40B4-BE49-F238E27FC236}">
                <a16:creationId xmlns:a16="http://schemas.microsoft.com/office/drawing/2014/main" id="{8C0B51D9-79D9-4CAE-9C70-D05CCBC65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43376"/>
              </p:ext>
            </p:extLst>
          </p:nvPr>
        </p:nvGraphicFramePr>
        <p:xfrm>
          <a:off x="6743700" y="3733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  <a:r>
                        <a:rPr lang="en-US" sz="1400" baseline="-25000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9414ED-936D-4967-BFE7-267AC9BE5756}"/>
              </a:ext>
            </a:extLst>
          </p:cNvPr>
          <p:cNvCxnSpPr>
            <a:cxnSpLocks/>
          </p:cNvCxnSpPr>
          <p:nvPr/>
        </p:nvCxnSpPr>
        <p:spPr>
          <a:xfrm>
            <a:off x="5257800" y="3810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B26092-BB15-4153-BCAA-ECD8373431C3}"/>
              </a:ext>
            </a:extLst>
          </p:cNvPr>
          <p:cNvCxnSpPr>
            <a:cxnSpLocks/>
          </p:cNvCxnSpPr>
          <p:nvPr/>
        </p:nvCxnSpPr>
        <p:spPr>
          <a:xfrm>
            <a:off x="4038600" y="3810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B6EF79-5B3A-4B92-BA0B-C87B83588CF7}"/>
              </a:ext>
            </a:extLst>
          </p:cNvPr>
          <p:cNvCxnSpPr>
            <a:cxnSpLocks/>
          </p:cNvCxnSpPr>
          <p:nvPr/>
        </p:nvCxnSpPr>
        <p:spPr>
          <a:xfrm>
            <a:off x="6400800" y="3810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9339FD-CB92-48E3-9F4D-66F65934DE54}"/>
              </a:ext>
            </a:extLst>
          </p:cNvPr>
          <p:cNvCxnSpPr>
            <a:cxnSpLocks/>
          </p:cNvCxnSpPr>
          <p:nvPr/>
        </p:nvCxnSpPr>
        <p:spPr>
          <a:xfrm>
            <a:off x="2819400" y="3810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A781D7F-2802-41D2-9DE6-5D01D7C738C4}"/>
              </a:ext>
            </a:extLst>
          </p:cNvPr>
          <p:cNvCxnSpPr>
            <a:cxnSpLocks/>
          </p:cNvCxnSpPr>
          <p:nvPr/>
        </p:nvCxnSpPr>
        <p:spPr>
          <a:xfrm flipH="1">
            <a:off x="4038600" y="3962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516C94-82E2-4665-84A9-91632DB4ED3A}"/>
              </a:ext>
            </a:extLst>
          </p:cNvPr>
          <p:cNvCxnSpPr>
            <a:cxnSpLocks/>
          </p:cNvCxnSpPr>
          <p:nvPr/>
        </p:nvCxnSpPr>
        <p:spPr>
          <a:xfrm flipH="1">
            <a:off x="2819400" y="3962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B8C798-5CE8-43EC-91E3-4ACC24B41AFF}"/>
              </a:ext>
            </a:extLst>
          </p:cNvPr>
          <p:cNvCxnSpPr>
            <a:cxnSpLocks/>
          </p:cNvCxnSpPr>
          <p:nvPr/>
        </p:nvCxnSpPr>
        <p:spPr>
          <a:xfrm flipH="1">
            <a:off x="5181600" y="3962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8C83FB7-DD7A-402E-8E1F-A00B0293362F}"/>
              </a:ext>
            </a:extLst>
          </p:cNvPr>
          <p:cNvCxnSpPr>
            <a:cxnSpLocks/>
          </p:cNvCxnSpPr>
          <p:nvPr/>
        </p:nvCxnSpPr>
        <p:spPr>
          <a:xfrm flipH="1">
            <a:off x="6400800" y="3962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26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 err="1"/>
              <a:t>HashTables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01D836-1EAA-46D4-96D3-B81D17E15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solidFill>
                  <a:srgbClr val="FF0000"/>
                </a:solidFill>
              </a:rPr>
              <a:t>Aim</a:t>
            </a:r>
          </a:p>
          <a:p>
            <a:pPr>
              <a:buNone/>
            </a:pPr>
            <a:r>
              <a:rPr lang="en-US" sz="2600" dirty="0"/>
              <a:t>To develop a search procedure with running time O(1).</a:t>
            </a:r>
          </a:p>
          <a:p>
            <a:pPr>
              <a:buNone/>
            </a:pPr>
            <a:r>
              <a:rPr lang="en-US" sz="2600" dirty="0"/>
              <a:t>Array is an immediate answer.</a:t>
            </a:r>
          </a:p>
          <a:p>
            <a:pPr>
              <a:buNone/>
            </a:pPr>
            <a:endParaRPr lang="en-US" sz="2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600" dirty="0">
                <a:solidFill>
                  <a:srgbClr val="FF0000"/>
                </a:solidFill>
              </a:rPr>
              <a:t>Example:</a:t>
            </a:r>
            <a:r>
              <a:rPr lang="en-US" sz="2600" dirty="0"/>
              <a:t> Consider a sorted sequence stored in an array.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600" dirty="0"/>
              <a:t>Focus on finding 44.</a:t>
            </a:r>
          </a:p>
          <a:p>
            <a:pPr>
              <a:buNone/>
            </a:pPr>
            <a:r>
              <a:rPr lang="en-US" sz="2600" dirty="0"/>
              <a:t>Binary search does it in O(log n) time</a:t>
            </a:r>
          </a:p>
          <a:p>
            <a:pPr>
              <a:buNone/>
            </a:pPr>
            <a:r>
              <a:rPr lang="en-US" sz="2600" dirty="0"/>
              <a:t>Can we retrieve faster than binary search?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9445D8-0513-4A21-9B42-8A17CEDEF534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615788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17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 err="1"/>
              <a:t>HashTables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0C70A6-D6EC-434F-BD83-1CBFC42E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If 44 was stored in A[44], search would be done in one step.</a:t>
            </a:r>
          </a:p>
          <a:p>
            <a:endParaRPr lang="en-US" sz="2200" dirty="0"/>
          </a:p>
          <a:p>
            <a:r>
              <a:rPr lang="en-US" sz="2200" dirty="0"/>
              <a:t>Problem is if keys are very large.</a:t>
            </a:r>
          </a:p>
          <a:p>
            <a:pPr>
              <a:buNone/>
            </a:pPr>
            <a:r>
              <a:rPr lang="en-US" sz="2200" dirty="0"/>
              <a:t>Lot of cells will be empty and so inefficient in terms of space requirement.</a:t>
            </a:r>
          </a:p>
          <a:p>
            <a:endParaRPr lang="en-US" sz="2200" b="1" dirty="0">
              <a:solidFill>
                <a:srgbClr val="FF0000"/>
              </a:solidFill>
            </a:endParaRPr>
          </a:p>
          <a:p>
            <a:r>
              <a:rPr lang="en-US" sz="2200" b="1" dirty="0">
                <a:solidFill>
                  <a:srgbClr val="FF0000"/>
                </a:solidFill>
              </a:rPr>
              <a:t>Answer : Hash Tables</a:t>
            </a:r>
          </a:p>
          <a:p>
            <a:pPr>
              <a:buFontTx/>
              <a:buChar char="-"/>
            </a:pPr>
            <a:r>
              <a:rPr lang="en-US" sz="2200" dirty="0"/>
              <a:t>Uses an array of size proportional to the number of keys used.</a:t>
            </a:r>
          </a:p>
          <a:p>
            <a:pPr>
              <a:buFontTx/>
              <a:buChar char="-"/>
            </a:pPr>
            <a:r>
              <a:rPr lang="en-US" sz="2200" dirty="0"/>
              <a:t>Instead of using key as an array  index, array index is computed from the key.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313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Array as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3B866C-9568-4169-AE2F-15E6BFF5C34D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524000"/>
            <a:ext cx="8229600" cy="13573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>
                <a:ea typeface="新細明體" pitchFamily="18" charset="-120"/>
              </a:rPr>
              <a:t>It is also called </a:t>
            </a:r>
            <a:r>
              <a:rPr lang="en-US" altLang="zh-TW" sz="2000">
                <a:solidFill>
                  <a:srgbClr val="FF0000"/>
                </a:solidFill>
                <a:ea typeface="新細明體" pitchFamily="18" charset="-120"/>
              </a:rPr>
              <a:t>Direct-address Hash Table.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>
                <a:latin typeface="MTSYN" charset="-122"/>
                <a:ea typeface="MTSYN" charset="-122"/>
              </a:rPr>
              <a:t>	</a:t>
            </a:r>
            <a:r>
              <a:rPr lang="en-US" altLang="zh-TW" sz="2000">
                <a:latin typeface="Garamond"/>
                <a:ea typeface="MTSYN" charset="-122"/>
              </a:rPr>
              <a:t>•</a:t>
            </a:r>
            <a:r>
              <a:rPr lang="en-US" altLang="zh-TW" sz="2000">
                <a:latin typeface="MTSYN" charset="-122"/>
                <a:ea typeface="MTSYN" charset="-122"/>
              </a:rPr>
              <a:t> </a:t>
            </a:r>
            <a:r>
              <a:rPr lang="en-US" altLang="zh-TW" sz="2000">
                <a:latin typeface="Times-Roman" charset="0"/>
                <a:ea typeface="MTSYN" charset="-122"/>
              </a:rPr>
              <a:t>Each </a:t>
            </a:r>
            <a:r>
              <a:rPr lang="en-US" altLang="zh-TW" sz="2000" b="1" i="1">
                <a:latin typeface="Times-BoldItalic" charset="0"/>
                <a:ea typeface="MTSYN" charset="-122"/>
              </a:rPr>
              <a:t>slot</a:t>
            </a:r>
            <a:r>
              <a:rPr lang="en-US" altLang="zh-TW" sz="2000">
                <a:latin typeface="Times-Roman" charset="0"/>
                <a:ea typeface="MTSYN" charset="-122"/>
              </a:rPr>
              <a:t>, or position, corresponds to a key in </a:t>
            </a:r>
            <a:r>
              <a:rPr lang="en-US" altLang="zh-TW" sz="2000" i="1">
                <a:latin typeface="Times-Italic" charset="0"/>
                <a:ea typeface="MTSYN" charset="-122"/>
              </a:rPr>
              <a:t>U</a:t>
            </a:r>
            <a:r>
              <a:rPr lang="en-US" altLang="zh-TW" sz="2000">
                <a:latin typeface="Times-Roman" charset="0"/>
                <a:ea typeface="MTSYN" charset="-122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>
                <a:latin typeface="MTSYN" charset="-122"/>
                <a:ea typeface="MTSYN" charset="-122"/>
              </a:rPr>
              <a:t>	</a:t>
            </a:r>
            <a:r>
              <a:rPr lang="en-US" altLang="zh-TW" sz="2000">
                <a:latin typeface="Garamond"/>
                <a:ea typeface="MTSYN" charset="-122"/>
              </a:rPr>
              <a:t>•</a:t>
            </a:r>
            <a:r>
              <a:rPr lang="en-US" altLang="zh-TW" sz="2000">
                <a:latin typeface="MTSYN" charset="-122"/>
                <a:ea typeface="MTSYN" charset="-122"/>
              </a:rPr>
              <a:t> </a:t>
            </a:r>
            <a:r>
              <a:rPr lang="en-US" altLang="zh-TW" sz="2000">
                <a:latin typeface="Times-Roman" charset="0"/>
                <a:ea typeface="MTSYN" charset="-122"/>
              </a:rPr>
              <a:t>If there’s an element </a:t>
            </a:r>
            <a:r>
              <a:rPr lang="en-US" altLang="zh-TW" sz="2000" i="1">
                <a:latin typeface="Times-Italic" charset="0"/>
                <a:ea typeface="MTSYN" charset="-122"/>
              </a:rPr>
              <a:t>x </a:t>
            </a:r>
            <a:r>
              <a:rPr lang="en-US" altLang="zh-TW" sz="2000">
                <a:latin typeface="Times-Roman" charset="0"/>
                <a:ea typeface="MTSYN" charset="-122"/>
              </a:rPr>
              <a:t>with key </a:t>
            </a:r>
            <a:r>
              <a:rPr lang="en-US" altLang="zh-TW" sz="2000" i="1">
                <a:latin typeface="Times-Italic" charset="0"/>
                <a:ea typeface="MTSYN" charset="-122"/>
              </a:rPr>
              <a:t>k</a:t>
            </a:r>
            <a:r>
              <a:rPr lang="en-US" altLang="zh-TW" sz="2000">
                <a:latin typeface="Times-Roman" charset="0"/>
                <a:ea typeface="MTSYN" charset="-122"/>
              </a:rPr>
              <a:t>, then </a:t>
            </a:r>
            <a:r>
              <a:rPr lang="en-US" altLang="zh-TW" sz="2000" i="1">
                <a:latin typeface="Times-Italic" charset="0"/>
                <a:ea typeface="MTSYN" charset="-122"/>
              </a:rPr>
              <a:t>T </a:t>
            </a:r>
            <a:r>
              <a:rPr lang="en-US" altLang="zh-TW" sz="2000">
                <a:latin typeface="Times-Roman" charset="0"/>
                <a:ea typeface="MTSYN" charset="-122"/>
              </a:rPr>
              <a:t>[</a:t>
            </a:r>
            <a:r>
              <a:rPr lang="en-US" altLang="zh-TW" sz="2000" i="1">
                <a:latin typeface="Times-Italic" charset="0"/>
                <a:ea typeface="MTSYN" charset="-122"/>
              </a:rPr>
              <a:t>k</a:t>
            </a:r>
            <a:r>
              <a:rPr lang="en-US" altLang="zh-TW" sz="2000">
                <a:latin typeface="Times-Roman" charset="0"/>
                <a:ea typeface="MTSYN" charset="-122"/>
              </a:rPr>
              <a:t>] contains a pointer to </a:t>
            </a:r>
            <a:r>
              <a:rPr lang="en-US" altLang="zh-TW" sz="2000" i="1">
                <a:latin typeface="Times-Italic" charset="0"/>
                <a:ea typeface="MTSYN" charset="-122"/>
              </a:rPr>
              <a:t>x</a:t>
            </a:r>
            <a:r>
              <a:rPr lang="en-US" altLang="zh-TW" sz="2000">
                <a:latin typeface="Times-Roman" charset="0"/>
                <a:ea typeface="MTSYN" charset="-122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>
                <a:latin typeface="MTSYN" charset="-122"/>
                <a:ea typeface="MTSYN" charset="-122"/>
              </a:rPr>
              <a:t>	</a:t>
            </a:r>
            <a:r>
              <a:rPr lang="en-US" altLang="zh-TW" sz="2000">
                <a:latin typeface="Garamond"/>
                <a:ea typeface="MTSYN" charset="-122"/>
              </a:rPr>
              <a:t>•</a:t>
            </a:r>
            <a:r>
              <a:rPr lang="en-US" altLang="zh-TW" sz="2000">
                <a:latin typeface="MTSYN" charset="-122"/>
                <a:ea typeface="MTSYN" charset="-122"/>
              </a:rPr>
              <a:t> </a:t>
            </a:r>
            <a:r>
              <a:rPr lang="en-US" altLang="zh-TW" sz="2000">
                <a:latin typeface="Times-Roman" charset="0"/>
                <a:ea typeface="MTSYN" charset="-122"/>
              </a:rPr>
              <a:t>Otherwise, </a:t>
            </a:r>
            <a:r>
              <a:rPr lang="en-US" altLang="zh-TW" sz="2000" i="1">
                <a:latin typeface="Times-Italic" charset="0"/>
                <a:ea typeface="MTSYN" charset="-122"/>
              </a:rPr>
              <a:t>T </a:t>
            </a:r>
            <a:r>
              <a:rPr lang="en-US" altLang="zh-TW" sz="2000">
                <a:latin typeface="Times-Roman" charset="0"/>
                <a:ea typeface="MTSYN" charset="-122"/>
              </a:rPr>
              <a:t>[</a:t>
            </a:r>
            <a:r>
              <a:rPr lang="en-US" altLang="zh-TW" sz="2000" i="1">
                <a:latin typeface="Times-Italic" charset="0"/>
                <a:ea typeface="MTSYN" charset="-122"/>
              </a:rPr>
              <a:t>k</a:t>
            </a:r>
            <a:r>
              <a:rPr lang="en-US" altLang="zh-TW" sz="2000">
                <a:latin typeface="Times-Roman" charset="0"/>
                <a:ea typeface="MTSYN" charset="-122"/>
              </a:rPr>
              <a:t>] is empty, represented by NIL.</a:t>
            </a:r>
            <a:endParaRPr lang="en-US" altLang="zh-TW" sz="2000" dirty="0">
              <a:ea typeface="新細明體" pitchFamily="18" charset="-12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327A198-F259-4328-A6A0-866B70321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109922"/>
            <a:ext cx="6781800" cy="30861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</p:pic>
    </p:spTree>
    <p:extLst>
      <p:ext uri="{BB962C8B-B14F-4D97-AF65-F5344CB8AC3E}">
        <p14:creationId xmlns:p14="http://schemas.microsoft.com/office/powerpoint/2010/main" val="1881118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Array as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14386A-818F-430A-9DD3-A9BC065F9E9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ea typeface="新細明體" pitchFamily="18" charset="-120"/>
              </a:rPr>
              <a:t>Store the records in a huge array where the index corresponds to the key</a:t>
            </a:r>
          </a:p>
          <a:p>
            <a:pPr lvl="1"/>
            <a:r>
              <a:rPr lang="en-US" altLang="zh-TW" sz="2000" dirty="0">
                <a:ea typeface="新細明體" pitchFamily="18" charset="-120"/>
              </a:rPr>
              <a:t>add - </a:t>
            </a:r>
            <a:r>
              <a:rPr lang="en-US" altLang="zh-TW" sz="2000" dirty="0">
                <a:solidFill>
                  <a:srgbClr val="FF0000"/>
                </a:solidFill>
                <a:latin typeface="Comic Sans MS" pitchFamily="66" charset="0"/>
                <a:ea typeface="新細明體" pitchFamily="18" charset="-120"/>
              </a:rPr>
              <a:t>very fast </a:t>
            </a:r>
            <a:r>
              <a:rPr lang="en-US" altLang="zh-TW" sz="2000" i="1" dirty="0">
                <a:ea typeface="新細明體" pitchFamily="18" charset="-120"/>
              </a:rPr>
              <a:t>O(1)</a:t>
            </a:r>
            <a:endParaRPr lang="en-US" altLang="zh-TW" sz="2000" dirty="0">
              <a:ea typeface="新細明體" pitchFamily="18" charset="-120"/>
            </a:endParaRPr>
          </a:p>
          <a:p>
            <a:pPr lvl="1"/>
            <a:r>
              <a:rPr lang="en-US" altLang="zh-TW" sz="2000" dirty="0">
                <a:ea typeface="新細明體" pitchFamily="18" charset="-120"/>
              </a:rPr>
              <a:t>delete - </a:t>
            </a:r>
            <a:r>
              <a:rPr lang="en-US" altLang="zh-TW" sz="2000" dirty="0">
                <a:solidFill>
                  <a:srgbClr val="FF0000"/>
                </a:solidFill>
                <a:latin typeface="Comic Sans MS" pitchFamily="66" charset="0"/>
                <a:ea typeface="新細明體" pitchFamily="18" charset="-120"/>
              </a:rPr>
              <a:t>very fast </a:t>
            </a:r>
            <a:r>
              <a:rPr lang="en-US" altLang="zh-TW" sz="2000" i="1" dirty="0">
                <a:ea typeface="新細明體" pitchFamily="18" charset="-120"/>
              </a:rPr>
              <a:t>O(1)</a:t>
            </a:r>
            <a:endParaRPr lang="en-US" altLang="zh-TW" sz="2000" dirty="0">
              <a:ea typeface="新細明體" pitchFamily="18" charset="-120"/>
            </a:endParaRPr>
          </a:p>
          <a:p>
            <a:pPr lvl="1"/>
            <a:r>
              <a:rPr lang="en-US" altLang="zh-TW" sz="2000" dirty="0">
                <a:ea typeface="新細明體" pitchFamily="18" charset="-120"/>
              </a:rPr>
              <a:t>search - </a:t>
            </a:r>
            <a:r>
              <a:rPr lang="en-US" altLang="zh-TW" sz="2000" dirty="0">
                <a:solidFill>
                  <a:srgbClr val="FF0000"/>
                </a:solidFill>
                <a:latin typeface="Comic Sans MS" pitchFamily="66" charset="0"/>
                <a:ea typeface="新細明體" pitchFamily="18" charset="-120"/>
              </a:rPr>
              <a:t>very fast </a:t>
            </a:r>
            <a:r>
              <a:rPr lang="en-US" altLang="zh-TW" sz="2000" i="1" dirty="0">
                <a:ea typeface="新細明體" pitchFamily="18" charset="-120"/>
              </a:rPr>
              <a:t>O(1)</a:t>
            </a:r>
            <a:endParaRPr lang="en-US" altLang="zh-TW" sz="20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402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Direct Address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F913D5-1AF5-4C08-9385-1399B84B2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5259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Disadvantage</a:t>
            </a:r>
            <a:r>
              <a:rPr lang="en-US" dirty="0"/>
              <a:t> of Direct Address table</a:t>
            </a:r>
          </a:p>
          <a:p>
            <a:endParaRPr lang="en-US" dirty="0"/>
          </a:p>
          <a:p>
            <a:pPr>
              <a:buFontTx/>
              <a:buChar char="-"/>
            </a:pPr>
            <a:r>
              <a:rPr lang="en-US" dirty="0"/>
              <a:t>If the universe U is very large, storing a table of size |U| may be impractical.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The set K of keys actually stored may be small relative to U, so that most of the space allocated for table is wasted.</a:t>
            </a:r>
          </a:p>
        </p:txBody>
      </p:sp>
    </p:spTree>
    <p:extLst>
      <p:ext uri="{BB962C8B-B14F-4D97-AF65-F5344CB8AC3E}">
        <p14:creationId xmlns:p14="http://schemas.microsoft.com/office/powerpoint/2010/main" val="341539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Hash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DA6ED5-C23E-4A4C-A839-3ECBA6E4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In direct addressing, an element with key k is stored in slot 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With hashing, the </a:t>
            </a:r>
            <a:r>
              <a:rPr lang="en-US" sz="2200" dirty="0">
                <a:solidFill>
                  <a:srgbClr val="FF0000"/>
                </a:solidFill>
              </a:rPr>
              <a:t>hash function </a:t>
            </a:r>
            <a:r>
              <a:rPr lang="en-US" sz="2200" dirty="0"/>
              <a:t>is used to compute the slot h(k)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	h : U </a:t>
            </a:r>
            <a:r>
              <a:rPr lang="en-US" dirty="0">
                <a:sym typeface="Symbol"/>
              </a:rPr>
              <a:t> {0, 1,….,m-1}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ym typeface="Symbol"/>
              </a:rPr>
              <a:t>We say that h(k) is the hash value of k.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0" indent="0"/>
            <a:r>
              <a:rPr lang="en-US" dirty="0">
                <a:solidFill>
                  <a:srgbClr val="FF0000"/>
                </a:solidFill>
              </a:rPr>
              <a:t>Aim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To reduce  the range of array of indices that needs to be handled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62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Compression Maps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03C48C-27BA-4285-B303-A019983BE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Division Method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sz="2800" dirty="0"/>
              <a:t>	h(k) = k mod 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Certain values of m may not be good: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Good values for m are prime numbers which are not close to exact powers of 2. For example, if you want to store 2000 elements then m=701 (m = </a:t>
            </a:r>
            <a:r>
              <a:rPr lang="en-US" sz="2400" i="1" dirty="0"/>
              <a:t>hash table length</a:t>
            </a:r>
            <a:r>
              <a:rPr lang="en-US" sz="2400" dirty="0"/>
              <a:t>) yields a hash function:  h(k) = k mod 701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34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Compression Maps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FE295F-E290-44FA-B530-DC6C561A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MAD Method </a:t>
            </a:r>
            <a:r>
              <a:rPr lang="en-US" dirty="0"/>
              <a:t>(Multiply, Add and Divide)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Define h(k) = (</a:t>
            </a:r>
            <a:r>
              <a:rPr lang="en-US" dirty="0" err="1"/>
              <a:t>ak</a:t>
            </a:r>
            <a:r>
              <a:rPr lang="en-US" dirty="0"/>
              <a:t> +b) mod 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n is a prime number and a and b are chosen randomly so that a mod n </a:t>
            </a:r>
            <a:r>
              <a:rPr lang="en-US" dirty="0">
                <a:sym typeface="Symbol"/>
              </a:rPr>
              <a:t> 0.</a:t>
            </a:r>
          </a:p>
          <a:p>
            <a:endParaRPr lang="en-US" dirty="0">
              <a:sym typeface="Symbo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ym typeface="Symbol"/>
              </a:rPr>
              <a:t>This function is chosen in order to eliminate repeated patterns.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7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Hash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7FBB05-4E32-46C7-A01A-FAD17010E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/>
            <a:r>
              <a:rPr lang="en-US" dirty="0">
                <a:solidFill>
                  <a:srgbClr val="FF0000"/>
                </a:solidFill>
              </a:rPr>
              <a:t>Problem:</a:t>
            </a:r>
          </a:p>
          <a:p>
            <a:pPr marL="0" indent="0"/>
            <a:r>
              <a:rPr lang="en-US" dirty="0"/>
              <a:t>Two keys may hash to the same slot – </a:t>
            </a:r>
            <a:r>
              <a:rPr lang="en-US" b="1" dirty="0">
                <a:solidFill>
                  <a:srgbClr val="FF0000"/>
                </a:solidFill>
              </a:rPr>
              <a:t>collision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Ideal situation </a:t>
            </a:r>
            <a:r>
              <a:rPr lang="en-US" dirty="0"/>
              <a:t>– avoid collision altogether</a:t>
            </a:r>
          </a:p>
          <a:p>
            <a:pPr>
              <a:buFontTx/>
              <a:buChar char="-"/>
            </a:pPr>
            <a:r>
              <a:rPr lang="en-US" altLang="zh-TW" dirty="0">
                <a:ea typeface="新細明體" pitchFamily="18" charset="-120"/>
              </a:rPr>
              <a:t>But it is </a:t>
            </a:r>
            <a:r>
              <a:rPr lang="en-US" altLang="zh-TW" dirty="0"/>
              <a:t>generally difficult to </a:t>
            </a:r>
            <a:r>
              <a:rPr lang="en-US" altLang="zh-TW" dirty="0">
                <a:ea typeface="新細明體" pitchFamily="18" charset="-120"/>
              </a:rPr>
              <a:t>design perfect hash. (e.g. when the potential key space is large)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Solution :</a:t>
            </a:r>
          </a:p>
          <a:p>
            <a:pPr>
              <a:buNone/>
            </a:pPr>
            <a:r>
              <a:rPr lang="en-US" dirty="0"/>
              <a:t>Find effective techniques for resolving collision</a:t>
            </a:r>
          </a:p>
        </p:txBody>
      </p:sp>
    </p:spTree>
    <p:extLst>
      <p:ext uri="{BB962C8B-B14F-4D97-AF65-F5344CB8AC3E}">
        <p14:creationId xmlns:p14="http://schemas.microsoft.com/office/powerpoint/2010/main" val="1946821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Collision Resolving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9AF750-F9F7-42A6-B5AE-19584BFE6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Collision resolution by chaining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</a:rPr>
              <a:t>In chaining, we put all elements that hash to same slot in a doubly linked list.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+mj-lt"/>
              <a:ea typeface="MTSYN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MTSYN" charset="-122"/>
              </a:rPr>
              <a:t>Slot </a:t>
            </a:r>
            <a:r>
              <a:rPr lang="en-US" sz="2800" i="1" dirty="0">
                <a:latin typeface="+mj-lt"/>
                <a:ea typeface="MTSYN" charset="-122"/>
              </a:rPr>
              <a:t>j </a:t>
            </a:r>
            <a:r>
              <a:rPr lang="en-US" sz="2800" dirty="0">
                <a:latin typeface="+mj-lt"/>
                <a:ea typeface="MTSYN" charset="-122"/>
              </a:rPr>
              <a:t>contains a pointer to the head of the list of all stored elements that hash to </a:t>
            </a:r>
            <a:r>
              <a:rPr lang="en-US" sz="2800" i="1" dirty="0">
                <a:latin typeface="+mj-lt"/>
                <a:ea typeface="MTSYN" charset="-122"/>
              </a:rPr>
              <a:t>j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i="1" dirty="0">
              <a:latin typeface="+mj-lt"/>
              <a:ea typeface="MTSYN" charset="-122"/>
            </a:endParaRPr>
          </a:p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MTSYN" charset="-122"/>
              </a:rPr>
              <a:t>If there are no such elements, slot </a:t>
            </a:r>
            <a:r>
              <a:rPr lang="en-US" sz="2800" i="1" dirty="0">
                <a:latin typeface="+mj-lt"/>
                <a:ea typeface="MTSYN" charset="-122"/>
              </a:rPr>
              <a:t>j </a:t>
            </a:r>
            <a:r>
              <a:rPr lang="en-US" sz="2800" dirty="0">
                <a:latin typeface="+mj-lt"/>
                <a:ea typeface="MTSYN" charset="-122"/>
              </a:rPr>
              <a:t>contains NIL.</a:t>
            </a:r>
            <a:endParaRPr lang="en-US" sz="2800" dirty="0">
              <a:latin typeface="+mj-lt"/>
              <a:ea typeface="新細明體" pitchFamily="18" charset="-120"/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86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Chained Hash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F387B19-6010-4DE3-99A4-D1A4281BB6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7014" y="1600200"/>
            <a:ext cx="7350576" cy="322409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</p:pic>
    </p:spTree>
    <p:extLst>
      <p:ext uri="{BB962C8B-B14F-4D97-AF65-F5344CB8AC3E}">
        <p14:creationId xmlns:p14="http://schemas.microsoft.com/office/powerpoint/2010/main" val="2377068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Performance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D64AE4-8C9C-4065-A9CB-2E835D99E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85000" lnSpcReduction="20000"/>
          </a:bodyPr>
          <a:lstStyle/>
          <a:p>
            <a:pPr marL="0" indent="0"/>
            <a:r>
              <a:rPr lang="en-US" dirty="0">
                <a:solidFill>
                  <a:srgbClr val="FF0000"/>
                </a:solidFill>
              </a:rPr>
              <a:t>Worst Case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keys are  hashed to the same slot, worst cast is O(n) time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0" indent="0"/>
            <a:r>
              <a:rPr lang="en-US" dirty="0">
                <a:solidFill>
                  <a:srgbClr val="FF0000"/>
                </a:solidFill>
              </a:rPr>
              <a:t>Average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Given a hash table T with m slots that stores n keys, Define </a:t>
            </a:r>
            <a:r>
              <a:rPr lang="en-US" dirty="0">
                <a:solidFill>
                  <a:srgbClr val="FF0000"/>
                </a:solidFill>
              </a:rPr>
              <a:t>load factor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  </a:t>
            </a:r>
            <a:r>
              <a:rPr lang="en-US" dirty="0">
                <a:sym typeface="Symbol"/>
              </a:rPr>
              <a:t>for T as n/m</a:t>
            </a:r>
          </a:p>
          <a:p>
            <a:pPr>
              <a:buNone/>
            </a:pPr>
            <a:endParaRPr lang="en-US" altLang="zh-CN" dirty="0">
              <a:ea typeface="宋体" pitchFamily="2" charset="-122"/>
            </a:endParaRP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Load factor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</a:t>
            </a:r>
            <a:r>
              <a:rPr lang="en-US" altLang="zh-CN" dirty="0">
                <a:ea typeface="宋体" pitchFamily="2" charset="-122"/>
              </a:rPr>
              <a:t> means - average keys per slot.</a:t>
            </a:r>
          </a:p>
          <a:p>
            <a:pPr>
              <a:buFontTx/>
              <a:buChar char="-"/>
            </a:pPr>
            <a:endParaRPr lang="en-US" dirty="0">
              <a:ea typeface="宋体" pitchFamily="2" charset="-122"/>
            </a:endParaRPr>
          </a:p>
          <a:p>
            <a:pPr>
              <a:buFontTx/>
              <a:buChar char="-"/>
            </a:pPr>
            <a:r>
              <a:rPr lang="en-US" dirty="0">
                <a:ea typeface="宋体" pitchFamily="2" charset="-122"/>
              </a:rPr>
              <a:t>n = Total number of elements </a:t>
            </a:r>
          </a:p>
          <a:p>
            <a:pPr>
              <a:buFontTx/>
              <a:buChar char="-"/>
            </a:pPr>
            <a:r>
              <a:rPr lang="en-US" dirty="0">
                <a:ea typeface="宋体" pitchFamily="2" charset="-122"/>
              </a:rPr>
              <a:t>m = number of slots in Hash Table</a:t>
            </a:r>
          </a:p>
          <a:p>
            <a:pPr>
              <a:buFontTx/>
              <a:buChar char="-"/>
            </a:pPr>
            <a:r>
              <a:rPr lang="en-US" dirty="0">
                <a:ea typeface="宋体" pitchFamily="2" charset="-122"/>
              </a:rPr>
              <a:t>Load Factor </a:t>
            </a:r>
            <a:r>
              <a:rPr lang="en-US" dirty="0">
                <a:sym typeface="Symbol"/>
              </a:rPr>
              <a:t> = n/m</a:t>
            </a:r>
          </a:p>
          <a:p>
            <a:pPr lvl="1">
              <a:buFontTx/>
              <a:buChar char="-"/>
            </a:pPr>
            <a:r>
              <a:rPr lang="en-US" dirty="0">
                <a:ea typeface="宋体" pitchFamily="2" charset="-122"/>
                <a:sym typeface="Symbol"/>
              </a:rPr>
              <a:t>If n &gt; m : There are more than one element in each slot of Hash Table (Average)</a:t>
            </a:r>
          </a:p>
          <a:p>
            <a:pPr lvl="1">
              <a:buFontTx/>
              <a:buChar char="-"/>
            </a:pPr>
            <a:r>
              <a:rPr lang="en-US" dirty="0">
                <a:ea typeface="宋体" pitchFamily="2" charset="-122"/>
                <a:sym typeface="Symbol"/>
              </a:rPr>
              <a:t>If n = m : There is exactly one element in each slot of Hash Table (Average)</a:t>
            </a:r>
          </a:p>
          <a:p>
            <a:pPr lvl="1">
              <a:buFontTx/>
              <a:buChar char="-"/>
            </a:pPr>
            <a:r>
              <a:rPr lang="en-US" dirty="0">
                <a:ea typeface="宋体" pitchFamily="2" charset="-122"/>
                <a:sym typeface="Symbol"/>
              </a:rPr>
              <a:t>If n &lt; m : Some of the slots in Hash Table are empty and others just have one element(Average)</a:t>
            </a:r>
            <a:endParaRPr lang="en-US" dirty="0">
              <a:ea typeface="宋体" pitchFamily="2" charset="-122"/>
            </a:endParaRPr>
          </a:p>
          <a:p>
            <a:pPr>
              <a:buFontTx/>
              <a:buChar char="-"/>
            </a:pPr>
            <a:endParaRPr lang="en-US" dirty="0">
              <a:ea typeface="宋体" pitchFamily="2" charset="-122"/>
            </a:endParaRP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176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Performance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9EA77D-A043-4B9D-AB3B-220572F7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>
                <a:solidFill>
                  <a:srgbClr val="CC3300"/>
                </a:solidFill>
                <a:ea typeface="宋体" pitchFamily="2" charset="-122"/>
              </a:rPr>
              <a:t>Assume</a:t>
            </a:r>
            <a:r>
              <a:rPr lang="en-US" altLang="zh-CN" sz="2800" dirty="0">
                <a:ea typeface="宋体" pitchFamily="2" charset="-122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zh-CN" sz="2400" i="1" dirty="0">
                <a:solidFill>
                  <a:schemeClr val="hlink"/>
                </a:solidFill>
                <a:ea typeface="宋体" pitchFamily="2" charset="-122"/>
              </a:rPr>
              <a:t>Simple uniform hashing</a:t>
            </a:r>
            <a:r>
              <a:rPr lang="en-US" altLang="zh-CN" sz="2400" dirty="0">
                <a:ea typeface="宋体" pitchFamily="2" charset="-122"/>
              </a:rPr>
              <a:t>.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Any key is equally likely to hash into any of the </a:t>
            </a:r>
            <a:r>
              <a:rPr lang="en-US" altLang="zh-CN" sz="2000" i="1" dirty="0">
                <a:ea typeface="宋体" pitchFamily="2" charset="-122"/>
              </a:rPr>
              <a:t>m</a:t>
            </a:r>
            <a:r>
              <a:rPr lang="en-US" altLang="zh-CN" sz="2000" dirty="0">
                <a:ea typeface="宋体" pitchFamily="2" charset="-122"/>
              </a:rPr>
              <a:t> slots, independent of where any other key hashes to. This assumption is called as Simple Uniform Hashing.</a:t>
            </a:r>
          </a:p>
          <a:p>
            <a:pPr lvl="2">
              <a:lnSpc>
                <a:spcPct val="8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i="1" dirty="0">
                <a:solidFill>
                  <a:schemeClr val="hlink"/>
                </a:solidFill>
                <a:ea typeface="宋体" pitchFamily="2" charset="-122"/>
              </a:rPr>
              <a:t>O</a:t>
            </a:r>
            <a:r>
              <a:rPr lang="en-US" altLang="zh-CN" sz="2400" dirty="0">
                <a:solidFill>
                  <a:schemeClr val="hlink"/>
                </a:solidFill>
                <a:ea typeface="宋体" pitchFamily="2" charset="-122"/>
              </a:rPr>
              <a:t>(1) time to compute </a:t>
            </a:r>
            <a:r>
              <a:rPr lang="en-US" altLang="zh-CN" sz="2400" i="1" dirty="0">
                <a:solidFill>
                  <a:schemeClr val="hlink"/>
                </a:solidFill>
                <a:ea typeface="宋体" pitchFamily="2" charset="-122"/>
              </a:rPr>
              <a:t>h</a:t>
            </a:r>
            <a:r>
              <a:rPr lang="en-US" altLang="zh-CN" sz="2400" dirty="0">
                <a:solidFill>
                  <a:schemeClr val="hlink"/>
                </a:solidFill>
                <a:ea typeface="宋体" pitchFamily="2" charset="-122"/>
              </a:rPr>
              <a:t>(</a:t>
            </a:r>
            <a:r>
              <a:rPr lang="en-US" altLang="zh-CN" sz="2400" i="1" dirty="0">
                <a:solidFill>
                  <a:schemeClr val="hlink"/>
                </a:solidFill>
                <a:ea typeface="宋体" pitchFamily="2" charset="-122"/>
              </a:rPr>
              <a:t>k</a:t>
            </a:r>
            <a:r>
              <a:rPr lang="en-US" altLang="zh-CN" sz="2400" dirty="0">
                <a:solidFill>
                  <a:schemeClr val="hlink"/>
                </a:solidFill>
                <a:ea typeface="宋体" pitchFamily="2" charset="-122"/>
              </a:rPr>
              <a:t>)</a:t>
            </a:r>
            <a:r>
              <a:rPr lang="en-US" altLang="zh-CN" sz="2400" dirty="0">
                <a:ea typeface="宋体" pitchFamily="2" charset="-122"/>
              </a:rPr>
              <a:t>.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Time to search for an element with key </a:t>
            </a:r>
            <a:r>
              <a:rPr lang="en-US" altLang="zh-CN" sz="2000" i="1" dirty="0">
                <a:ea typeface="宋体" pitchFamily="2" charset="-122"/>
              </a:rPr>
              <a:t>k</a:t>
            </a:r>
            <a:r>
              <a:rPr lang="en-US" altLang="zh-CN" sz="2000" dirty="0">
                <a:ea typeface="宋体" pitchFamily="2" charset="-122"/>
              </a:rPr>
              <a:t> depends linearly on the length of the list </a:t>
            </a:r>
            <a:r>
              <a:rPr lang="en-US" altLang="zh-CN" sz="2000" i="1" dirty="0">
                <a:ea typeface="宋体" pitchFamily="2" charset="-122"/>
              </a:rPr>
              <a:t>T </a:t>
            </a:r>
            <a:r>
              <a:rPr lang="en-US" altLang="zh-CN" sz="2000" dirty="0">
                <a:ea typeface="宋体" pitchFamily="2" charset="-122"/>
              </a:rPr>
              <a:t>[</a:t>
            </a:r>
            <a:r>
              <a:rPr lang="en-US" altLang="zh-CN" sz="2000" i="1" dirty="0">
                <a:ea typeface="宋体" pitchFamily="2" charset="-122"/>
              </a:rPr>
              <a:t>h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i="1" dirty="0">
                <a:ea typeface="宋体" pitchFamily="2" charset="-122"/>
              </a:rPr>
              <a:t>k</a:t>
            </a:r>
            <a:r>
              <a:rPr lang="en-US" altLang="zh-CN" sz="2000" dirty="0">
                <a:ea typeface="宋体" pitchFamily="2" charset="-122"/>
              </a:rPr>
              <a:t>)].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ea typeface="宋体" pitchFamily="2" charset="-122"/>
            </a:endParaRP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Expected length of a linked list = load factor = </a:t>
            </a:r>
            <a:r>
              <a:rPr lang="en-US" altLang="zh-CN" sz="2000" dirty="0">
                <a:ea typeface="宋体" pitchFamily="2" charset="-122"/>
                <a:sym typeface="Symbol" pitchFamily="18" charset="2"/>
              </a:rPr>
              <a:t> </a:t>
            </a:r>
            <a:r>
              <a:rPr lang="en-US" altLang="zh-CN" sz="2000" dirty="0">
                <a:ea typeface="宋体" pitchFamily="2" charset="-122"/>
              </a:rPr>
              <a:t>= </a:t>
            </a:r>
            <a:r>
              <a:rPr lang="en-US" altLang="zh-CN" sz="2000" i="1" dirty="0">
                <a:ea typeface="宋体" pitchFamily="2" charset="-122"/>
              </a:rPr>
              <a:t>n</a:t>
            </a:r>
            <a:r>
              <a:rPr lang="en-US" altLang="zh-CN" sz="2000" dirty="0">
                <a:ea typeface="宋体" pitchFamily="2" charset="-122"/>
              </a:rPr>
              <a:t>/</a:t>
            </a:r>
            <a:r>
              <a:rPr lang="en-US" altLang="zh-CN" sz="2000" i="1" dirty="0">
                <a:ea typeface="宋体" pitchFamily="2" charset="-122"/>
              </a:rPr>
              <a:t>m</a:t>
            </a:r>
            <a:r>
              <a:rPr lang="en-US" altLang="zh-CN" sz="2000" dirty="0">
                <a:ea typeface="宋体" pitchFamily="2" charset="-122"/>
              </a:rPr>
              <a:t>.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ea typeface="宋体" pitchFamily="2" charset="-122"/>
            </a:endParaRP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We consider two cases:</a:t>
            </a:r>
          </a:p>
          <a:p>
            <a:pPr marL="914400" lvl="1" indent="-514350">
              <a:lnSpc>
                <a:spcPct val="80000"/>
              </a:lnSpc>
              <a:buAutoNum type="arabicPeriod"/>
            </a:pPr>
            <a:r>
              <a:rPr lang="en-US" altLang="zh-CN" dirty="0">
                <a:ea typeface="宋体" pitchFamily="2" charset="-122"/>
              </a:rPr>
              <a:t>Unsuccessful search</a:t>
            </a:r>
          </a:p>
          <a:p>
            <a:pPr marL="914400" lvl="1" indent="-514350">
              <a:lnSpc>
                <a:spcPct val="80000"/>
              </a:lnSpc>
              <a:buAutoNum type="arabicPeriod"/>
            </a:pPr>
            <a:r>
              <a:rPr lang="en-US" altLang="zh-CN" dirty="0">
                <a:ea typeface="宋体" pitchFamily="2" charset="-122"/>
              </a:rPr>
              <a:t>Successful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94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dirty="0"/>
              <a:t>Unsuccessful Search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C7AD794-73F7-4D65-AA23-0349FC26CB86}"/>
              </a:ext>
            </a:extLst>
          </p:cNvPr>
          <p:cNvSpPr txBox="1">
            <a:spLocks noChangeArrowheads="1"/>
          </p:cNvSpPr>
          <p:nvPr/>
        </p:nvSpPr>
        <p:spPr>
          <a:xfrm>
            <a:off x="214282" y="1571612"/>
            <a:ext cx="8810625" cy="49958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CC3300"/>
                </a:solidFill>
                <a:ea typeface="宋体" pitchFamily="2" charset="-122"/>
              </a:rPr>
              <a:t>Theorem:</a:t>
            </a:r>
            <a:endParaRPr lang="en-US" altLang="zh-CN" sz="2800" dirty="0">
              <a:ea typeface="宋体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An unsuccessful search takes expected time </a:t>
            </a:r>
            <a:r>
              <a:rPr lang="el-GR" altLang="zh-CN" dirty="0">
                <a:cs typeface="Times New Roman" pitchFamily="18" charset="0"/>
              </a:rPr>
              <a:t>Θ</a:t>
            </a:r>
            <a:r>
              <a:rPr lang="en-US" altLang="zh-CN" dirty="0">
                <a:ea typeface="宋体" pitchFamily="2" charset="-122"/>
                <a:cs typeface="Times New Roman" pitchFamily="18" charset="0"/>
              </a:rPr>
              <a:t>(1+</a:t>
            </a:r>
            <a:r>
              <a:rPr lang="el-GR" altLang="zh-CN" dirty="0">
                <a:cs typeface="Times New Roman" pitchFamily="18" charset="0"/>
              </a:rPr>
              <a:t>α</a:t>
            </a:r>
            <a:r>
              <a:rPr lang="en-US" altLang="zh-CN" dirty="0">
                <a:ea typeface="宋体" pitchFamily="2" charset="-122"/>
              </a:rPr>
              <a:t>).</a:t>
            </a:r>
            <a:endParaRPr lang="en-US" altLang="zh-CN" b="1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800" b="1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hlink"/>
                </a:solidFill>
                <a:ea typeface="宋体" pitchFamily="2" charset="-122"/>
              </a:rPr>
              <a:t>Proof: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Any key not already in the table is equally likely to hash to any of the </a:t>
            </a:r>
            <a:r>
              <a:rPr lang="en-US" altLang="zh-CN" sz="2000" i="1" dirty="0">
                <a:ea typeface="宋体" pitchFamily="2" charset="-122"/>
              </a:rPr>
              <a:t>m</a:t>
            </a:r>
            <a:r>
              <a:rPr lang="en-US" altLang="zh-CN" sz="2000" dirty="0">
                <a:ea typeface="宋体" pitchFamily="2" charset="-122"/>
              </a:rPr>
              <a:t> slots.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000" dirty="0">
              <a:ea typeface="宋体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To search unsuccessfully for any key </a:t>
            </a:r>
            <a:r>
              <a:rPr lang="en-US" altLang="zh-CN" sz="2000" i="1" dirty="0">
                <a:ea typeface="宋体" pitchFamily="2" charset="-122"/>
              </a:rPr>
              <a:t>k</a:t>
            </a:r>
            <a:r>
              <a:rPr lang="en-US" altLang="zh-CN" sz="2000" dirty="0">
                <a:ea typeface="宋体" pitchFamily="2" charset="-122"/>
              </a:rPr>
              <a:t>, need to search to the end of the list </a:t>
            </a:r>
            <a:r>
              <a:rPr lang="en-US" altLang="zh-CN" sz="2000" i="1" dirty="0">
                <a:ea typeface="宋体" pitchFamily="2" charset="-122"/>
              </a:rPr>
              <a:t>T</a:t>
            </a:r>
            <a:r>
              <a:rPr lang="en-US" altLang="zh-CN" sz="2000" dirty="0">
                <a:ea typeface="宋体" pitchFamily="2" charset="-122"/>
              </a:rPr>
              <a:t>[</a:t>
            </a:r>
            <a:r>
              <a:rPr lang="en-US" altLang="zh-CN" sz="2000" i="1" dirty="0">
                <a:ea typeface="宋体" pitchFamily="2" charset="-122"/>
              </a:rPr>
              <a:t>h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i="1" dirty="0">
                <a:ea typeface="宋体" pitchFamily="2" charset="-122"/>
              </a:rPr>
              <a:t>k</a:t>
            </a:r>
            <a:r>
              <a:rPr lang="en-US" altLang="zh-CN" sz="2000" dirty="0">
                <a:ea typeface="宋体" pitchFamily="2" charset="-122"/>
              </a:rPr>
              <a:t>)], whose expected length is </a:t>
            </a:r>
            <a:r>
              <a:rPr lang="el-GR" altLang="zh-CN" sz="2000" dirty="0"/>
              <a:t>α</a:t>
            </a:r>
            <a:r>
              <a:rPr lang="en-US" altLang="zh-CN" sz="2000" dirty="0">
                <a:ea typeface="宋体" pitchFamily="2" charset="-122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000" dirty="0">
              <a:ea typeface="宋体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Adding the time to compute the hash function, the total time required is </a:t>
            </a:r>
            <a:r>
              <a:rPr lang="el-GR" altLang="zh-CN" sz="2000" dirty="0"/>
              <a:t>Θ</a:t>
            </a:r>
            <a:r>
              <a:rPr lang="en-US" altLang="zh-CN" sz="2000" dirty="0">
                <a:ea typeface="宋体" pitchFamily="2" charset="-122"/>
              </a:rPr>
              <a:t>(1+</a:t>
            </a:r>
            <a:r>
              <a:rPr lang="el-GR" altLang="zh-CN" sz="2000" dirty="0"/>
              <a:t>α</a:t>
            </a:r>
            <a:r>
              <a:rPr lang="en-US" altLang="zh-CN" sz="2000" dirty="0">
                <a:ea typeface="宋体" pitchFamily="2" charset="-122"/>
              </a:rPr>
              <a:t>).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>
                <a:ea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9714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dirty="0"/>
              <a:t> Successful Search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444A982-3027-4F02-9EC2-03B76B1AE683}"/>
              </a:ext>
            </a:extLst>
          </p:cNvPr>
          <p:cNvSpPr txBox="1">
            <a:spLocks noChangeArrowheads="1"/>
          </p:cNvSpPr>
          <p:nvPr/>
        </p:nvSpPr>
        <p:spPr>
          <a:xfrm>
            <a:off x="166687" y="1447800"/>
            <a:ext cx="8810625" cy="52863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CC3300"/>
                </a:solidFill>
                <a:ea typeface="宋体" pitchFamily="2" charset="-122"/>
              </a:rPr>
              <a:t>Theorem:</a:t>
            </a:r>
            <a:endParaRPr lang="en-US" altLang="zh-CN" sz="2800" dirty="0">
              <a:ea typeface="宋体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itchFamily="2" charset="-122"/>
              </a:rPr>
              <a:t>A successful search takes expected time </a:t>
            </a:r>
            <a:r>
              <a:rPr lang="el-GR" altLang="zh-CN" sz="2800" dirty="0">
                <a:cs typeface="Times New Roman" pitchFamily="18" charset="0"/>
              </a:rPr>
              <a:t>Θ</a:t>
            </a:r>
            <a:r>
              <a:rPr lang="en-US" altLang="zh-CN" sz="2800" dirty="0">
                <a:ea typeface="宋体" pitchFamily="2" charset="-122"/>
                <a:cs typeface="Times New Roman" pitchFamily="18" charset="0"/>
              </a:rPr>
              <a:t>(1+</a:t>
            </a:r>
            <a:r>
              <a:rPr lang="el-GR" altLang="zh-CN" sz="2800" dirty="0">
                <a:cs typeface="Times New Roman" pitchFamily="18" charset="0"/>
              </a:rPr>
              <a:t>α</a:t>
            </a:r>
            <a:r>
              <a:rPr lang="en-US" altLang="zh-CN" sz="2800" dirty="0">
                <a:ea typeface="宋体" pitchFamily="2" charset="-122"/>
              </a:rPr>
              <a:t>).</a:t>
            </a:r>
            <a:endParaRPr lang="en-US" altLang="zh-CN" sz="2800" b="1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hlink"/>
                </a:solidFill>
                <a:ea typeface="宋体" pitchFamily="2" charset="-122"/>
              </a:rPr>
              <a:t>Proof: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The probability that a list is searched is proportional to the number of elements it contains.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宋体" pitchFamily="2" charset="-122"/>
              </a:rPr>
              <a:t>Assume that the element being searched for is equally likely to be any of the </a:t>
            </a:r>
            <a:r>
              <a:rPr lang="en-US" altLang="zh-CN" sz="2000" i="1" dirty="0">
                <a:ea typeface="宋体" pitchFamily="2" charset="-122"/>
              </a:rPr>
              <a:t>n</a:t>
            </a:r>
            <a:r>
              <a:rPr lang="en-US" altLang="zh-CN" sz="2000" dirty="0">
                <a:ea typeface="宋体" pitchFamily="2" charset="-122"/>
              </a:rPr>
              <a:t> elements in the table.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The number of elements examined during a successful search for an element </a:t>
            </a:r>
            <a:r>
              <a:rPr lang="en-US" altLang="zh-CN" sz="2000" i="1" dirty="0">
                <a:solidFill>
                  <a:schemeClr val="hlink"/>
                </a:solidFill>
                <a:ea typeface="宋体" pitchFamily="2" charset="-122"/>
              </a:rPr>
              <a:t>x</a:t>
            </a: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 is</a:t>
            </a:r>
            <a:r>
              <a:rPr lang="en-US" altLang="zh-CN" sz="2000" dirty="0">
                <a:solidFill>
                  <a:srgbClr val="CC3300"/>
                </a:solidFill>
                <a:ea typeface="宋体" pitchFamily="2" charset="-122"/>
              </a:rPr>
              <a:t> 1 more than the number of elements examined when the sought for element was inserted.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006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dirty="0"/>
              <a:t> Successful Search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39D746F-3D31-4202-AF6D-C1B1B1F50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7437"/>
              </p:ext>
            </p:extLst>
          </p:nvPr>
        </p:nvGraphicFramePr>
        <p:xfrm>
          <a:off x="1821473" y="1447804"/>
          <a:ext cx="533400" cy="2628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969889034"/>
                    </a:ext>
                  </a:extLst>
                </a:gridCol>
              </a:tblGrid>
              <a:tr h="3341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72765"/>
                  </a:ext>
                </a:extLst>
              </a:tr>
              <a:tr h="3341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147925"/>
                  </a:ext>
                </a:extLst>
              </a:tr>
              <a:tr h="3341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924553"/>
                  </a:ext>
                </a:extLst>
              </a:tr>
              <a:tr h="3341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66242"/>
                  </a:ext>
                </a:extLst>
              </a:tr>
              <a:tr h="3341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35589"/>
                  </a:ext>
                </a:extLst>
              </a:tr>
              <a:tr h="3341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06266"/>
                  </a:ext>
                </a:extLst>
              </a:tr>
              <a:tr h="4336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461182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67168CEB-FE90-46A1-B216-1A3CE243C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417663"/>
              </p:ext>
            </p:extLst>
          </p:nvPr>
        </p:nvGraphicFramePr>
        <p:xfrm>
          <a:off x="2743200" y="28956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ABABBB3A-8625-4C0F-B842-8113B71AD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109580"/>
              </p:ext>
            </p:extLst>
          </p:nvPr>
        </p:nvGraphicFramePr>
        <p:xfrm>
          <a:off x="5105400" y="28956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A863A681-D371-4F4A-A8B5-8AB1905D0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99264"/>
              </p:ext>
            </p:extLst>
          </p:nvPr>
        </p:nvGraphicFramePr>
        <p:xfrm>
          <a:off x="3924300" y="28956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7" name="Table 7">
            <a:extLst>
              <a:ext uri="{FF2B5EF4-FFF2-40B4-BE49-F238E27FC236}">
                <a16:creationId xmlns:a16="http://schemas.microsoft.com/office/drawing/2014/main" id="{2AED171D-1D78-49BA-8F01-D06E83279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991763"/>
              </p:ext>
            </p:extLst>
          </p:nvPr>
        </p:nvGraphicFramePr>
        <p:xfrm>
          <a:off x="6286500" y="28956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  <a:r>
                        <a:rPr lang="en-US" sz="1400" baseline="-25000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18" name="Table 7">
            <a:extLst>
              <a:ext uri="{FF2B5EF4-FFF2-40B4-BE49-F238E27FC236}">
                <a16:creationId xmlns:a16="http://schemas.microsoft.com/office/drawing/2014/main" id="{9B309D0F-1083-45D2-8C22-CBC428F52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762423"/>
              </p:ext>
            </p:extLst>
          </p:nvPr>
        </p:nvGraphicFramePr>
        <p:xfrm>
          <a:off x="7467600" y="28956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84DC1D6-D15E-4423-8D98-24C51D15EA2C}"/>
              </a:ext>
            </a:extLst>
          </p:cNvPr>
          <p:cNvCxnSpPr>
            <a:cxnSpLocks/>
          </p:cNvCxnSpPr>
          <p:nvPr/>
        </p:nvCxnSpPr>
        <p:spPr>
          <a:xfrm>
            <a:off x="4800600" y="29718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2E3D0E-B9F9-483E-ACF6-2C6EDFEFDCA8}"/>
              </a:ext>
            </a:extLst>
          </p:cNvPr>
          <p:cNvCxnSpPr>
            <a:cxnSpLocks/>
          </p:cNvCxnSpPr>
          <p:nvPr/>
        </p:nvCxnSpPr>
        <p:spPr>
          <a:xfrm>
            <a:off x="3581400" y="29718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9010AA-7592-4767-AADA-DE508F71D8D4}"/>
              </a:ext>
            </a:extLst>
          </p:cNvPr>
          <p:cNvCxnSpPr>
            <a:cxnSpLocks/>
          </p:cNvCxnSpPr>
          <p:nvPr/>
        </p:nvCxnSpPr>
        <p:spPr>
          <a:xfrm>
            <a:off x="5943600" y="29718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1A868F-9248-4173-9D10-0AF502B292F7}"/>
              </a:ext>
            </a:extLst>
          </p:cNvPr>
          <p:cNvCxnSpPr>
            <a:cxnSpLocks/>
          </p:cNvCxnSpPr>
          <p:nvPr/>
        </p:nvCxnSpPr>
        <p:spPr>
          <a:xfrm>
            <a:off x="7124700" y="29718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D91154-D27B-470F-ACF1-929EEF716D93}"/>
              </a:ext>
            </a:extLst>
          </p:cNvPr>
          <p:cNvCxnSpPr>
            <a:cxnSpLocks/>
          </p:cNvCxnSpPr>
          <p:nvPr/>
        </p:nvCxnSpPr>
        <p:spPr>
          <a:xfrm>
            <a:off x="2362200" y="29718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606DDC-96B0-4CFD-9E8E-9D0C264C410E}"/>
              </a:ext>
            </a:extLst>
          </p:cNvPr>
          <p:cNvCxnSpPr>
            <a:cxnSpLocks/>
          </p:cNvCxnSpPr>
          <p:nvPr/>
        </p:nvCxnSpPr>
        <p:spPr>
          <a:xfrm flipH="1">
            <a:off x="3581400" y="31242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AAAF98-0C0A-4AF3-A829-0547932CFB0A}"/>
              </a:ext>
            </a:extLst>
          </p:cNvPr>
          <p:cNvCxnSpPr>
            <a:cxnSpLocks/>
          </p:cNvCxnSpPr>
          <p:nvPr/>
        </p:nvCxnSpPr>
        <p:spPr>
          <a:xfrm flipH="1">
            <a:off x="2362200" y="31242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819142-4DB0-4576-9F7B-84C89FC7190E}"/>
              </a:ext>
            </a:extLst>
          </p:cNvPr>
          <p:cNvCxnSpPr>
            <a:cxnSpLocks/>
          </p:cNvCxnSpPr>
          <p:nvPr/>
        </p:nvCxnSpPr>
        <p:spPr>
          <a:xfrm flipH="1">
            <a:off x="4724400" y="31242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6C9FF3C-605A-4BA4-A860-99A24CD3301B}"/>
              </a:ext>
            </a:extLst>
          </p:cNvPr>
          <p:cNvCxnSpPr>
            <a:cxnSpLocks/>
          </p:cNvCxnSpPr>
          <p:nvPr/>
        </p:nvCxnSpPr>
        <p:spPr>
          <a:xfrm flipH="1">
            <a:off x="5943600" y="31242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97132D-C875-4693-9E5D-D0B17C93C73A}"/>
              </a:ext>
            </a:extLst>
          </p:cNvPr>
          <p:cNvCxnSpPr>
            <a:cxnSpLocks/>
          </p:cNvCxnSpPr>
          <p:nvPr/>
        </p:nvCxnSpPr>
        <p:spPr>
          <a:xfrm flipH="1">
            <a:off x="7124700" y="31242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7">
            <a:extLst>
              <a:ext uri="{FF2B5EF4-FFF2-40B4-BE49-F238E27FC236}">
                <a16:creationId xmlns:a16="http://schemas.microsoft.com/office/drawing/2014/main" id="{EE8B3015-CFF8-4207-8C94-707740C8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130619"/>
              </p:ext>
            </p:extLst>
          </p:nvPr>
        </p:nvGraphicFramePr>
        <p:xfrm>
          <a:off x="2743200" y="2209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39" name="Table 7">
            <a:extLst>
              <a:ext uri="{FF2B5EF4-FFF2-40B4-BE49-F238E27FC236}">
                <a16:creationId xmlns:a16="http://schemas.microsoft.com/office/drawing/2014/main" id="{852B18F6-5616-499C-8E56-E5AE70E71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390945"/>
              </p:ext>
            </p:extLst>
          </p:nvPr>
        </p:nvGraphicFramePr>
        <p:xfrm>
          <a:off x="5105400" y="2209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graphicFrame>
        <p:nvGraphicFramePr>
          <p:cNvPr id="40" name="Table 7">
            <a:extLst>
              <a:ext uri="{FF2B5EF4-FFF2-40B4-BE49-F238E27FC236}">
                <a16:creationId xmlns:a16="http://schemas.microsoft.com/office/drawing/2014/main" id="{75EE0339-8F78-472A-82A1-ECDED16D0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119409"/>
              </p:ext>
            </p:extLst>
          </p:nvPr>
        </p:nvGraphicFramePr>
        <p:xfrm>
          <a:off x="3924300" y="2209800"/>
          <a:ext cx="83820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2187572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1382985436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17184780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067615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623D4B-4D68-455D-AAAB-BC001F04CBCC}"/>
              </a:ext>
            </a:extLst>
          </p:cNvPr>
          <p:cNvCxnSpPr>
            <a:cxnSpLocks/>
          </p:cNvCxnSpPr>
          <p:nvPr/>
        </p:nvCxnSpPr>
        <p:spPr>
          <a:xfrm>
            <a:off x="4800600" y="2286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25F720-34B5-4697-9527-2593C27B9181}"/>
              </a:ext>
            </a:extLst>
          </p:cNvPr>
          <p:cNvCxnSpPr>
            <a:cxnSpLocks/>
          </p:cNvCxnSpPr>
          <p:nvPr/>
        </p:nvCxnSpPr>
        <p:spPr>
          <a:xfrm>
            <a:off x="3581400" y="2286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444C941-FE47-4A82-8646-C004339F1ABF}"/>
              </a:ext>
            </a:extLst>
          </p:cNvPr>
          <p:cNvCxnSpPr>
            <a:cxnSpLocks/>
          </p:cNvCxnSpPr>
          <p:nvPr/>
        </p:nvCxnSpPr>
        <p:spPr>
          <a:xfrm>
            <a:off x="2362200" y="22860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1B88D19-EA6A-42CA-8B57-DB0D0760CC2D}"/>
              </a:ext>
            </a:extLst>
          </p:cNvPr>
          <p:cNvCxnSpPr>
            <a:cxnSpLocks/>
          </p:cNvCxnSpPr>
          <p:nvPr/>
        </p:nvCxnSpPr>
        <p:spPr>
          <a:xfrm flipH="1">
            <a:off x="3581400" y="2438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2EF5C7-FBFB-45D7-9474-CE9E52D94D0B}"/>
              </a:ext>
            </a:extLst>
          </p:cNvPr>
          <p:cNvCxnSpPr>
            <a:cxnSpLocks/>
          </p:cNvCxnSpPr>
          <p:nvPr/>
        </p:nvCxnSpPr>
        <p:spPr>
          <a:xfrm flipH="1">
            <a:off x="2362200" y="2438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B722E8D-D950-4819-8DE0-D500DBCC0E64}"/>
              </a:ext>
            </a:extLst>
          </p:cNvPr>
          <p:cNvCxnSpPr>
            <a:cxnSpLocks/>
          </p:cNvCxnSpPr>
          <p:nvPr/>
        </p:nvCxnSpPr>
        <p:spPr>
          <a:xfrm flipH="1">
            <a:off x="4724400" y="24384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E538E70-8518-4FD0-89ED-8A790C42456C}"/>
              </a:ext>
            </a:extLst>
          </p:cNvPr>
          <p:cNvSpPr/>
          <p:nvPr/>
        </p:nvSpPr>
        <p:spPr>
          <a:xfrm>
            <a:off x="228600" y="4430684"/>
            <a:ext cx="8305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宋体" pitchFamily="2" charset="-122"/>
              </a:rPr>
              <a:t>n = Total number of elements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宋体" pitchFamily="2" charset="-122"/>
              </a:rPr>
              <a:t>m = number of slots in Hash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宋体" pitchFamily="2" charset="-122"/>
              </a:rPr>
              <a:t>Load Factor </a:t>
            </a:r>
            <a:r>
              <a:rPr lang="en-US" dirty="0">
                <a:sym typeface="Symbol"/>
              </a:rPr>
              <a:t> = n/m (Number of elements in a slot)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宋体" pitchFamily="2" charset="-122"/>
              </a:rPr>
              <a:t>Expected number of elements examined in a successful search is –</a:t>
            </a:r>
          </a:p>
          <a:p>
            <a:r>
              <a:rPr lang="en-US" altLang="zh-CN" dirty="0">
                <a:ea typeface="宋体" pitchFamily="2" charset="-122"/>
                <a:cs typeface="Times New Roman" pitchFamily="18" charset="0"/>
              </a:rPr>
              <a:t>     </a:t>
            </a:r>
            <a:r>
              <a:rPr lang="el-GR" altLang="zh-CN" dirty="0">
                <a:cs typeface="Times New Roman" pitchFamily="18" charset="0"/>
              </a:rPr>
              <a:t>Θ</a:t>
            </a:r>
            <a:r>
              <a:rPr lang="en-US" altLang="zh-CN" dirty="0">
                <a:cs typeface="Times New Roman" pitchFamily="18" charset="0"/>
              </a:rPr>
              <a:t>(1+</a:t>
            </a:r>
            <a:r>
              <a:rPr lang="el-GR" altLang="zh-CN" dirty="0">
                <a:cs typeface="Times New Roman" pitchFamily="18" charset="0"/>
              </a:rPr>
              <a:t>α</a:t>
            </a:r>
            <a:r>
              <a:rPr lang="en-US" altLang="zh-CN" dirty="0"/>
              <a:t>)</a:t>
            </a:r>
          </a:p>
          <a:p>
            <a:pPr>
              <a:buFontTx/>
              <a:buChar char="-"/>
            </a:pPr>
            <a:endParaRPr lang="en-US" dirty="0"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039857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6200" y="585770"/>
            <a:ext cx="5562600" cy="685800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dirty="0"/>
              <a:t>Expected Cost - Interpretation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itchFamily="2" charset="-122"/>
                <a:sym typeface="Symbol" pitchFamily="18" charset="2"/>
              </a:rPr>
              <a:t>If 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n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 = 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O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), then =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n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/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 = 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O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)/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 = 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O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(1).</a:t>
            </a:r>
          </a:p>
          <a:p>
            <a:pPr marL="0" indent="0"/>
            <a:r>
              <a:rPr lang="en-US" altLang="zh-CN" sz="2800" dirty="0">
                <a:ea typeface="宋体" pitchFamily="2" charset="-122"/>
                <a:sym typeface="Symbol" pitchFamily="18" charset="2"/>
              </a:rPr>
              <a:t>	   </a:t>
            </a: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  <a:sym typeface="Symbol" pitchFamily="18" charset="2"/>
              </a:rPr>
              <a:t>Searching takes constant time on average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ea typeface="宋体" pitchFamily="2" charset="-122"/>
              <a:sym typeface="Symbol" pitchFamily="18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itchFamily="2" charset="-122"/>
                <a:sym typeface="Symbol" pitchFamily="18" charset="2"/>
              </a:rPr>
              <a:t>Insertion is 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O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(1) in the worst case.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ea typeface="宋体" pitchFamily="2" charset="-122"/>
              <a:sym typeface="Symbol" pitchFamily="18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itchFamily="2" charset="-122"/>
                <a:sym typeface="Symbol" pitchFamily="18" charset="2"/>
              </a:rPr>
              <a:t>Deletion takes </a:t>
            </a:r>
            <a:r>
              <a:rPr lang="en-US" altLang="zh-CN" sz="2800" i="1" dirty="0">
                <a:ea typeface="宋体" pitchFamily="2" charset="-122"/>
                <a:sym typeface="Symbol" pitchFamily="18" charset="2"/>
              </a:rPr>
              <a:t>O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(1) worst-case time when lists are doubly linked.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ea typeface="宋体" pitchFamily="2" charset="-122"/>
              <a:sym typeface="Symbol" pitchFamily="18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itchFamily="2" charset="-122"/>
                <a:sym typeface="Symbol" pitchFamily="18" charset="2"/>
              </a:rPr>
              <a:t>Hence, </a:t>
            </a:r>
            <a:r>
              <a:rPr lang="en-US" altLang="zh-CN" sz="2800" dirty="0">
                <a:solidFill>
                  <a:srgbClr val="CC3300"/>
                </a:solidFill>
                <a:ea typeface="宋体" pitchFamily="2" charset="-122"/>
                <a:sym typeface="Symbol" pitchFamily="18" charset="2"/>
              </a:rPr>
              <a:t>all dictionary operations take </a:t>
            </a:r>
            <a:r>
              <a:rPr lang="en-US" altLang="zh-CN" sz="2800" i="1" dirty="0">
                <a:solidFill>
                  <a:srgbClr val="CC3300"/>
                </a:solidFill>
                <a:ea typeface="宋体" pitchFamily="2" charset="-122"/>
                <a:sym typeface="Symbol" pitchFamily="18" charset="2"/>
              </a:rPr>
              <a:t>O</a:t>
            </a:r>
            <a:r>
              <a:rPr lang="en-US" altLang="zh-CN" sz="2800" dirty="0">
                <a:solidFill>
                  <a:srgbClr val="CC3300"/>
                </a:solidFill>
                <a:ea typeface="宋体" pitchFamily="2" charset="-122"/>
                <a:sym typeface="Symbol" pitchFamily="18" charset="2"/>
              </a:rPr>
              <a:t>(1) time on average with hash tables with chaining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2316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Open Addressing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5"/>
            <a:ext cx="8401079" cy="49561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ea typeface="宋体" pitchFamily="2" charset="-122"/>
                <a:sym typeface="Symbol" pitchFamily="18" charset="2"/>
              </a:rPr>
              <a:t>An alternative to chaining for handling collisions</a:t>
            </a:r>
          </a:p>
          <a:p>
            <a:pPr>
              <a:buFont typeface="Wingdings" pitchFamily="2" charset="2"/>
              <a:buNone/>
            </a:pPr>
            <a:endParaRPr lang="en-US" altLang="zh-CN" sz="2800" b="1" dirty="0">
              <a:solidFill>
                <a:srgbClr val="FF0000"/>
              </a:solidFill>
              <a:ea typeface="宋体" pitchFamily="2" charset="-122"/>
              <a:sym typeface="Symbol" pitchFamily="18" charset="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宋体" pitchFamily="2" charset="-122"/>
                <a:sym typeface="Symbol" pitchFamily="18" charset="2"/>
              </a:rPr>
              <a:t>Idea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ym typeface="Symbol" pitchFamily="18" charset="2"/>
              </a:rPr>
              <a:t>Store all keys in the hash table itself. 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ym typeface="Symbol" pitchFamily="18" charset="2"/>
              </a:rPr>
              <a:t>Each slot contains either a key or NIL. </a:t>
            </a: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ym typeface="Symbol" pitchFamily="18" charset="2"/>
              </a:rPr>
              <a:t>To search for key k: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sym typeface="Symbol" pitchFamily="18" charset="2"/>
              </a:rPr>
              <a:t>Examine slot h(k). Examining a slot is known as a probe.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zh-CN" sz="2000" dirty="0">
                <a:sym typeface="Symbol" pitchFamily="18" charset="2"/>
              </a:rPr>
              <a:t>If slot h(k) contains key k, the search is successful. If the slot contains NIL, the search is unsuccessful.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ym typeface="Symbol" pitchFamily="18" charset="2"/>
              </a:rPr>
              <a:t>	</a:t>
            </a:r>
            <a:r>
              <a:rPr lang="en-US" altLang="zh-CN" sz="2000" dirty="0">
                <a:sym typeface="Symbol" pitchFamily="18" charset="2"/>
              </a:rPr>
              <a:t>There's a third possibility: slot h(k) contains a key that is not k.</a:t>
            </a:r>
          </a:p>
          <a:p>
            <a:pPr marL="1257300" lvl="2" indent="-457200"/>
            <a:r>
              <a:rPr lang="en-US" altLang="zh-CN" sz="1900" dirty="0">
                <a:sym typeface="Symbol" pitchFamily="18" charset="2"/>
              </a:rPr>
              <a:t>Compute the index of some other slot, based on k and which probe we are on.</a:t>
            </a:r>
          </a:p>
          <a:p>
            <a:pPr marL="1257300" lvl="2" indent="-457200"/>
            <a:r>
              <a:rPr lang="en-US" altLang="zh-CN" sz="1900" dirty="0">
                <a:sym typeface="Symbol" pitchFamily="18" charset="2"/>
              </a:rPr>
              <a:t>Keep probing until we either find key k or we find a slot holding NIL.</a:t>
            </a:r>
          </a:p>
          <a:p>
            <a:pPr marL="457200" indent="-457200">
              <a:buFontTx/>
              <a:buChar char="-"/>
            </a:pPr>
            <a:endParaRPr lang="en-US" altLang="zh-CN" sz="2800" dirty="0">
              <a:sym typeface="Symbol" pitchFamily="18" charset="2"/>
            </a:endParaRPr>
          </a:p>
          <a:p>
            <a:pPr marL="457200" indent="-457200">
              <a:buFontTx/>
              <a:buChar char="-"/>
            </a:pPr>
            <a:r>
              <a:rPr lang="en-US" altLang="zh-CN" sz="2800" dirty="0">
                <a:solidFill>
                  <a:srgbClr val="FF0000"/>
                </a:solidFill>
                <a:sym typeface="Symbol" pitchFamily="18" charset="2"/>
              </a:rPr>
              <a:t>Advantages</a:t>
            </a:r>
            <a:r>
              <a:rPr lang="en-US" altLang="zh-CN" sz="2800" dirty="0">
                <a:sym typeface="Symbol" pitchFamily="18" charset="2"/>
              </a:rPr>
              <a:t>: Avoids pointers; so can use a larger table.</a:t>
            </a:r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89515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ym typeface="Symbol" pitchFamily="18" charset="2"/>
              </a:rPr>
              <a:t>Probe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ym typeface="Symbol" pitchFamily="18" charset="2"/>
              </a:rPr>
              <a:t>Sequence of slots examined during a key search constitutes a probe sequence.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sym typeface="Symbol" pitchFamily="18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ym typeface="Symbol" pitchFamily="18" charset="2"/>
              </a:rPr>
              <a:t>Probe sequence must be a permutation of the slot numbers.</a:t>
            </a:r>
          </a:p>
          <a:p>
            <a:pPr lvl="1"/>
            <a:r>
              <a:rPr lang="en-US" altLang="zh-CN" sz="2000" dirty="0">
                <a:sym typeface="Symbol" pitchFamily="18" charset="2"/>
              </a:rPr>
              <a:t>We examine every slot in the table, if we have to.</a:t>
            </a:r>
          </a:p>
          <a:p>
            <a:pPr lvl="1"/>
            <a:r>
              <a:rPr lang="en-US" altLang="zh-CN" sz="2000" dirty="0">
                <a:sym typeface="Symbol" pitchFamily="18" charset="2"/>
              </a:rPr>
              <a:t>We don't examine any slot more than once.</a:t>
            </a:r>
          </a:p>
          <a:p>
            <a:endParaRPr lang="en-US" altLang="zh-CN" sz="2800" dirty="0">
              <a:sym typeface="Symbol" pitchFamily="18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200" dirty="0">
                <a:sym typeface="Symbol" pitchFamily="18" charset="2"/>
              </a:rPr>
              <a:t>The hash function is extended to:</a:t>
            </a:r>
          </a:p>
          <a:p>
            <a:r>
              <a:rPr lang="en-US" altLang="zh-CN" sz="2200" dirty="0">
                <a:sym typeface="Symbol" pitchFamily="18" charset="2"/>
              </a:rPr>
              <a:t>—	h : U x {0, 1...., m -1}  -&gt; {0, 1, ...,m-1}</a:t>
            </a:r>
          </a:p>
          <a:p>
            <a:r>
              <a:rPr lang="en-US" altLang="zh-CN" sz="2800" dirty="0">
                <a:sym typeface="Symbol" pitchFamily="18" charset="2"/>
              </a:rPr>
              <a:t>             </a:t>
            </a:r>
            <a:r>
              <a:rPr lang="en-US" altLang="zh-CN" sz="1900" i="1" dirty="0">
                <a:solidFill>
                  <a:srgbClr val="FF0000"/>
                </a:solidFill>
                <a:sym typeface="Symbol" pitchFamily="18" charset="2"/>
              </a:rPr>
              <a:t>probe number</a:t>
            </a:r>
            <a:r>
              <a:rPr lang="en-US" altLang="zh-CN" sz="2800" dirty="0">
                <a:sym typeface="Symbol" pitchFamily="18" charset="2"/>
              </a:rPr>
              <a:t>	     </a:t>
            </a:r>
            <a:r>
              <a:rPr lang="en-US" altLang="zh-CN" sz="1900" i="1" dirty="0">
                <a:solidFill>
                  <a:srgbClr val="FF0000"/>
                </a:solidFill>
                <a:sym typeface="Symbol" pitchFamily="18" charset="2"/>
              </a:rPr>
              <a:t>slot 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sym typeface="Symbol" pitchFamily="18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200" dirty="0">
                <a:sym typeface="Symbol" pitchFamily="18" charset="2"/>
              </a:rPr>
              <a:t>&lt;h(k,0), h(k,1),...,h(k,m-1)&gt; should be a permutation of (0, 1,..., m-1).</a:t>
            </a:r>
          </a:p>
          <a:p>
            <a:endParaRPr lang="en-US" altLang="zh-CN" sz="2800" dirty="0">
              <a:sym typeface="Symbol" pitchFamily="18" charset="2"/>
            </a:endParaRPr>
          </a:p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73733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ym typeface="Symbol" pitchFamily="18" charset="2"/>
              </a:rPr>
              <a:t>Insert Operation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100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ym typeface="Symbol" pitchFamily="18" charset="2"/>
              </a:rPr>
              <a:t>Act as though we were searching, and insert at the first NIL slot found </a:t>
            </a:r>
          </a:p>
          <a:p>
            <a:endParaRPr lang="en-US" altLang="zh-CN" sz="2800" dirty="0">
              <a:sym typeface="Symbol" pitchFamily="18" charset="2"/>
            </a:endParaRPr>
          </a:p>
          <a:p>
            <a:endParaRPr lang="en-US" altLang="zh-CN" sz="2800" dirty="0">
              <a:sym typeface="Symbol" pitchFamily="18" charset="2"/>
            </a:endParaRPr>
          </a:p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275F98-32F8-4C8F-9121-67110ACE5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77" y="2705100"/>
            <a:ext cx="27813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46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Search Operation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268136" y="1524000"/>
            <a:ext cx="80296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search algorithm for key k probes the same sequence of slots that the insertion algorithm examined when k was inserted.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01F4C-6AF0-46F8-93DA-506B960F9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5" y="2424671"/>
            <a:ext cx="28384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69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Deletion Operation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428594" y="1600200"/>
            <a:ext cx="802960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just turn the slot containing the key we want to delete to contain NIL.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Doing so might make it impossible to retrieve any key k during whose insertion we had probed this slot &amp; found it occupied.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special value DELETED instead of NIL when marking a slot as empty during deletion.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Search should treat DELETED as though the slot holds a key that does not match the one being searched for.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Insert should treat DELETED as though the slot were empty, so that it can be reused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Disadvantage</a:t>
            </a:r>
            <a:r>
              <a:rPr lang="en-US" dirty="0"/>
              <a:t>: Search time is no longer dependent on </a:t>
            </a:r>
            <a:r>
              <a:rPr lang="el-GR" altLang="zh-CN" dirty="0">
                <a:cs typeface="Times New Roman" pitchFamily="18" charset="0"/>
              </a:rPr>
              <a:t>α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Hence, chaining is more common when keys have to be deleted.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572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Probe Sequences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4300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428594" y="1600200"/>
            <a:ext cx="802960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ideal situation is uniform hashing: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Generalization of simple uniform hashing.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Each key is equally likely to have any of the m! permutations of &lt;0, 1,..., m-1&gt; as its probe sequence.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to implement true uniform hashing.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Approximate with techniques that at least guarantee that the probe sequence is a permutation of &lt;0, 1,...,m-1&gt;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commonly used techniques: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Linear Probing.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Quadratic Probing.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Double Hashing.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guarantee that &lt;h(k,0), h(k,1) ..... h(k,m-1)) is a permutation of &lt;0, 1,..., m—l&gt;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None of these fulfills assumptions of uniform hashing.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Can't produce all m! probe sequences. </a:t>
            </a:r>
          </a:p>
        </p:txBody>
      </p:sp>
    </p:spTree>
    <p:extLst>
      <p:ext uri="{BB962C8B-B14F-4D97-AF65-F5344CB8AC3E}">
        <p14:creationId xmlns:p14="http://schemas.microsoft.com/office/powerpoint/2010/main" val="3964545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Linear Probing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428594" y="1600200"/>
            <a:ext cx="802960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Given an Ordinary Hash function h’ : U -&gt; {0, 1, 2, 3……….m-1}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Also called as Auxiliary Hash Function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h(k, </a:t>
            </a:r>
            <a:r>
              <a:rPr lang="en-US" dirty="0" err="1"/>
              <a:t>i</a:t>
            </a:r>
            <a:r>
              <a:rPr lang="en-US" dirty="0"/>
              <a:t>) = (h’(k)+</a:t>
            </a:r>
            <a:r>
              <a:rPr lang="en-US" dirty="0" err="1"/>
              <a:t>i</a:t>
            </a:r>
            <a:r>
              <a:rPr lang="en-US" dirty="0"/>
              <a:t>) mod m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Key : k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i</a:t>
            </a:r>
            <a:r>
              <a:rPr lang="en-US" dirty="0"/>
              <a:t> : Probe Number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h’(k) : Auxiliary hash function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initial probe determines the entire probe sequence.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T[h'(k)], T[h'(k)+1], ..., T[m-1], T[0], T[1], ..., T[h'(k)-1]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Hence, only </a:t>
            </a:r>
            <a:r>
              <a:rPr lang="en-US" i="1" dirty="0"/>
              <a:t>m distinct probe sequences</a:t>
            </a:r>
            <a:r>
              <a:rPr lang="en-US" dirty="0"/>
              <a:t> are possible.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Easy to Implement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Suffers from </a:t>
            </a:r>
            <a:r>
              <a:rPr lang="en-US" i="1" dirty="0"/>
              <a:t>primary clustering 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runs of occupied sequences build up.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runs tend to get longer, since an empty slot preceded by </a:t>
            </a:r>
            <a:r>
              <a:rPr lang="en-US" dirty="0" err="1"/>
              <a:t>i</a:t>
            </a:r>
            <a:r>
              <a:rPr lang="en-US" dirty="0"/>
              <a:t> full slots gets filled next with probability (i+1)/m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Hence, average search and insertion times increase. </a:t>
            </a:r>
          </a:p>
        </p:txBody>
      </p:sp>
    </p:spTree>
    <p:extLst>
      <p:ext uri="{BB962C8B-B14F-4D97-AF65-F5344CB8AC3E}">
        <p14:creationId xmlns:p14="http://schemas.microsoft.com/office/powerpoint/2010/main" val="4172893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Linear Probing -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428594" y="1600200"/>
            <a:ext cx="80296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h’(x) = x mod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h(x) = (h’(x) + </a:t>
            </a:r>
            <a:r>
              <a:rPr lang="en-US" dirty="0" err="1"/>
              <a:t>i</a:t>
            </a:r>
            <a:r>
              <a:rPr lang="en-US" dirty="0"/>
              <a:t>) mod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Insert 18, 41, 22, 44, 59, 32, 31, 73 in this order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44DD2-0B2B-4CED-8E11-5A317BA65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08" y="3399692"/>
            <a:ext cx="4076700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65A143-4C07-44C3-9F48-617024495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379753"/>
            <a:ext cx="13525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01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Quadratic Probing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2C5ADF-4558-4D05-B31A-263335222417}"/>
                  </a:ext>
                </a:extLst>
              </p:cNvPr>
              <p:cNvSpPr/>
              <p:nvPr/>
            </p:nvSpPr>
            <p:spPr>
              <a:xfrm>
                <a:off x="304800" y="1524000"/>
                <a:ext cx="8029605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Hash function is of the form –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h(k, </a:t>
                </a:r>
                <a:r>
                  <a:rPr lang="en-US" dirty="0" err="1"/>
                  <a:t>i</a:t>
                </a:r>
                <a:r>
                  <a:rPr lang="en-US" dirty="0"/>
                  <a:t>) = (h'(k) + c</a:t>
                </a:r>
                <a:r>
                  <a:rPr lang="en-US" baseline="-25000" dirty="0"/>
                  <a:t>1</a:t>
                </a:r>
                <a:r>
                  <a:rPr lang="en-US" dirty="0"/>
                  <a:t>i + C</a:t>
                </a:r>
                <a:r>
                  <a:rPr lang="en-US" baseline="-25000" dirty="0"/>
                  <a:t>2</a:t>
                </a:r>
                <a:r>
                  <a:rPr lang="en-US" dirty="0"/>
                  <a:t>i</a:t>
                </a:r>
                <a:r>
                  <a:rPr lang="en-US" baseline="30000" dirty="0"/>
                  <a:t>2</a:t>
                </a:r>
                <a:r>
                  <a:rPr lang="en-US" dirty="0"/>
                  <a:t>) mod m       c</a:t>
                </a:r>
                <a:r>
                  <a:rPr lang="en-US" baseline="-25000" dirty="0"/>
                  <a:t>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c</a:t>
                </a:r>
                <a:r>
                  <a:rPr lang="en-US" baseline="-25000" dirty="0"/>
                  <a:t>2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dirty="0"/>
                  <a:t>Key : k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dirty="0" err="1"/>
                  <a:t>i</a:t>
                </a:r>
                <a:r>
                  <a:rPr lang="en-US" dirty="0"/>
                  <a:t> : Probe Number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dirty="0"/>
                  <a:t>h’(k) : Auxiliary hash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initial probe position is T[h'(k)], later probe positions are offset by amounts that depend on a quadratic function of the probe number </a:t>
                </a:r>
                <a:r>
                  <a:rPr lang="en-US" dirty="0" err="1"/>
                  <a:t>i</a:t>
                </a:r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Must constrain c</a:t>
                </a:r>
                <a:r>
                  <a:rPr lang="en-US" baseline="-25000" dirty="0"/>
                  <a:t>1</a:t>
                </a:r>
                <a:r>
                  <a:rPr lang="en-US" dirty="0"/>
                  <a:t>, c</a:t>
                </a:r>
                <a:r>
                  <a:rPr lang="en-US" baseline="-25000" dirty="0"/>
                  <a:t>2</a:t>
                </a:r>
                <a:r>
                  <a:rPr lang="en-US" dirty="0"/>
                  <a:t>, and m to ensure that we get a full permutation of &lt;0, 1,..., m-1&gt;.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 suffer from secondary clustering 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two keys have the same initial probe position, then their probe sequences are the same.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2C5ADF-4558-4D05-B31A-263335222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524000"/>
                <a:ext cx="8029605" cy="3970318"/>
              </a:xfrm>
              <a:prstGeom prst="rect">
                <a:avLst/>
              </a:prstGeom>
              <a:blipFill>
                <a:blip r:embed="rId2"/>
                <a:stretch>
                  <a:fillRect l="-456" t="-768" r="-532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447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Quadratic Probing -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2C5ADF-4558-4D05-B31A-263335222417}"/>
                  </a:ext>
                </a:extLst>
              </p:cNvPr>
              <p:cNvSpPr/>
              <p:nvPr/>
            </p:nvSpPr>
            <p:spPr>
              <a:xfrm>
                <a:off x="428594" y="1600200"/>
                <a:ext cx="8029605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Example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h’(k) = k mod 11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h(k) = (h'(k) + c</a:t>
                </a:r>
                <a:r>
                  <a:rPr lang="en-US" baseline="-25000" dirty="0"/>
                  <a:t>1</a:t>
                </a:r>
                <a:r>
                  <a:rPr lang="en-US" dirty="0"/>
                  <a:t>i + C</a:t>
                </a:r>
                <a:r>
                  <a:rPr lang="en-US" baseline="-25000" dirty="0"/>
                  <a:t>2</a:t>
                </a:r>
                <a:r>
                  <a:rPr lang="en-US" dirty="0"/>
                  <a:t>i</a:t>
                </a:r>
                <a:r>
                  <a:rPr lang="en-US" baseline="30000" dirty="0"/>
                  <a:t>2</a:t>
                </a:r>
                <a:r>
                  <a:rPr lang="en-US" dirty="0"/>
                  <a:t>) mod 11       c</a:t>
                </a:r>
                <a:r>
                  <a:rPr lang="en-US" baseline="-25000" dirty="0"/>
                  <a:t>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</m:t>
                    </m:r>
                  </m:oMath>
                </a14:m>
                <a:r>
                  <a:rPr lang="en-US" dirty="0"/>
                  <a:t> c</a:t>
                </a:r>
                <a:r>
                  <a:rPr lang="en-US" baseline="-25000" dirty="0"/>
                  <a:t>2</a:t>
                </a:r>
                <a:r>
                  <a:rPr lang="en-US" dirty="0"/>
                  <a:t>= 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Insert 76, 26, 37, 59, 21, 65 in this order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2C5ADF-4558-4D05-B31A-263335222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4" y="1600200"/>
                <a:ext cx="8029605" cy="1477328"/>
              </a:xfrm>
              <a:prstGeom prst="rect">
                <a:avLst/>
              </a:prstGeom>
              <a:blipFill>
                <a:blip r:embed="rId2"/>
                <a:stretch>
                  <a:fillRect l="-607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1734C4D-19C8-49DF-B10E-3345D2676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9677"/>
            <a:ext cx="3400425" cy="628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FB1812-B633-4687-B985-C219B3E93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40" y="2971800"/>
            <a:ext cx="6576004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25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Double Hashing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428594" y="1600200"/>
            <a:ext cx="802960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h(k ,</a:t>
            </a:r>
            <a:r>
              <a:rPr lang="en-US" dirty="0" err="1"/>
              <a:t>i</a:t>
            </a:r>
            <a:r>
              <a:rPr lang="en-US" dirty="0"/>
              <a:t>) = (h</a:t>
            </a:r>
            <a:r>
              <a:rPr lang="en-US" baseline="-25000" dirty="0"/>
              <a:t>1</a:t>
            </a:r>
            <a:r>
              <a:rPr lang="en-US" dirty="0"/>
              <a:t>(k) + </a:t>
            </a:r>
            <a:r>
              <a:rPr lang="en-US" dirty="0" err="1"/>
              <a:t>i</a:t>
            </a:r>
            <a:r>
              <a:rPr lang="en-US" dirty="0"/>
              <a:t>*h</a:t>
            </a:r>
            <a:r>
              <a:rPr lang="en-US" baseline="-25000" dirty="0"/>
              <a:t>2</a:t>
            </a:r>
            <a:r>
              <a:rPr lang="en-US" dirty="0"/>
              <a:t>(k)) mod m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Key : k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i</a:t>
            </a:r>
            <a:r>
              <a:rPr lang="en-US" dirty="0"/>
              <a:t> : Probe Number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(k) + h</a:t>
            </a:r>
            <a:r>
              <a:rPr lang="en-US" baseline="-25000" dirty="0"/>
              <a:t>2</a:t>
            </a:r>
            <a:r>
              <a:rPr lang="en-US" dirty="0"/>
              <a:t>(k) : Auxiliary hash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auxiliary hash functions.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h1 gives the initial probe. h2 gives the remaining probes.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altLang="zh-CN" dirty="0">
                <a:cs typeface="Times New Roman" pitchFamily="18" charset="0"/>
              </a:rPr>
              <a:t>Θ</a:t>
            </a:r>
            <a:r>
              <a:rPr lang="en-US" dirty="0"/>
              <a:t>(m</a:t>
            </a:r>
            <a:r>
              <a:rPr lang="en-US" baseline="30000" dirty="0"/>
              <a:t>2</a:t>
            </a:r>
            <a:r>
              <a:rPr lang="en-US" dirty="0"/>
              <a:t>) different probe sequences.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One for each possible combination of h</a:t>
            </a:r>
            <a:r>
              <a:rPr lang="en-US" baseline="-25000" dirty="0"/>
              <a:t>1</a:t>
            </a:r>
            <a:r>
              <a:rPr lang="en-US" dirty="0"/>
              <a:t>(k) and h</a:t>
            </a:r>
            <a:r>
              <a:rPr lang="en-US" baseline="-25000" dirty="0"/>
              <a:t>2</a:t>
            </a:r>
            <a:r>
              <a:rPr lang="en-US" dirty="0"/>
              <a:t>(k).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Close to the ideal uniform hashing.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Best method available for open addressing </a:t>
            </a:r>
          </a:p>
        </p:txBody>
      </p:sp>
    </p:spTree>
    <p:extLst>
      <p:ext uri="{BB962C8B-B14F-4D97-AF65-F5344CB8AC3E}">
        <p14:creationId xmlns:p14="http://schemas.microsoft.com/office/powerpoint/2010/main" val="861549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Double Hashing -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C5ADF-4558-4D05-B31A-263335222417}"/>
              </a:ext>
            </a:extLst>
          </p:cNvPr>
          <p:cNvSpPr/>
          <p:nvPr/>
        </p:nvSpPr>
        <p:spPr>
          <a:xfrm>
            <a:off x="428594" y="1524000"/>
            <a:ext cx="80296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(k) = k mod 11          m=11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(k) = k mod 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h(k) = (h</a:t>
            </a:r>
            <a:r>
              <a:rPr lang="en-US" baseline="-25000" dirty="0"/>
              <a:t>1</a:t>
            </a:r>
            <a:r>
              <a:rPr lang="en-US" dirty="0"/>
              <a:t>(k) + ih</a:t>
            </a:r>
            <a:r>
              <a:rPr lang="en-US" baseline="-25000" dirty="0"/>
              <a:t>2</a:t>
            </a:r>
            <a:r>
              <a:rPr lang="en-US" dirty="0"/>
              <a:t>(k)) mod 11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Insert 76, 26, 37, 59, 21, 65 in this order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82120-ACA6-49CD-9EA0-14763A9F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3124200"/>
            <a:ext cx="4876799" cy="13508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173496-A008-46B4-A593-5A5F56EC1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062537"/>
            <a:ext cx="3086099" cy="6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397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Performance of Open Addressing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01980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400E6D-EBDA-4B63-9684-4ED152CB63FA}"/>
              </a:ext>
            </a:extLst>
          </p:cNvPr>
          <p:cNvSpPr txBox="1">
            <a:spLocks noChangeArrowheads="1"/>
          </p:cNvSpPr>
          <p:nvPr/>
        </p:nvSpPr>
        <p:spPr>
          <a:xfrm>
            <a:off x="285721" y="1428736"/>
            <a:ext cx="8429684" cy="4500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dirty="0">
              <a:ea typeface="宋体" pitchFamily="2" charset="-122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2C5ADF-4558-4D05-B31A-263335222417}"/>
                  </a:ext>
                </a:extLst>
              </p:cNvPr>
              <p:cNvSpPr/>
              <p:nvPr/>
            </p:nvSpPr>
            <p:spPr>
              <a:xfrm>
                <a:off x="428594" y="1600200"/>
                <a:ext cx="8029605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Theorem: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expected number of probes in an unsuccessful search in an open-address hash table is at most 1/(1-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). 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n/m)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Corollary: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Inserting an element into an open-address table takes &lt;= 1/(1-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 probes on average.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a constant, search/insertion takes 0(1) time.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E2C5ADF-4558-4D05-B31A-263335222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4" y="1600200"/>
                <a:ext cx="8029605" cy="2585323"/>
              </a:xfrm>
              <a:prstGeom prst="rect">
                <a:avLst/>
              </a:prstGeom>
              <a:blipFill>
                <a:blip r:embed="rId2"/>
                <a:stretch>
                  <a:fillRect l="-607" t="-1415" b="-2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92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5560EC-C9EF-46BB-B4B9-E55BA04ADEB2}"/>
</file>

<file path=customXml/itemProps2.xml><?xml version="1.0" encoding="utf-8"?>
<ds:datastoreItem xmlns:ds="http://schemas.openxmlformats.org/officeDocument/2006/customXml" ds:itemID="{2D63660C-14B2-4657-AAD7-99818E0AD402}"/>
</file>

<file path=customXml/itemProps3.xml><?xml version="1.0" encoding="utf-8"?>
<ds:datastoreItem xmlns:ds="http://schemas.openxmlformats.org/officeDocument/2006/customXml" ds:itemID="{3402E3B8-8934-4750-9777-E16DEA1326F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12894</TotalTime>
  <Words>2806</Words>
  <Application>Microsoft Office PowerPoint</Application>
  <PresentationFormat>On-screen Show (4:3)</PresentationFormat>
  <Paragraphs>471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新細明體</vt:lpstr>
      <vt:lpstr>宋体</vt:lpstr>
      <vt:lpstr>Arial</vt:lpstr>
      <vt:lpstr>Calibri</vt:lpstr>
      <vt:lpstr>Cambria Math</vt:lpstr>
      <vt:lpstr>Comic Sans MS</vt:lpstr>
      <vt:lpstr>Garamond</vt:lpstr>
      <vt:lpstr>MTSYN</vt:lpstr>
      <vt:lpstr>Symbol</vt:lpstr>
      <vt:lpstr>Times New Roman</vt:lpstr>
      <vt:lpstr>Times-BoldItalic</vt:lpstr>
      <vt:lpstr>Times-Italic</vt:lpstr>
      <vt:lpstr>Times-Roman</vt:lpstr>
      <vt:lpstr>Wingdings</vt:lpstr>
      <vt:lpstr>Office Theme</vt:lpstr>
      <vt:lpstr>Data Structures and Algorithms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Harish Aggarwal</cp:lastModifiedBy>
  <cp:revision>835</cp:revision>
  <dcterms:created xsi:type="dcterms:W3CDTF">2011-09-14T09:42:05Z</dcterms:created>
  <dcterms:modified xsi:type="dcterms:W3CDTF">2025-08-23T01:31:20Z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