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60" r:id="rId2"/>
    <p:sldId id="257" r:id="rId3"/>
    <p:sldId id="600" r:id="rId4"/>
    <p:sldId id="601" r:id="rId5"/>
    <p:sldId id="269" r:id="rId6"/>
    <p:sldId id="288" r:id="rId7"/>
    <p:sldId id="289" r:id="rId8"/>
    <p:sldId id="290" r:id="rId9"/>
    <p:sldId id="291" r:id="rId10"/>
    <p:sldId id="1423" r:id="rId11"/>
    <p:sldId id="1452" r:id="rId12"/>
    <p:sldId id="1451" r:id="rId13"/>
    <p:sldId id="1453" r:id="rId14"/>
    <p:sldId id="1499" r:id="rId15"/>
    <p:sldId id="1498" r:id="rId16"/>
    <p:sldId id="1456" r:id="rId17"/>
    <p:sldId id="1457" r:id="rId18"/>
    <p:sldId id="1458" r:id="rId19"/>
    <p:sldId id="1462" r:id="rId20"/>
    <p:sldId id="1459" r:id="rId21"/>
    <p:sldId id="1460" r:id="rId22"/>
    <p:sldId id="1461" r:id="rId23"/>
    <p:sldId id="1463" r:id="rId24"/>
    <p:sldId id="1465" r:id="rId25"/>
    <p:sldId id="1464" r:id="rId26"/>
    <p:sldId id="1466" r:id="rId27"/>
    <p:sldId id="1468" r:id="rId28"/>
    <p:sldId id="1469" r:id="rId29"/>
    <p:sldId id="1470" r:id="rId30"/>
    <p:sldId id="1471" r:id="rId31"/>
    <p:sldId id="147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C18207-F25A-4EAF-AFF7-23242646E77D}">
          <p14:sldIdLst>
            <p14:sldId id="260"/>
            <p14:sldId id="257"/>
            <p14:sldId id="600"/>
            <p14:sldId id="601"/>
            <p14:sldId id="269"/>
            <p14:sldId id="288"/>
            <p14:sldId id="289"/>
            <p14:sldId id="290"/>
            <p14:sldId id="291"/>
            <p14:sldId id="1423"/>
            <p14:sldId id="1452"/>
            <p14:sldId id="1451"/>
            <p14:sldId id="1453"/>
            <p14:sldId id="1499"/>
            <p14:sldId id="1498"/>
            <p14:sldId id="1456"/>
            <p14:sldId id="1457"/>
            <p14:sldId id="1458"/>
            <p14:sldId id="1462"/>
            <p14:sldId id="1459"/>
            <p14:sldId id="1460"/>
            <p14:sldId id="1461"/>
            <p14:sldId id="1463"/>
            <p14:sldId id="1465"/>
            <p14:sldId id="1464"/>
            <p14:sldId id="1466"/>
            <p14:sldId id="1468"/>
            <p14:sldId id="1469"/>
            <p14:sldId id="1470"/>
            <p14:sldId id="1471"/>
            <p14:sldId id="1472"/>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986" y="3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B4E8DC-0834-4650-9D61-C4E340743F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DAC8CB-8A01-44F9-850C-16FE848F51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AC79B6-C1D5-4ED8-A556-C696C4587616}" type="datetimeFigureOut">
              <a:rPr lang="en-US" smtClean="0"/>
              <a:t>10/3/2025</a:t>
            </a:fld>
            <a:endParaRPr lang="en-US"/>
          </a:p>
        </p:txBody>
      </p:sp>
      <p:sp>
        <p:nvSpPr>
          <p:cNvPr id="4" name="Footer Placeholder 3">
            <a:extLst>
              <a:ext uri="{FF2B5EF4-FFF2-40B4-BE49-F238E27FC236}">
                <a16:creationId xmlns:a16="http://schemas.microsoft.com/office/drawing/2014/main" id="{87148502-FD76-4E89-AE94-AA0CB984F0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FF28A08-D39B-4959-9CF9-CD46C1288B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62BC3D-0DAC-4FAD-B9FD-6500134C6962}" type="slidenum">
              <a:rPr lang="en-US" smtClean="0"/>
              <a:t>‹#›</a:t>
            </a:fld>
            <a:endParaRPr lang="en-US"/>
          </a:p>
        </p:txBody>
      </p:sp>
    </p:spTree>
    <p:extLst>
      <p:ext uri="{BB962C8B-B14F-4D97-AF65-F5344CB8AC3E}">
        <p14:creationId xmlns:p14="http://schemas.microsoft.com/office/powerpoint/2010/main" val="16969129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03-10-2025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sz="1800"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2"/>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endParaRPr lang="en-US"/>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7"/>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5" name="Picture 14" descr="Picture 7.png"/>
          <p:cNvPicPr>
            <a:picLocks noChangeAspect="1"/>
          </p:cNvPicPr>
          <p:nvPr userDrawn="1"/>
        </p:nvPicPr>
        <p:blipFill>
          <a:blip r:embed="rId3" cstate="print"/>
          <a:srcRect l="1923" b="5336"/>
          <a:stretch>
            <a:fillRect/>
          </a:stretch>
        </p:blipFill>
        <p:spPr>
          <a:xfrm>
            <a:off x="6629401"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9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9"/>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3"/>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grpSp>
        <p:nvGrpSpPr>
          <p:cNvPr id="19" name="Group 18"/>
          <p:cNvGrpSpPr/>
          <p:nvPr userDrawn="1"/>
        </p:nvGrpSpPr>
        <p:grpSpPr>
          <a:xfrm>
            <a:off x="2133600" y="6558114"/>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2"/>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endParaRPr lang="en-US"/>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endParaRPr lang="en-US" dirty="0"/>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6959067" y="6113943"/>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3" name="Content Placeholder 2"/>
          <p:cNvSpPr>
            <a:spLocks noGrp="1"/>
          </p:cNvSpPr>
          <p:nvPr userDrawn="1">
            <p:ph sz="half" idx="1" hasCustomPrompt="1"/>
          </p:nvPr>
        </p:nvSpPr>
        <p:spPr>
          <a:xfrm>
            <a:off x="457200" y="1600202"/>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2"/>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2"/>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9" name="Group 28"/>
          <p:cNvGrpSpPr/>
          <p:nvPr userDrawn="1"/>
        </p:nvGrpSpPr>
        <p:grpSpPr>
          <a:xfrm>
            <a:off x="2133600" y="6553202"/>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endParaRPr lang="en-US"/>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6" name="Group 15"/>
          <p:cNvGrpSpPr/>
          <p:nvPr userDrawn="1"/>
        </p:nvGrpSpPr>
        <p:grpSpPr>
          <a:xfrm>
            <a:off x="2133600" y="6553202"/>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20" name="Picture 19"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2" name="Slide Number Placeholder 5">
            <a:extLst>
              <a:ext uri="{FF2B5EF4-FFF2-40B4-BE49-F238E27FC236}">
                <a16:creationId xmlns:a16="http://schemas.microsoft.com/office/drawing/2014/main" id="{79A58594-808C-449C-B483-BE1860649E7F}"/>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2"/>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1" name="Group 10"/>
          <p:cNvGrpSpPr/>
          <p:nvPr userDrawn="1"/>
        </p:nvGrpSpPr>
        <p:grpSpPr>
          <a:xfrm>
            <a:off x="2133600" y="65532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5" name="Picture 14"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2"/>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2"/>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2"/>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4" name="Group 13"/>
          <p:cNvGrpSpPr/>
          <p:nvPr userDrawn="1"/>
        </p:nvGrpSpPr>
        <p:grpSpPr>
          <a:xfrm>
            <a:off x="2133600" y="6553202"/>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8" name="Picture 17"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7"/>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2"/>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1" name="Group 10"/>
          <p:cNvGrpSpPr/>
          <p:nvPr userDrawn="1"/>
        </p:nvGrpSpPr>
        <p:grpSpPr>
          <a:xfrm>
            <a:off x="2133600" y="65532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5" name="Picture 14"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endParaRPr lang="en-US"/>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endParaRPr lang="en-US"/>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6"/>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2"/>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5" name="Group 24"/>
          <p:cNvGrpSpPr/>
          <p:nvPr userDrawn="1"/>
        </p:nvGrpSpPr>
        <p:grpSpPr>
          <a:xfrm>
            <a:off x="2133600" y="6553202"/>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29" name="Picture 28"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4" name="Slide Number Placeholder 5">
            <a:extLst>
              <a:ext uri="{FF2B5EF4-FFF2-40B4-BE49-F238E27FC236}">
                <a16:creationId xmlns:a16="http://schemas.microsoft.com/office/drawing/2014/main" id="{005D9FA3-A275-4FFC-BD28-8294B363B969}"/>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2"/>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4" y="1131249"/>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endParaRPr lang="en-US"/>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endParaRPr lang="en-US"/>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7655895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hlink"/>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25" dirty="0">
                <a:latin typeface="Arial"/>
                <a:cs typeface="Arial"/>
              </a:rPr>
              <a:t> </a:t>
            </a:r>
            <a:r>
              <a:rPr dirty="0"/>
              <a:t>Pilani,</a:t>
            </a:r>
            <a:r>
              <a:rPr spc="10" dirty="0"/>
              <a:t> </a:t>
            </a:r>
            <a:r>
              <a:rPr dirty="0"/>
              <a:t>Deemed</a:t>
            </a:r>
            <a:r>
              <a:rPr spc="-15" dirty="0"/>
              <a:t> </a:t>
            </a:r>
            <a:r>
              <a:rPr dirty="0"/>
              <a:t>to</a:t>
            </a:r>
            <a:r>
              <a:rPr spc="-30" dirty="0"/>
              <a:t> </a:t>
            </a:r>
            <a:r>
              <a:rPr dirty="0"/>
              <a:t>be</a:t>
            </a:r>
            <a:r>
              <a:rPr spc="-15" dirty="0"/>
              <a:t> </a:t>
            </a:r>
            <a:r>
              <a:rPr dirty="0"/>
              <a:t>University</a:t>
            </a:r>
            <a:r>
              <a:rPr spc="5" dirty="0"/>
              <a:t> </a:t>
            </a:r>
            <a:r>
              <a:rPr dirty="0"/>
              <a:t>under</a:t>
            </a:r>
            <a:r>
              <a:rPr spc="-25" dirty="0"/>
              <a:t> </a:t>
            </a:r>
            <a:r>
              <a:rPr dirty="0"/>
              <a:t>Section</a:t>
            </a:r>
            <a:r>
              <a:rPr spc="-15" dirty="0"/>
              <a:t> </a:t>
            </a:r>
            <a:r>
              <a:rPr dirty="0"/>
              <a:t>3</a:t>
            </a:r>
            <a:r>
              <a:rPr spc="-20" dirty="0"/>
              <a:t> </a:t>
            </a:r>
            <a:r>
              <a:rPr dirty="0"/>
              <a:t>of</a:t>
            </a:r>
            <a:r>
              <a:rPr spc="-25" dirty="0"/>
              <a:t> </a:t>
            </a:r>
            <a:r>
              <a:rPr dirty="0"/>
              <a:t>UGC</a:t>
            </a:r>
            <a:r>
              <a:rPr spc="-20" dirty="0"/>
              <a:t> </a:t>
            </a:r>
            <a:r>
              <a:rPr dirty="0"/>
              <a:t>Act,</a:t>
            </a:r>
            <a:r>
              <a:rPr spc="-25"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MT"/>
                <a:cs typeface="Arial MT"/>
              </a:defRPr>
            </a:lvl1pPr>
          </a:lstStyle>
          <a:p>
            <a:pPr marL="38100">
              <a:lnSpc>
                <a:spcPts val="1425"/>
              </a:lnSpc>
            </a:pPr>
            <a:fld id="{81D60167-4931-47E6-BA6A-407CBD079E47}" type="slidenum">
              <a:rPr spc="-25" dirty="0"/>
              <a:t>‹#›</a:t>
            </a:fld>
            <a:endParaRPr spc="-25" dirty="0"/>
          </a:p>
        </p:txBody>
      </p:sp>
    </p:spTree>
    <p:extLst>
      <p:ext uri="{BB962C8B-B14F-4D97-AF65-F5344CB8AC3E}">
        <p14:creationId xmlns:p14="http://schemas.microsoft.com/office/powerpoint/2010/main" val="4221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
        <p:nvSpPr>
          <p:cNvPr id="9" name="Title 4">
            <a:extLst>
              <a:ext uri="{FF2B5EF4-FFF2-40B4-BE49-F238E27FC236}">
                <a16:creationId xmlns:a16="http://schemas.microsoft.com/office/drawing/2014/main" id="{FCE4EB96-C0BE-4CCE-B15C-C776F702843D}"/>
              </a:ext>
            </a:extLst>
          </p:cNvPr>
          <p:cNvSpPr>
            <a:spLocks noGrp="1"/>
          </p:cNvSpPr>
          <p:nvPr>
            <p:ph type="title"/>
          </p:nvPr>
        </p:nvSpPr>
        <p:spPr>
          <a:xfrm>
            <a:off x="1981200" y="3810000"/>
            <a:ext cx="6705600" cy="1524000"/>
          </a:xfrm>
        </p:spPr>
        <p:txBody>
          <a:bodyPr/>
          <a:lstStyle/>
          <a:p>
            <a:pPr algn="ctr"/>
            <a:r>
              <a:rPr lang="en-US" sz="2800"/>
              <a:t>Data </a:t>
            </a:r>
            <a:r>
              <a:rPr lang="en-US" sz="2800" dirty="0"/>
              <a:t>Structures and Algorithms Design</a:t>
            </a:r>
            <a:endParaRPr lang="en-US" sz="4000" dirty="0"/>
          </a:p>
        </p:txBody>
      </p:sp>
      <p:sp>
        <p:nvSpPr>
          <p:cNvPr id="6" name="Content Placeholder 5"/>
          <p:cNvSpPr>
            <a:spLocks noGrp="1"/>
          </p:cNvSpPr>
          <p:nvPr>
            <p:ph sz="quarter" idx="13"/>
          </p:nvPr>
        </p:nvSpPr>
        <p:spPr>
          <a:xfrm>
            <a:off x="2514600" y="5257802"/>
            <a:ext cx="6019800" cy="685799"/>
          </a:xfrm>
        </p:spPr>
        <p:txBody>
          <a:bodyPr/>
          <a:lstStyle/>
          <a:p>
            <a:r>
              <a:rPr lang="en-US" sz="1600" dirty="0"/>
              <a:t>Harish Aggarwal</a:t>
            </a:r>
          </a:p>
          <a:p>
            <a:endParaRPr lang="en-US" sz="1400" i="1"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419600"/>
            <a:ext cx="8458200" cy="2133600"/>
          </a:xfrm>
        </p:spPr>
        <p:txBody>
          <a:bodyPr anchor="ctr"/>
          <a:lstStyle/>
          <a:p>
            <a:pPr algn="ctr"/>
            <a:r>
              <a:rPr lang="en-US" sz="3600" dirty="0"/>
              <a:t>Greedy Algorithms</a:t>
            </a:r>
          </a:p>
          <a:p>
            <a:pPr algn="ctr"/>
            <a:r>
              <a:rPr lang="en-US" sz="3600" dirty="0"/>
              <a:t>Kruskal</a:t>
            </a:r>
          </a:p>
          <a:p>
            <a:pPr algn="ctr"/>
            <a:r>
              <a:rPr lang="en-US" sz="3600" dirty="0"/>
              <a:t>Prims</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fld id="{BC8D7E44-7D4F-4942-A8C9-2DF6BF8399E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FF0E3EC0-DFF9-6DE8-5288-0BA5364B6073}"/>
              </a:ext>
            </a:extLst>
          </p:cNvPr>
          <p:cNvSpPr>
            <a:spLocks noGrp="1"/>
          </p:cNvSpPr>
          <p:nvPr>
            <p:ph idx="1"/>
          </p:nvPr>
        </p:nvSpPr>
        <p:spPr>
          <a:xfrm>
            <a:off x="228600" y="1493838"/>
            <a:ext cx="4343400" cy="4906962"/>
          </a:xfrm>
          <a:ln>
            <a:solidFill>
              <a:schemeClr val="tx1"/>
            </a:solidFill>
          </a:ln>
        </p:spPr>
        <p:txBody>
          <a:bodyPr/>
          <a:lstStyle/>
          <a:p>
            <a:pPr marL="0" indent="0" fontAlgn="base">
              <a:spcAft>
                <a:spcPct val="0"/>
              </a:spcAft>
            </a:pPr>
            <a:r>
              <a:rPr lang="en-US" altLang="en-US" sz="1200" b="1" dirty="0"/>
              <a:t>Lecture-01</a:t>
            </a:r>
          </a:p>
          <a:p>
            <a:pPr marL="182880" indent="-182880" fontAlgn="base">
              <a:spcAft>
                <a:spcPct val="0"/>
              </a:spcAft>
              <a:buFont typeface="Arial" pitchFamily="34" charset="0"/>
              <a:buChar char="•"/>
            </a:pPr>
            <a:r>
              <a:rPr lang="en-US" altLang="en-US" sz="1200" dirty="0"/>
              <a:t>Introduction</a:t>
            </a:r>
          </a:p>
          <a:p>
            <a:pPr marL="182880" indent="-182880" fontAlgn="base">
              <a:spcAft>
                <a:spcPct val="0"/>
              </a:spcAft>
              <a:buFont typeface="Arial" pitchFamily="34" charset="0"/>
              <a:buChar char="•"/>
            </a:pPr>
            <a:r>
              <a:rPr lang="en-US" altLang="en-US" sz="1200" dirty="0"/>
              <a:t>Handout</a:t>
            </a:r>
          </a:p>
          <a:p>
            <a:pPr marL="182880" indent="-182880" fontAlgn="base">
              <a:spcAft>
                <a:spcPct val="0"/>
              </a:spcAft>
              <a:buFont typeface="Arial" pitchFamily="34" charset="0"/>
              <a:buChar char="•"/>
            </a:pPr>
            <a:r>
              <a:rPr lang="en-US" altLang="en-US" sz="1200" dirty="0"/>
              <a:t>Text Books, Reference Books</a:t>
            </a:r>
          </a:p>
          <a:p>
            <a:pPr marL="182880" indent="-182880" fontAlgn="base">
              <a:spcAft>
                <a:spcPct val="0"/>
              </a:spcAft>
              <a:buFont typeface="Arial" pitchFamily="34" charset="0"/>
              <a:buChar char="•"/>
            </a:pPr>
            <a:r>
              <a:rPr lang="en-US" altLang="en-US" sz="1200" dirty="0"/>
              <a:t>Marks Distribution</a:t>
            </a:r>
          </a:p>
          <a:p>
            <a:pPr marL="182880" indent="-182880" fontAlgn="base">
              <a:spcAft>
                <a:spcPct val="0"/>
              </a:spcAft>
              <a:buFont typeface="Arial" pitchFamily="34" charset="0"/>
              <a:buChar char="•"/>
            </a:pPr>
            <a:r>
              <a:rPr lang="en-US" altLang="en-US" sz="1200" dirty="0"/>
              <a:t>Algorithm Analysis</a:t>
            </a:r>
          </a:p>
          <a:p>
            <a:pPr marL="182880" indent="-182880" fontAlgn="base">
              <a:spcAft>
                <a:spcPct val="0"/>
              </a:spcAft>
              <a:buFont typeface="Arial" pitchFamily="34" charset="0"/>
              <a:buChar char="•"/>
            </a:pPr>
            <a:r>
              <a:rPr lang="en-US" altLang="en-US" sz="1200" dirty="0"/>
              <a:t>Pseudo Code</a:t>
            </a:r>
          </a:p>
          <a:p>
            <a:pPr marL="182880" indent="-182880" fontAlgn="base">
              <a:spcAft>
                <a:spcPct val="0"/>
              </a:spcAft>
              <a:buFont typeface="Arial" pitchFamily="34" charset="0"/>
              <a:buChar char="•"/>
            </a:pPr>
            <a:r>
              <a:rPr lang="en-US" altLang="en-US" sz="1200" dirty="0"/>
              <a:t>Random Access model</a:t>
            </a:r>
          </a:p>
          <a:p>
            <a:pPr marL="182880" indent="-182880" fontAlgn="base">
              <a:spcAft>
                <a:spcPct val="0"/>
              </a:spcAft>
              <a:buFont typeface="Arial" pitchFamily="34" charset="0"/>
              <a:buChar char="•"/>
            </a:pPr>
            <a:r>
              <a:rPr lang="en-US" altLang="en-US" sz="1200" dirty="0"/>
              <a:t>Time Complexity of Algorithms</a:t>
            </a:r>
          </a:p>
          <a:p>
            <a:pPr marL="182880" indent="-182880" fontAlgn="base">
              <a:spcAft>
                <a:spcPct val="0"/>
              </a:spcAft>
              <a:buFont typeface="Arial" pitchFamily="34" charset="0"/>
              <a:buChar char="•"/>
            </a:pPr>
            <a:r>
              <a:rPr lang="en-US" altLang="en-US" sz="1200" dirty="0"/>
              <a:t>Asymptotic Notations</a:t>
            </a:r>
          </a:p>
          <a:p>
            <a:pPr marL="182880" indent="-182880" fontAlgn="base">
              <a:spcAft>
                <a:spcPct val="0"/>
              </a:spcAft>
              <a:buFont typeface="Arial" pitchFamily="34" charset="0"/>
              <a:buChar char="•"/>
            </a:pPr>
            <a:r>
              <a:rPr lang="en-US" altLang="en-US" sz="1200" dirty="0"/>
              <a:t>Basic Maths Needed in the course</a:t>
            </a:r>
          </a:p>
          <a:p>
            <a:pPr marL="0" indent="0" fontAlgn="base">
              <a:spcAft>
                <a:spcPct val="0"/>
              </a:spcAft>
            </a:pPr>
            <a:r>
              <a:rPr lang="en-US" altLang="en-US" sz="1200" b="1" dirty="0"/>
              <a:t>Lecture-02</a:t>
            </a:r>
          </a:p>
          <a:p>
            <a:pPr marL="182880" indent="-182880" fontAlgn="base">
              <a:spcAft>
                <a:spcPct val="0"/>
              </a:spcAft>
              <a:buFont typeface="Arial" pitchFamily="34" charset="0"/>
              <a:buChar char="•"/>
            </a:pPr>
            <a:r>
              <a:rPr lang="en-US" altLang="en-US" sz="1200" dirty="0"/>
              <a:t>General Rules and Problems</a:t>
            </a:r>
          </a:p>
          <a:p>
            <a:pPr marL="182880" indent="-182880" fontAlgn="base">
              <a:spcAft>
                <a:spcPct val="0"/>
              </a:spcAft>
              <a:buFont typeface="Arial" pitchFamily="34" charset="0"/>
              <a:buChar char="•"/>
            </a:pPr>
            <a:r>
              <a:rPr lang="en-US" altLang="en-US" sz="1200" dirty="0"/>
              <a:t>Mathematical analysis of Non-recursive algorithms</a:t>
            </a:r>
          </a:p>
          <a:p>
            <a:pPr marL="182880" indent="-182880" fontAlgn="base">
              <a:spcAft>
                <a:spcPct val="0"/>
              </a:spcAft>
              <a:buFont typeface="Arial" pitchFamily="34" charset="0"/>
              <a:buChar char="•"/>
            </a:pPr>
            <a:r>
              <a:rPr lang="en-US" altLang="en-US" sz="1200" dirty="0"/>
              <a:t>Mathematical analysis of Recursive algorithms</a:t>
            </a:r>
          </a:p>
          <a:p>
            <a:pPr marL="182880" indent="-182880" fontAlgn="base">
              <a:spcAft>
                <a:spcPct val="0"/>
              </a:spcAft>
              <a:buFont typeface="Arial" pitchFamily="34" charset="0"/>
              <a:buChar char="•"/>
            </a:pPr>
            <a:r>
              <a:rPr lang="en-US" altLang="en-US" sz="1200" dirty="0"/>
              <a:t>Iteration vs Recursion</a:t>
            </a:r>
          </a:p>
          <a:p>
            <a:pPr marL="182880" indent="-182880" fontAlgn="base">
              <a:spcAft>
                <a:spcPct val="0"/>
              </a:spcAft>
              <a:buFont typeface="Arial" pitchFamily="34" charset="0"/>
              <a:buChar char="•"/>
            </a:pPr>
            <a:r>
              <a:rPr lang="en-US" altLang="en-US" sz="1200" dirty="0"/>
              <a:t>Recurrence Tree</a:t>
            </a:r>
          </a:p>
          <a:p>
            <a:pPr marL="182880" indent="-182880" fontAlgn="base">
              <a:spcAft>
                <a:spcPct val="0"/>
              </a:spcAft>
              <a:buFont typeface="Arial" pitchFamily="34" charset="0"/>
              <a:buChar char="•"/>
            </a:pPr>
            <a:r>
              <a:rPr lang="en-US" altLang="en-US" sz="1200" dirty="0"/>
              <a:t>Iterative Substitution</a:t>
            </a:r>
          </a:p>
          <a:p>
            <a:pPr marL="182880" indent="-182880" fontAlgn="base">
              <a:spcAft>
                <a:spcPct val="0"/>
              </a:spcAft>
              <a:buFont typeface="Arial" pitchFamily="34" charset="0"/>
              <a:buChar char="•"/>
            </a:pPr>
            <a:r>
              <a:rPr lang="en-US" altLang="en-US" sz="1200" dirty="0"/>
              <a:t>Masters Theorem with example</a:t>
            </a:r>
          </a:p>
          <a:p>
            <a:pPr fontAlgn="base">
              <a:spcAft>
                <a:spcPct val="0"/>
              </a:spcAft>
              <a:buFont typeface="Arial" pitchFamily="34" charset="0"/>
              <a:buChar char="•"/>
            </a:pPr>
            <a:endParaRPr lang="en-US" altLang="en-US" sz="1400" dirty="0"/>
          </a:p>
        </p:txBody>
      </p:sp>
      <p:sp>
        <p:nvSpPr>
          <p:cNvPr id="4" name="Content Placeholder 3">
            <a:extLst>
              <a:ext uri="{FF2B5EF4-FFF2-40B4-BE49-F238E27FC236}">
                <a16:creationId xmlns:a16="http://schemas.microsoft.com/office/drawing/2014/main" id="{AB0699E7-A7D3-5596-4AF6-3A94B70F49A6}"/>
              </a:ext>
            </a:extLst>
          </p:cNvPr>
          <p:cNvSpPr>
            <a:spLocks noGrp="1"/>
          </p:cNvSpPr>
          <p:nvPr>
            <p:ph sz="quarter" idx="10"/>
          </p:nvPr>
        </p:nvSpPr>
        <p:spPr/>
        <p:txBody>
          <a:bodyPr rtlCol="0"/>
          <a:lstStyle/>
          <a:p>
            <a:pPr eaLnBrk="1" fontAlgn="auto" hangingPunct="1">
              <a:spcAft>
                <a:spcPts val="0"/>
              </a:spcAft>
              <a:defRPr/>
            </a:pPr>
            <a:r>
              <a:rPr lang="en-US" dirty="0"/>
              <a:t>Re-Cap</a:t>
            </a:r>
          </a:p>
        </p:txBody>
      </p:sp>
      <p:sp>
        <p:nvSpPr>
          <p:cNvPr id="2" name="Content Placeholder 2">
            <a:extLst>
              <a:ext uri="{FF2B5EF4-FFF2-40B4-BE49-F238E27FC236}">
                <a16:creationId xmlns:a16="http://schemas.microsoft.com/office/drawing/2014/main" id="{72B9483A-C0FA-DFF6-CA0F-97CFF3211246}"/>
              </a:ext>
            </a:extLst>
          </p:cNvPr>
          <p:cNvSpPr txBox="1">
            <a:spLocks/>
          </p:cNvSpPr>
          <p:nvPr/>
        </p:nvSpPr>
        <p:spPr bwMode="auto">
          <a:xfrm>
            <a:off x="4572000" y="1493838"/>
            <a:ext cx="4343400" cy="4906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base">
              <a:spcAft>
                <a:spcPct val="0"/>
              </a:spcAft>
            </a:pPr>
            <a:r>
              <a:rPr lang="en-US" altLang="en-US" sz="1200" b="1" dirty="0"/>
              <a:t>Lecture-03</a:t>
            </a:r>
          </a:p>
          <a:p>
            <a:pPr marL="182880" indent="-182880" fontAlgn="base">
              <a:spcAft>
                <a:spcPct val="0"/>
              </a:spcAft>
              <a:buFont typeface="Arial" pitchFamily="34" charset="0"/>
              <a:buChar char="•"/>
            </a:pPr>
            <a:r>
              <a:rPr lang="en-US" altLang="en-US" sz="1200" dirty="0"/>
              <a:t>Abstract Data Types</a:t>
            </a:r>
          </a:p>
          <a:p>
            <a:pPr marL="182880" indent="-182880" fontAlgn="base">
              <a:spcAft>
                <a:spcPct val="0"/>
              </a:spcAft>
              <a:buFont typeface="Arial" pitchFamily="34" charset="0"/>
              <a:buChar char="•"/>
            </a:pPr>
            <a:r>
              <a:rPr lang="en-US" altLang="en-US" sz="1200" dirty="0"/>
              <a:t>Arrays and Linked Lists</a:t>
            </a:r>
          </a:p>
          <a:p>
            <a:pPr marL="182880" indent="-182880" fontAlgn="base">
              <a:spcAft>
                <a:spcPct val="0"/>
              </a:spcAft>
              <a:buFont typeface="Arial" pitchFamily="34" charset="0"/>
              <a:buChar char="•"/>
            </a:pPr>
            <a:r>
              <a:rPr lang="en-US" altLang="en-US" sz="1200" dirty="0"/>
              <a:t>List, Stack, Queues</a:t>
            </a:r>
          </a:p>
          <a:p>
            <a:pPr marL="365760" lvl="1" indent="-182880" fontAlgn="base">
              <a:spcAft>
                <a:spcPct val="0"/>
              </a:spcAft>
              <a:buFont typeface="Arial" pitchFamily="34" charset="0"/>
              <a:buChar char="•"/>
            </a:pPr>
            <a:r>
              <a:rPr lang="en-US" altLang="en-US" sz="1200" dirty="0"/>
              <a:t>Array and Linked Implementation</a:t>
            </a:r>
          </a:p>
          <a:p>
            <a:pPr marL="365760" lvl="1" indent="-182880" fontAlgn="base">
              <a:spcAft>
                <a:spcPct val="0"/>
              </a:spcAft>
              <a:buFont typeface="Arial" pitchFamily="34" charset="0"/>
              <a:buChar char="•"/>
            </a:pPr>
            <a:r>
              <a:rPr lang="en-US" altLang="en-US" sz="1200" dirty="0"/>
              <a:t>Add, Remove operations</a:t>
            </a:r>
          </a:p>
          <a:p>
            <a:pPr marL="365760" lvl="1" indent="-182880" fontAlgn="base">
              <a:spcAft>
                <a:spcPct val="0"/>
              </a:spcAft>
              <a:buFont typeface="Arial" pitchFamily="34" charset="0"/>
              <a:buChar char="•"/>
            </a:pPr>
            <a:r>
              <a:rPr lang="en-US" altLang="en-US" sz="1200" dirty="0"/>
              <a:t>Applications</a:t>
            </a:r>
          </a:p>
          <a:p>
            <a:pPr marL="365760" lvl="1" indent="-182880" fontAlgn="base">
              <a:spcAft>
                <a:spcPct val="0"/>
              </a:spcAft>
              <a:buFont typeface="Arial" pitchFamily="34" charset="0"/>
              <a:buChar char="•"/>
            </a:pPr>
            <a:r>
              <a:rPr lang="en-US" altLang="en-US" sz="1200" dirty="0"/>
              <a:t>Infix, </a:t>
            </a:r>
            <a:r>
              <a:rPr lang="en-US" altLang="en-US" sz="1200" dirty="0" err="1"/>
              <a:t>PreFix</a:t>
            </a:r>
            <a:r>
              <a:rPr lang="en-US" altLang="en-US" sz="1200" dirty="0"/>
              <a:t>, </a:t>
            </a:r>
            <a:r>
              <a:rPr lang="en-US" altLang="en-US" sz="1200" dirty="0" err="1"/>
              <a:t>PostFix</a:t>
            </a:r>
            <a:r>
              <a:rPr lang="en-US" altLang="en-US" sz="1200" dirty="0"/>
              <a:t> Notations</a:t>
            </a:r>
          </a:p>
          <a:p>
            <a:pPr lvl="1" fontAlgn="base">
              <a:spcAft>
                <a:spcPct val="0"/>
              </a:spcAft>
              <a:buFont typeface="Arial" pitchFamily="34" charset="0"/>
              <a:buChar char="•"/>
            </a:pPr>
            <a:endParaRPr lang="en-US" altLang="en-US" sz="1200" dirty="0"/>
          </a:p>
          <a:p>
            <a:pPr marL="0" indent="0" fontAlgn="base">
              <a:spcAft>
                <a:spcPct val="0"/>
              </a:spcAft>
            </a:pPr>
            <a:r>
              <a:rPr lang="en-US" altLang="en-US" sz="1200" b="1" dirty="0"/>
              <a:t>Lecture-04</a:t>
            </a:r>
          </a:p>
          <a:p>
            <a:pPr marL="182880" indent="-182880" fontAlgn="base">
              <a:spcAft>
                <a:spcPct val="0"/>
              </a:spcAft>
              <a:buFont typeface="Arial" pitchFamily="34" charset="0"/>
              <a:buChar char="•"/>
            </a:pPr>
            <a:r>
              <a:rPr lang="en-US" altLang="en-US" sz="1200" dirty="0"/>
              <a:t>Recurrence relation</a:t>
            </a:r>
          </a:p>
          <a:p>
            <a:pPr marL="365760" lvl="1" indent="-182880" fontAlgn="base">
              <a:spcAft>
                <a:spcPct val="0"/>
              </a:spcAft>
              <a:buFont typeface="Arial" pitchFamily="34" charset="0"/>
              <a:buChar char="•"/>
            </a:pPr>
            <a:r>
              <a:rPr lang="en-US" altLang="en-US" sz="1200" dirty="0"/>
              <a:t>Recursion Method (With help from Merge sort)</a:t>
            </a:r>
          </a:p>
          <a:p>
            <a:pPr marL="365760" lvl="1" indent="-182880" fontAlgn="base">
              <a:spcAft>
                <a:spcPct val="0"/>
              </a:spcAft>
              <a:buFont typeface="Arial" pitchFamily="34" charset="0"/>
              <a:buChar char="•"/>
            </a:pPr>
            <a:r>
              <a:rPr lang="en-US" altLang="en-US" sz="1200" dirty="0"/>
              <a:t>Substitution Method</a:t>
            </a:r>
          </a:p>
          <a:p>
            <a:pPr marL="182880" indent="-182880" fontAlgn="base">
              <a:spcAft>
                <a:spcPct val="0"/>
              </a:spcAft>
              <a:buFont typeface="Arial" pitchFamily="34" charset="0"/>
              <a:buChar char="•"/>
            </a:pPr>
            <a:r>
              <a:rPr lang="en-US" altLang="en-US" sz="1200" dirty="0"/>
              <a:t>Tree – Definitions</a:t>
            </a:r>
          </a:p>
          <a:p>
            <a:pPr marL="182880" indent="-182880" fontAlgn="base">
              <a:spcAft>
                <a:spcPct val="0"/>
              </a:spcAft>
              <a:buFont typeface="Arial" pitchFamily="34" charset="0"/>
              <a:buChar char="•"/>
            </a:pPr>
            <a:r>
              <a:rPr lang="en-US" altLang="en-US" sz="1200" dirty="0"/>
              <a:t>Binary Tree – </a:t>
            </a:r>
          </a:p>
          <a:p>
            <a:pPr marL="365760" lvl="1" indent="-182880" fontAlgn="base">
              <a:spcAft>
                <a:spcPct val="0"/>
              </a:spcAft>
              <a:buFont typeface="Arial" pitchFamily="34" charset="0"/>
              <a:buChar char="•"/>
            </a:pPr>
            <a:r>
              <a:rPr lang="en-US" altLang="en-US" sz="1200" dirty="0"/>
              <a:t>Proper, (Strict/Full), Complete, Perfect</a:t>
            </a:r>
          </a:p>
          <a:p>
            <a:pPr marL="182880" lvl="1" indent="-182880" fontAlgn="base">
              <a:spcAft>
                <a:spcPct val="0"/>
              </a:spcAft>
              <a:buClr>
                <a:srgbClr val="101141"/>
              </a:buClr>
              <a:buFont typeface="Arial" pitchFamily="34" charset="0"/>
              <a:buChar char="•"/>
            </a:pPr>
            <a:r>
              <a:rPr lang="en-US" altLang="en-US" sz="1200" dirty="0"/>
              <a:t>Tree Traversal – </a:t>
            </a:r>
            <a:r>
              <a:rPr lang="en-US" altLang="en-US" sz="1200" dirty="0" err="1"/>
              <a:t>PreOrder</a:t>
            </a:r>
            <a:r>
              <a:rPr lang="en-US" altLang="en-US" sz="1200" dirty="0"/>
              <a:t>, </a:t>
            </a:r>
            <a:r>
              <a:rPr lang="en-US" altLang="en-US" sz="1200" dirty="0" err="1"/>
              <a:t>InOrder</a:t>
            </a:r>
            <a:r>
              <a:rPr lang="en-US" altLang="en-US" sz="1200" dirty="0"/>
              <a:t>, </a:t>
            </a:r>
            <a:r>
              <a:rPr lang="en-US" altLang="en-US" sz="1200" dirty="0" err="1"/>
              <a:t>PostOrder</a:t>
            </a:r>
            <a:endParaRPr lang="en-US" altLang="en-US" sz="1200" dirty="0"/>
          </a:p>
          <a:p>
            <a:pPr marL="0" indent="0" fontAlgn="base">
              <a:spcAft>
                <a:spcPct val="0"/>
              </a:spcAft>
            </a:pPr>
            <a:endParaRPr lang="en-US" altLang="en-US" sz="1200" b="1" dirty="0"/>
          </a:p>
          <a:p>
            <a:pPr marL="0" indent="0" fontAlgn="base">
              <a:spcAft>
                <a:spcPct val="0"/>
              </a:spcAft>
            </a:pPr>
            <a:endParaRPr lang="en-US" alt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FF0E3EC0-DFF9-6DE8-5288-0BA5364B6073}"/>
              </a:ext>
            </a:extLst>
          </p:cNvPr>
          <p:cNvSpPr>
            <a:spLocks noGrp="1"/>
          </p:cNvSpPr>
          <p:nvPr>
            <p:ph idx="1"/>
          </p:nvPr>
        </p:nvSpPr>
        <p:spPr>
          <a:xfrm>
            <a:off x="228600" y="1493838"/>
            <a:ext cx="4343400" cy="4906962"/>
          </a:xfrm>
          <a:ln>
            <a:solidFill>
              <a:schemeClr val="tx1"/>
            </a:solidFill>
          </a:ln>
        </p:spPr>
        <p:txBody>
          <a:bodyPr/>
          <a:lstStyle/>
          <a:p>
            <a:pPr marL="0" indent="0" fontAlgn="base">
              <a:spcAft>
                <a:spcPct val="0"/>
              </a:spcAft>
            </a:pPr>
            <a:r>
              <a:rPr lang="en-US" altLang="en-US" sz="1200" b="1" dirty="0"/>
              <a:t>Lecture-05</a:t>
            </a:r>
          </a:p>
          <a:p>
            <a:pPr marL="182880" indent="-182880" fontAlgn="base">
              <a:spcAft>
                <a:spcPct val="0"/>
              </a:spcAft>
              <a:buFont typeface="Arial" pitchFamily="34" charset="0"/>
              <a:buChar char="•"/>
            </a:pPr>
            <a:r>
              <a:rPr lang="en-US" altLang="en-US" sz="1200" dirty="0"/>
              <a:t>Sorting –</a:t>
            </a:r>
          </a:p>
          <a:p>
            <a:pPr marL="457200" lvl="1" indent="-182880" fontAlgn="base">
              <a:spcAft>
                <a:spcPct val="0"/>
              </a:spcAft>
              <a:buFont typeface="Arial" pitchFamily="34" charset="0"/>
              <a:buChar char="•"/>
            </a:pPr>
            <a:r>
              <a:rPr lang="en-US" altLang="en-US" sz="1200" dirty="0"/>
              <a:t>Bubble Sort</a:t>
            </a:r>
          </a:p>
          <a:p>
            <a:pPr marL="457200" lvl="1" indent="-182880" fontAlgn="base">
              <a:spcAft>
                <a:spcPct val="0"/>
              </a:spcAft>
              <a:buFont typeface="Arial" pitchFamily="34" charset="0"/>
              <a:buChar char="•"/>
            </a:pPr>
            <a:r>
              <a:rPr lang="en-US" altLang="en-US" sz="1200" dirty="0"/>
              <a:t>Insertion Sort</a:t>
            </a:r>
          </a:p>
          <a:p>
            <a:pPr marL="457200" lvl="1" indent="-182880" fontAlgn="base">
              <a:spcAft>
                <a:spcPct val="0"/>
              </a:spcAft>
              <a:buFont typeface="Arial" pitchFamily="34" charset="0"/>
              <a:buChar char="•"/>
            </a:pPr>
            <a:r>
              <a:rPr lang="en-US" altLang="en-US" sz="1200" dirty="0"/>
              <a:t>Selection Sort</a:t>
            </a:r>
          </a:p>
          <a:p>
            <a:pPr marL="457200" lvl="1" indent="-182880" fontAlgn="base">
              <a:spcAft>
                <a:spcPct val="0"/>
              </a:spcAft>
              <a:buFont typeface="Arial" pitchFamily="34" charset="0"/>
              <a:buChar char="•"/>
            </a:pPr>
            <a:r>
              <a:rPr lang="en-US" altLang="en-US" sz="1200" dirty="0"/>
              <a:t>Bucket Sort</a:t>
            </a:r>
          </a:p>
          <a:p>
            <a:pPr marL="457200" lvl="1" indent="-182880" fontAlgn="base">
              <a:spcAft>
                <a:spcPct val="0"/>
              </a:spcAft>
              <a:buFont typeface="Arial" pitchFamily="34" charset="0"/>
              <a:buChar char="•"/>
            </a:pPr>
            <a:r>
              <a:rPr lang="en-US" altLang="en-US" sz="1200" dirty="0"/>
              <a:t>Quick Sort</a:t>
            </a:r>
          </a:p>
          <a:p>
            <a:pPr marL="182880" indent="-182880" fontAlgn="base">
              <a:spcAft>
                <a:spcPct val="0"/>
              </a:spcAft>
              <a:buFont typeface="Arial" pitchFamily="34" charset="0"/>
              <a:buChar char="•"/>
            </a:pPr>
            <a:r>
              <a:rPr lang="en-US" altLang="en-US" sz="1200" dirty="0"/>
              <a:t>Complexity of Sorting Algorithms</a:t>
            </a:r>
          </a:p>
          <a:p>
            <a:pPr marL="182880" indent="-182880" fontAlgn="base">
              <a:spcAft>
                <a:spcPct val="0"/>
              </a:spcAft>
              <a:buFont typeface="Arial" pitchFamily="34" charset="0"/>
              <a:buChar char="•"/>
            </a:pPr>
            <a:r>
              <a:rPr lang="en-US" altLang="en-US" sz="1200" dirty="0"/>
              <a:t>Heaps</a:t>
            </a:r>
          </a:p>
          <a:p>
            <a:pPr marL="182880" indent="-182880" fontAlgn="base">
              <a:spcAft>
                <a:spcPct val="0"/>
              </a:spcAft>
              <a:buFont typeface="Arial" pitchFamily="34" charset="0"/>
              <a:buChar char="•"/>
            </a:pPr>
            <a:r>
              <a:rPr lang="en-US" altLang="en-US" sz="1200" dirty="0"/>
              <a:t>Heaps</a:t>
            </a:r>
          </a:p>
          <a:p>
            <a:pPr marL="365760" lvl="1" indent="-182880" fontAlgn="base">
              <a:spcAft>
                <a:spcPct val="0"/>
              </a:spcAft>
              <a:buFont typeface="Arial" pitchFamily="34" charset="0"/>
              <a:buChar char="•"/>
            </a:pPr>
            <a:r>
              <a:rPr lang="en-US" altLang="en-US" sz="1200" dirty="0" err="1"/>
              <a:t>Heapify</a:t>
            </a:r>
            <a:endParaRPr lang="en-US" altLang="en-US" sz="1200" dirty="0"/>
          </a:p>
          <a:p>
            <a:pPr marL="365760" lvl="1" indent="-182880" fontAlgn="base">
              <a:spcAft>
                <a:spcPct val="0"/>
              </a:spcAft>
              <a:buFont typeface="Arial" pitchFamily="34" charset="0"/>
              <a:buChar char="•"/>
            </a:pPr>
            <a:r>
              <a:rPr lang="en-US" altLang="en-US" sz="1200" dirty="0"/>
              <a:t>Heap Sort</a:t>
            </a:r>
          </a:p>
          <a:p>
            <a:pPr marL="365760" lvl="1" indent="-182880" fontAlgn="base">
              <a:spcAft>
                <a:spcPct val="0"/>
              </a:spcAft>
              <a:buFont typeface="Arial" pitchFamily="34" charset="0"/>
              <a:buChar char="•"/>
            </a:pPr>
            <a:endParaRPr lang="en-US" altLang="en-US" sz="1200" dirty="0"/>
          </a:p>
          <a:p>
            <a:pPr marL="0" indent="0" fontAlgn="base">
              <a:spcAft>
                <a:spcPct val="0"/>
              </a:spcAft>
            </a:pPr>
            <a:r>
              <a:rPr lang="en-US" altLang="en-US" sz="1200" b="1" dirty="0"/>
              <a:t>Lecture-06</a:t>
            </a:r>
          </a:p>
          <a:p>
            <a:pPr marL="182880" indent="-182880" fontAlgn="base">
              <a:spcAft>
                <a:spcPct val="0"/>
              </a:spcAft>
              <a:buFont typeface="Arial" pitchFamily="34" charset="0"/>
              <a:buChar char="•"/>
            </a:pPr>
            <a:r>
              <a:rPr lang="en-US" altLang="en-US" sz="1200" dirty="0"/>
              <a:t>Hashing</a:t>
            </a:r>
          </a:p>
          <a:p>
            <a:pPr marL="182880" indent="-182880" fontAlgn="base">
              <a:spcAft>
                <a:spcPct val="0"/>
              </a:spcAft>
              <a:buFont typeface="Arial" pitchFamily="34" charset="0"/>
              <a:buChar char="•"/>
            </a:pPr>
            <a:r>
              <a:rPr lang="en-US" altLang="en-US" sz="1200" dirty="0"/>
              <a:t>Collisions</a:t>
            </a:r>
          </a:p>
          <a:p>
            <a:pPr marL="182880" indent="-182880" fontAlgn="base">
              <a:spcAft>
                <a:spcPct val="0"/>
              </a:spcAft>
              <a:buFont typeface="Arial" pitchFamily="34" charset="0"/>
              <a:buChar char="•"/>
            </a:pPr>
            <a:r>
              <a:rPr lang="en-US" altLang="en-US" sz="1200" dirty="0"/>
              <a:t>Handling collisions – </a:t>
            </a:r>
          </a:p>
          <a:p>
            <a:pPr marL="582930" lvl="1" indent="-182880" fontAlgn="base">
              <a:spcAft>
                <a:spcPct val="0"/>
              </a:spcAft>
              <a:buFont typeface="Arial" pitchFamily="34" charset="0"/>
              <a:buChar char="•"/>
            </a:pPr>
            <a:r>
              <a:rPr lang="en-US" altLang="en-US" sz="1100" dirty="0"/>
              <a:t>Chaining, </a:t>
            </a:r>
          </a:p>
          <a:p>
            <a:pPr marL="582930" lvl="1" indent="-182880" fontAlgn="base">
              <a:spcAft>
                <a:spcPct val="0"/>
              </a:spcAft>
              <a:buFont typeface="Arial" pitchFamily="34" charset="0"/>
              <a:buChar char="•"/>
            </a:pPr>
            <a:r>
              <a:rPr lang="en-US" altLang="en-US" sz="1100" dirty="0"/>
              <a:t>Linear Probing, </a:t>
            </a:r>
          </a:p>
          <a:p>
            <a:pPr marL="582930" lvl="1" indent="-182880" fontAlgn="base">
              <a:spcAft>
                <a:spcPct val="0"/>
              </a:spcAft>
              <a:buFont typeface="Arial" pitchFamily="34" charset="0"/>
              <a:buChar char="•"/>
            </a:pPr>
            <a:r>
              <a:rPr lang="en-US" altLang="en-US" sz="1100" dirty="0"/>
              <a:t>Quadratic Probing </a:t>
            </a:r>
          </a:p>
          <a:p>
            <a:pPr marL="582930" lvl="1" indent="-182880" fontAlgn="base">
              <a:spcAft>
                <a:spcPct val="0"/>
              </a:spcAft>
              <a:buFont typeface="Arial" pitchFamily="34" charset="0"/>
              <a:buChar char="•"/>
            </a:pPr>
            <a:r>
              <a:rPr lang="en-US" altLang="en-US" sz="1100" dirty="0"/>
              <a:t>Double Hashing</a:t>
            </a:r>
          </a:p>
          <a:p>
            <a:pPr marL="365760" lvl="1" indent="-182880" fontAlgn="base">
              <a:spcAft>
                <a:spcPct val="0"/>
              </a:spcAft>
              <a:buFont typeface="Arial" pitchFamily="34" charset="0"/>
              <a:buChar char="•"/>
            </a:pPr>
            <a:r>
              <a:rPr lang="en-US" altLang="en-US" sz="1200" dirty="0"/>
              <a:t> </a:t>
            </a:r>
          </a:p>
          <a:p>
            <a:pPr marL="365760" lvl="1" indent="-182880" fontAlgn="base">
              <a:spcAft>
                <a:spcPct val="0"/>
              </a:spcAft>
              <a:buFont typeface="Arial" pitchFamily="34" charset="0"/>
              <a:buChar char="•"/>
            </a:pPr>
            <a:endParaRPr lang="en-US" altLang="en-US" sz="1200" b="1" dirty="0"/>
          </a:p>
        </p:txBody>
      </p:sp>
      <p:sp>
        <p:nvSpPr>
          <p:cNvPr id="4" name="Content Placeholder 3">
            <a:extLst>
              <a:ext uri="{FF2B5EF4-FFF2-40B4-BE49-F238E27FC236}">
                <a16:creationId xmlns:a16="http://schemas.microsoft.com/office/drawing/2014/main" id="{AB0699E7-A7D3-5596-4AF6-3A94B70F49A6}"/>
              </a:ext>
            </a:extLst>
          </p:cNvPr>
          <p:cNvSpPr>
            <a:spLocks noGrp="1"/>
          </p:cNvSpPr>
          <p:nvPr>
            <p:ph sz="quarter" idx="10"/>
          </p:nvPr>
        </p:nvSpPr>
        <p:spPr/>
        <p:txBody>
          <a:bodyPr rtlCol="0"/>
          <a:lstStyle/>
          <a:p>
            <a:pPr eaLnBrk="1" fontAlgn="auto" hangingPunct="1">
              <a:spcAft>
                <a:spcPts val="0"/>
              </a:spcAft>
              <a:defRPr/>
            </a:pPr>
            <a:r>
              <a:rPr lang="en-US" dirty="0"/>
              <a:t>Re-Cap</a:t>
            </a:r>
          </a:p>
        </p:txBody>
      </p:sp>
      <p:sp>
        <p:nvSpPr>
          <p:cNvPr id="2" name="Content Placeholder 2">
            <a:extLst>
              <a:ext uri="{FF2B5EF4-FFF2-40B4-BE49-F238E27FC236}">
                <a16:creationId xmlns:a16="http://schemas.microsoft.com/office/drawing/2014/main" id="{72B9483A-C0FA-DFF6-CA0F-97CFF3211246}"/>
              </a:ext>
            </a:extLst>
          </p:cNvPr>
          <p:cNvSpPr txBox="1">
            <a:spLocks/>
          </p:cNvSpPr>
          <p:nvPr/>
        </p:nvSpPr>
        <p:spPr bwMode="auto">
          <a:xfrm>
            <a:off x="4572000" y="1493838"/>
            <a:ext cx="4343400" cy="4906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base">
              <a:spcAft>
                <a:spcPct val="0"/>
              </a:spcAft>
            </a:pPr>
            <a:r>
              <a:rPr lang="en-US" altLang="en-US" sz="1200" b="1" dirty="0"/>
              <a:t>Lecture-07</a:t>
            </a:r>
          </a:p>
          <a:p>
            <a:pPr marL="182880" indent="-182880" fontAlgn="base">
              <a:spcAft>
                <a:spcPct val="0"/>
              </a:spcAft>
              <a:buFont typeface="Arial" pitchFamily="34" charset="0"/>
              <a:buChar char="•"/>
            </a:pPr>
            <a:r>
              <a:rPr lang="en-US" altLang="en-US" sz="1200" dirty="0"/>
              <a:t>Binary Search Tree</a:t>
            </a:r>
          </a:p>
          <a:p>
            <a:pPr marL="582930" lvl="1" indent="-182880" fontAlgn="base">
              <a:spcAft>
                <a:spcPct val="0"/>
              </a:spcAft>
              <a:buFont typeface="Arial" pitchFamily="34" charset="0"/>
              <a:buChar char="•"/>
            </a:pPr>
            <a:r>
              <a:rPr lang="en-US" altLang="en-US" sz="1100" dirty="0"/>
              <a:t>Addition, Deletion of Node </a:t>
            </a:r>
          </a:p>
          <a:p>
            <a:pPr marL="582930" lvl="1" indent="-182880" fontAlgn="base">
              <a:spcAft>
                <a:spcPct val="0"/>
              </a:spcAft>
              <a:buFont typeface="Arial" pitchFamily="34" charset="0"/>
              <a:buChar char="•"/>
            </a:pPr>
            <a:r>
              <a:rPr lang="en-US" altLang="en-US" sz="1100" dirty="0"/>
              <a:t>Search</a:t>
            </a:r>
          </a:p>
          <a:p>
            <a:pPr marL="582930" lvl="1" indent="-182880" fontAlgn="base">
              <a:spcAft>
                <a:spcPct val="0"/>
              </a:spcAft>
              <a:buFont typeface="Arial" pitchFamily="34" charset="0"/>
              <a:buChar char="•"/>
            </a:pPr>
            <a:endParaRPr lang="en-US" altLang="en-US" sz="1100" dirty="0"/>
          </a:p>
          <a:p>
            <a:pPr marL="0" indent="0" fontAlgn="base">
              <a:spcAft>
                <a:spcPct val="0"/>
              </a:spcAft>
            </a:pPr>
            <a:r>
              <a:rPr lang="en-US" altLang="en-US" sz="1200" b="1" dirty="0"/>
              <a:t>Lecture-08</a:t>
            </a:r>
          </a:p>
          <a:p>
            <a:pPr marL="182880" indent="-182880" fontAlgn="base">
              <a:spcAft>
                <a:spcPct val="0"/>
              </a:spcAft>
              <a:buFont typeface="Arial" pitchFamily="34" charset="0"/>
              <a:buChar char="•"/>
            </a:pPr>
            <a:r>
              <a:rPr lang="en-US" altLang="en-US" sz="1200" dirty="0"/>
              <a:t>Revision</a:t>
            </a:r>
          </a:p>
          <a:p>
            <a:pPr marL="182880" indent="-182880" fontAlgn="base">
              <a:spcAft>
                <a:spcPct val="0"/>
              </a:spcAft>
              <a:buFont typeface="Arial" pitchFamily="34" charset="0"/>
              <a:buChar char="•"/>
            </a:pPr>
            <a:endParaRPr lang="en-US" altLang="en-US" sz="1200" dirty="0"/>
          </a:p>
          <a:p>
            <a:pPr marL="0" indent="0" fontAlgn="base">
              <a:spcAft>
                <a:spcPct val="0"/>
              </a:spcAft>
            </a:pPr>
            <a:r>
              <a:rPr lang="en-US" altLang="en-US" sz="1100" b="1" dirty="0"/>
              <a:t>Lecture-09</a:t>
            </a:r>
          </a:p>
          <a:p>
            <a:pPr marL="182880" indent="-182880" fontAlgn="base">
              <a:spcAft>
                <a:spcPct val="0"/>
              </a:spcAft>
              <a:buFont typeface="Arial" pitchFamily="34" charset="0"/>
              <a:buChar char="•"/>
            </a:pPr>
            <a:r>
              <a:rPr lang="en-US" altLang="en-US" sz="1100" dirty="0"/>
              <a:t>AVL Trees</a:t>
            </a:r>
            <a:endParaRPr lang="en-US" altLang="en-US" sz="1050" dirty="0"/>
          </a:p>
          <a:p>
            <a:pPr marL="182880" indent="-182880" fontAlgn="base">
              <a:spcAft>
                <a:spcPct val="0"/>
              </a:spcAft>
              <a:buFont typeface="Arial" pitchFamily="34" charset="0"/>
              <a:buChar char="•"/>
            </a:pPr>
            <a:endParaRPr lang="en-US" altLang="en-US" sz="1100" dirty="0"/>
          </a:p>
          <a:p>
            <a:pPr marL="0" indent="0" fontAlgn="base">
              <a:spcAft>
                <a:spcPct val="0"/>
              </a:spcAft>
            </a:pPr>
            <a:r>
              <a:rPr lang="en-US" altLang="en-US" sz="1100" b="1" dirty="0"/>
              <a:t>Lecture-10</a:t>
            </a:r>
          </a:p>
          <a:p>
            <a:pPr marL="182880" indent="-182880" fontAlgn="base">
              <a:spcAft>
                <a:spcPct val="0"/>
              </a:spcAft>
              <a:buFont typeface="Arial" pitchFamily="34" charset="0"/>
              <a:buChar char="•"/>
            </a:pPr>
            <a:r>
              <a:rPr lang="en-US" altLang="en-US" sz="1100" dirty="0"/>
              <a:t>Graphs</a:t>
            </a:r>
          </a:p>
          <a:p>
            <a:pPr marL="182880" indent="-182880" fontAlgn="base">
              <a:spcAft>
                <a:spcPct val="0"/>
              </a:spcAft>
              <a:buFont typeface="Arial" pitchFamily="34" charset="0"/>
              <a:buChar char="•"/>
            </a:pPr>
            <a:r>
              <a:rPr lang="en-US" altLang="en-US" sz="1100" dirty="0"/>
              <a:t>BFS and DFS Traversal</a:t>
            </a:r>
            <a:endParaRPr lang="en-US" altLang="en-US" sz="1050" dirty="0"/>
          </a:p>
          <a:p>
            <a:pPr marL="182880" indent="-182880" fontAlgn="base">
              <a:spcAft>
                <a:spcPct val="0"/>
              </a:spcAft>
              <a:buFont typeface="Arial" pitchFamily="34" charset="0"/>
              <a:buChar char="•"/>
            </a:pPr>
            <a:endParaRPr lang="en-US" altLang="en-US" sz="1100" dirty="0"/>
          </a:p>
        </p:txBody>
      </p:sp>
    </p:spTree>
    <p:extLst>
      <p:ext uri="{BB962C8B-B14F-4D97-AF65-F5344CB8AC3E}">
        <p14:creationId xmlns:p14="http://schemas.microsoft.com/office/powerpoint/2010/main" val="710913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pPr lvl="0"/>
            <a:r>
              <a:rPr lang="en-IN" dirty="0"/>
              <a:t>Agenda</a:t>
            </a:r>
            <a:endParaRPr lang="en-US" dirty="0"/>
          </a:p>
        </p:txBody>
      </p:sp>
      <p:sp>
        <p:nvSpPr>
          <p:cNvPr id="5" name="Rectangle 4">
            <a:extLst>
              <a:ext uri="{FF2B5EF4-FFF2-40B4-BE49-F238E27FC236}">
                <a16:creationId xmlns:a16="http://schemas.microsoft.com/office/drawing/2014/main" id="{996A9B68-4457-4DA2-A963-C6E1087137B2}"/>
              </a:ext>
            </a:extLst>
          </p:cNvPr>
          <p:cNvSpPr/>
          <p:nvPr/>
        </p:nvSpPr>
        <p:spPr>
          <a:xfrm>
            <a:off x="297426" y="1447800"/>
            <a:ext cx="8458200" cy="4824398"/>
          </a:xfrm>
          <a:prstGeom prst="rect">
            <a:avLst/>
          </a:prstGeom>
        </p:spPr>
        <p:txBody>
          <a:bodyPr wrap="square">
            <a:spAutoFit/>
          </a:bodyPr>
          <a:lstStyle/>
          <a:p>
            <a:pPr algn="just"/>
            <a:r>
              <a:rPr lang="en-US" sz="2800" dirty="0">
                <a:latin typeface="+mj-lt"/>
                <a:cs typeface="Arial" panose="020B0604020202020204" pitchFamily="34" charset="0"/>
              </a:rPr>
              <a:t>Greedy Method</a:t>
            </a:r>
          </a:p>
          <a:p>
            <a:pPr marL="457200" indent="-457200" algn="just">
              <a:buFont typeface="Arial" panose="020B0604020202020204" pitchFamily="34" charset="0"/>
              <a:buChar char="•"/>
            </a:pPr>
            <a:r>
              <a:rPr lang="en-US" sz="2800" dirty="0">
                <a:latin typeface="+mj-lt"/>
                <a:cs typeface="Arial" panose="020B0604020202020204" pitchFamily="34" charset="0"/>
              </a:rPr>
              <a:t>Design Principles and Strategy</a:t>
            </a:r>
          </a:p>
          <a:p>
            <a:pPr marL="457200" indent="-457200" algn="just">
              <a:buFont typeface="Arial" panose="020B0604020202020204" pitchFamily="34" charset="0"/>
              <a:buChar char="•"/>
            </a:pPr>
            <a:r>
              <a:rPr lang="en-US" sz="2800" dirty="0">
                <a:latin typeface="+mj-lt"/>
                <a:cs typeface="Arial" panose="020B0604020202020204" pitchFamily="34" charset="0"/>
              </a:rPr>
              <a:t>Fractional Knapsack problem</a:t>
            </a:r>
          </a:p>
          <a:p>
            <a:pPr marL="457200" indent="-457200" algn="just">
              <a:buFont typeface="Arial" panose="020B0604020202020204" pitchFamily="34" charset="0"/>
              <a:buChar char="•"/>
            </a:pPr>
            <a:r>
              <a:rPr lang="en-US" sz="2800" dirty="0">
                <a:latin typeface="+mj-lt"/>
                <a:cs typeface="Arial" panose="020B0604020202020204" pitchFamily="34" charset="0"/>
              </a:rPr>
              <a:t>Minimum Spanning Tree – Kruskal</a:t>
            </a:r>
          </a:p>
          <a:p>
            <a:pPr marL="457200" indent="-457200" algn="just">
              <a:buFont typeface="Arial" panose="020B0604020202020204" pitchFamily="34" charset="0"/>
              <a:buChar char="•"/>
            </a:pPr>
            <a:r>
              <a:rPr lang="en-US" sz="2800" dirty="0">
                <a:latin typeface="+mj-lt"/>
                <a:cs typeface="Arial" panose="020B0604020202020204" pitchFamily="34" charset="0"/>
              </a:rPr>
              <a:t>Minimum Spanning Tree – Prims</a:t>
            </a:r>
          </a:p>
          <a:p>
            <a:pPr marL="457200" indent="-457200" algn="just">
              <a:buFont typeface="Arial" panose="020B0604020202020204" pitchFamily="34" charset="0"/>
              <a:buChar char="•"/>
            </a:pPr>
            <a:endParaRPr lang="en-US" sz="2800" dirty="0">
              <a:latin typeface="+mj-lt"/>
              <a:cs typeface="Arial" panose="020B0604020202020204" pitchFamily="34" charset="0"/>
            </a:endParaRPr>
          </a:p>
          <a:p>
            <a:pPr marL="355600" indent="-342900">
              <a:lnSpc>
                <a:spcPct val="100000"/>
              </a:lnSpc>
              <a:spcBef>
                <a:spcPts val="105"/>
              </a:spcBef>
              <a:buClr>
                <a:srgbClr val="0F1141"/>
              </a:buClr>
              <a:buFont typeface="Wingdings"/>
              <a:buChar char=""/>
              <a:tabLst>
                <a:tab pos="355600" algn="l"/>
              </a:tabLst>
            </a:pPr>
            <a:r>
              <a:rPr lang="en-US" sz="2900" dirty="0">
                <a:latin typeface="Times New Roman"/>
                <a:cs typeface="Times New Roman"/>
              </a:rPr>
              <a:t>Introduction</a:t>
            </a:r>
            <a:r>
              <a:rPr lang="en-US" sz="2900" spc="-65" dirty="0">
                <a:latin typeface="Times New Roman"/>
                <a:cs typeface="Times New Roman"/>
              </a:rPr>
              <a:t> </a:t>
            </a:r>
            <a:r>
              <a:rPr lang="en-US" sz="2900" dirty="0">
                <a:latin typeface="Times New Roman"/>
                <a:cs typeface="Times New Roman"/>
              </a:rPr>
              <a:t>to</a:t>
            </a:r>
            <a:r>
              <a:rPr lang="en-US" sz="2900" spc="-15" dirty="0">
                <a:latin typeface="Times New Roman"/>
                <a:cs typeface="Times New Roman"/>
              </a:rPr>
              <a:t> </a:t>
            </a:r>
            <a:r>
              <a:rPr lang="en-US" sz="2900" dirty="0">
                <a:latin typeface="Times New Roman"/>
                <a:cs typeface="Times New Roman"/>
              </a:rPr>
              <a:t>Greedy</a:t>
            </a:r>
            <a:r>
              <a:rPr lang="en-US" sz="2900" spc="-15" dirty="0">
                <a:latin typeface="Times New Roman"/>
                <a:cs typeface="Times New Roman"/>
              </a:rPr>
              <a:t> </a:t>
            </a:r>
            <a:r>
              <a:rPr lang="en-US" sz="2900" spc="-10" dirty="0">
                <a:latin typeface="Times New Roman"/>
                <a:cs typeface="Times New Roman"/>
              </a:rPr>
              <a:t>algorithms!</a:t>
            </a:r>
            <a:endParaRPr lang="en-US" sz="2900" dirty="0">
              <a:latin typeface="Times New Roman"/>
              <a:cs typeface="Times New Roman"/>
            </a:endParaRPr>
          </a:p>
          <a:p>
            <a:pPr marL="756285" lvl="1" indent="-287020">
              <a:lnSpc>
                <a:spcPct val="100000"/>
              </a:lnSpc>
              <a:spcBef>
                <a:spcPts val="30"/>
              </a:spcBef>
              <a:buFont typeface="Wingdings"/>
              <a:buChar char=""/>
              <a:tabLst>
                <a:tab pos="756920" algn="l"/>
              </a:tabLst>
            </a:pPr>
            <a:r>
              <a:rPr lang="en-US" sz="2200" dirty="0">
                <a:latin typeface="Times New Roman"/>
                <a:cs typeface="Times New Roman"/>
              </a:rPr>
              <a:t>What</a:t>
            </a:r>
            <a:r>
              <a:rPr lang="en-US" sz="2200" spc="-60" dirty="0">
                <a:latin typeface="Times New Roman"/>
                <a:cs typeface="Times New Roman"/>
              </a:rPr>
              <a:t> </a:t>
            </a:r>
            <a:r>
              <a:rPr lang="en-US" sz="2200" dirty="0">
                <a:latin typeface="Times New Roman"/>
                <a:cs typeface="Times New Roman"/>
              </a:rPr>
              <a:t>is</a:t>
            </a:r>
            <a:r>
              <a:rPr lang="en-US" sz="2200" spc="-60" dirty="0">
                <a:latin typeface="Times New Roman"/>
                <a:cs typeface="Times New Roman"/>
              </a:rPr>
              <a:t> </a:t>
            </a:r>
            <a:r>
              <a:rPr lang="en-US" sz="2200" dirty="0">
                <a:latin typeface="Times New Roman"/>
                <a:cs typeface="Times New Roman"/>
              </a:rPr>
              <a:t>Greedy</a:t>
            </a:r>
            <a:r>
              <a:rPr lang="en-US" sz="2200" spc="-35" dirty="0">
                <a:latin typeface="Times New Roman"/>
                <a:cs typeface="Times New Roman"/>
              </a:rPr>
              <a:t> </a:t>
            </a:r>
            <a:r>
              <a:rPr lang="en-US" sz="2200" dirty="0">
                <a:latin typeface="Times New Roman"/>
                <a:cs typeface="Times New Roman"/>
              </a:rPr>
              <a:t>technique</a:t>
            </a:r>
            <a:r>
              <a:rPr lang="en-US" sz="2200" spc="-60" dirty="0">
                <a:latin typeface="Times New Roman"/>
                <a:cs typeface="Times New Roman"/>
              </a:rPr>
              <a:t> </a:t>
            </a:r>
            <a:r>
              <a:rPr lang="en-US" sz="2200" spc="-50" dirty="0">
                <a:latin typeface="Times New Roman"/>
                <a:cs typeface="Times New Roman"/>
              </a:rPr>
              <a:t>?</a:t>
            </a:r>
            <a:endParaRPr lang="en-US" sz="2200" dirty="0">
              <a:latin typeface="Times New Roman"/>
              <a:cs typeface="Times New Roman"/>
            </a:endParaRPr>
          </a:p>
          <a:p>
            <a:pPr marL="756285" lvl="1" indent="-287020">
              <a:lnSpc>
                <a:spcPct val="100000"/>
              </a:lnSpc>
              <a:buFont typeface="Wingdings"/>
              <a:buChar char=""/>
              <a:tabLst>
                <a:tab pos="756920" algn="l"/>
              </a:tabLst>
            </a:pPr>
            <a:r>
              <a:rPr lang="en-US" sz="2200" dirty="0">
                <a:latin typeface="Times New Roman"/>
                <a:cs typeface="Times New Roman"/>
              </a:rPr>
              <a:t>Fractional</a:t>
            </a:r>
            <a:r>
              <a:rPr lang="en-US" sz="2200" spc="-80" dirty="0">
                <a:latin typeface="Times New Roman"/>
                <a:cs typeface="Times New Roman"/>
              </a:rPr>
              <a:t> </a:t>
            </a:r>
            <a:r>
              <a:rPr lang="en-US" sz="2200" dirty="0">
                <a:latin typeface="Times New Roman"/>
                <a:cs typeface="Times New Roman"/>
              </a:rPr>
              <a:t>Knapsack</a:t>
            </a:r>
            <a:r>
              <a:rPr lang="en-US" sz="2200" spc="-100" dirty="0">
                <a:latin typeface="Times New Roman"/>
                <a:cs typeface="Times New Roman"/>
              </a:rPr>
              <a:t> </a:t>
            </a:r>
            <a:r>
              <a:rPr lang="en-US" sz="2200" spc="-10" dirty="0">
                <a:latin typeface="Times New Roman"/>
                <a:cs typeface="Times New Roman"/>
              </a:rPr>
              <a:t>problem</a:t>
            </a:r>
            <a:endParaRPr lang="en-US" sz="2200" dirty="0">
              <a:latin typeface="Times New Roman"/>
              <a:cs typeface="Times New Roman"/>
            </a:endParaRPr>
          </a:p>
          <a:p>
            <a:pPr marL="756285" lvl="1" indent="-287020">
              <a:lnSpc>
                <a:spcPct val="100000"/>
              </a:lnSpc>
              <a:buFont typeface="Wingdings"/>
              <a:buChar char=""/>
              <a:tabLst>
                <a:tab pos="756920" algn="l"/>
              </a:tabLst>
            </a:pPr>
            <a:r>
              <a:rPr lang="en-US" sz="2200" dirty="0">
                <a:latin typeface="Times New Roman"/>
                <a:cs typeface="Times New Roman"/>
              </a:rPr>
              <a:t>Job</a:t>
            </a:r>
            <a:r>
              <a:rPr lang="en-US" sz="2200" spc="-70" dirty="0">
                <a:latin typeface="Times New Roman"/>
                <a:cs typeface="Times New Roman"/>
              </a:rPr>
              <a:t> </a:t>
            </a:r>
            <a:r>
              <a:rPr lang="en-US" sz="2200" dirty="0">
                <a:latin typeface="Times New Roman"/>
                <a:cs typeface="Times New Roman"/>
              </a:rPr>
              <a:t>Sequencing</a:t>
            </a:r>
            <a:r>
              <a:rPr lang="en-US" sz="2200" spc="-70" dirty="0">
                <a:latin typeface="Times New Roman"/>
                <a:cs typeface="Times New Roman"/>
              </a:rPr>
              <a:t> </a:t>
            </a:r>
            <a:r>
              <a:rPr lang="en-US" sz="2200" spc="-10" dirty="0">
                <a:latin typeface="Times New Roman"/>
                <a:cs typeface="Times New Roman"/>
              </a:rPr>
              <a:t>problem</a:t>
            </a:r>
            <a:endParaRPr lang="en-US" sz="2200" dirty="0">
              <a:latin typeface="Times New Roman"/>
              <a:cs typeface="Times New Roman"/>
            </a:endParaRPr>
          </a:p>
          <a:p>
            <a:pPr marL="756285" lvl="1" indent="-287020">
              <a:lnSpc>
                <a:spcPct val="100000"/>
              </a:lnSpc>
              <a:buFont typeface="Wingdings"/>
              <a:buChar char=""/>
              <a:tabLst>
                <a:tab pos="756920" algn="l"/>
              </a:tabLst>
            </a:pPr>
            <a:r>
              <a:rPr lang="en-US" sz="2200" dirty="0">
                <a:latin typeface="Times New Roman"/>
                <a:cs typeface="Times New Roman"/>
              </a:rPr>
              <a:t>Scheduling</a:t>
            </a:r>
            <a:r>
              <a:rPr lang="en-US" sz="2200" spc="-100" dirty="0">
                <a:latin typeface="Times New Roman"/>
                <a:cs typeface="Times New Roman"/>
              </a:rPr>
              <a:t> </a:t>
            </a:r>
            <a:r>
              <a:rPr lang="en-US" sz="2200" spc="-10" dirty="0">
                <a:latin typeface="Times New Roman"/>
                <a:cs typeface="Times New Roman"/>
              </a:rPr>
              <a:t>problem</a:t>
            </a:r>
            <a:endParaRPr lang="en-US" sz="2200" dirty="0">
              <a:latin typeface="Times New Roman"/>
              <a:cs typeface="Times New Roman"/>
            </a:endParaRPr>
          </a:p>
          <a:p>
            <a:pPr marL="756285" lvl="1" indent="-287020">
              <a:lnSpc>
                <a:spcPts val="2635"/>
              </a:lnSpc>
              <a:buFont typeface="Wingdings"/>
              <a:buChar char=""/>
              <a:tabLst>
                <a:tab pos="756920" algn="l"/>
              </a:tabLst>
            </a:pPr>
            <a:r>
              <a:rPr lang="en-US" sz="2200" spc="-10" dirty="0">
                <a:latin typeface="Times New Roman"/>
                <a:cs typeface="Times New Roman"/>
              </a:rPr>
              <a:t>Others</a:t>
            </a:r>
            <a:endParaRPr lang="en-US" sz="2800" dirty="0">
              <a:latin typeface="+mj-lt"/>
              <a:cs typeface="Arial" panose="020B0604020202020204" pitchFamily="34" charset="0"/>
            </a:endParaRPr>
          </a:p>
        </p:txBody>
      </p:sp>
    </p:spTree>
    <p:extLst>
      <p:ext uri="{BB962C8B-B14F-4D97-AF65-F5344CB8AC3E}">
        <p14:creationId xmlns:p14="http://schemas.microsoft.com/office/powerpoint/2010/main" val="27970693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43101"/>
            <a:ext cx="4998085" cy="4415790"/>
          </a:xfrm>
          <a:prstGeom prst="rect">
            <a:avLst/>
          </a:prstGeom>
        </p:spPr>
        <p:txBody>
          <a:bodyPr vert="horz" wrap="square" lIns="0" tIns="85725" rIns="0" bIns="0" rtlCol="0">
            <a:spAutoFit/>
          </a:bodyPr>
          <a:lstStyle/>
          <a:p>
            <a:pPr marL="12700">
              <a:lnSpc>
                <a:spcPct val="100000"/>
              </a:lnSpc>
              <a:spcBef>
                <a:spcPts val="675"/>
              </a:spcBef>
            </a:pPr>
            <a:r>
              <a:rPr sz="2400" dirty="0">
                <a:latin typeface="Times New Roman"/>
                <a:cs typeface="Times New Roman"/>
              </a:rPr>
              <a:t>There</a:t>
            </a:r>
            <a:r>
              <a:rPr sz="2400" spc="-15" dirty="0">
                <a:latin typeface="Times New Roman"/>
                <a:cs typeface="Times New Roman"/>
              </a:rPr>
              <a:t> </a:t>
            </a:r>
            <a:r>
              <a:rPr sz="2400" dirty="0">
                <a:latin typeface="Times New Roman"/>
                <a:cs typeface="Times New Roman"/>
              </a:rPr>
              <a:t>are</a:t>
            </a:r>
            <a:r>
              <a:rPr sz="2400" spc="-20" dirty="0">
                <a:latin typeface="Times New Roman"/>
                <a:cs typeface="Times New Roman"/>
              </a:rPr>
              <a:t> </a:t>
            </a:r>
            <a:r>
              <a:rPr sz="2400" dirty="0">
                <a:latin typeface="Times New Roman"/>
                <a:cs typeface="Times New Roman"/>
              </a:rPr>
              <a:t>a lot</a:t>
            </a:r>
            <a:r>
              <a:rPr sz="2400" spc="-15" dirty="0">
                <a:latin typeface="Times New Roman"/>
                <a:cs typeface="Times New Roman"/>
              </a:rPr>
              <a:t> </a:t>
            </a:r>
            <a:r>
              <a:rPr sz="2400" dirty="0">
                <a:latin typeface="Times New Roman"/>
                <a:cs typeface="Times New Roman"/>
              </a:rPr>
              <a:t>of algorithmic</a:t>
            </a:r>
            <a:r>
              <a:rPr sz="2400" spc="-30" dirty="0">
                <a:latin typeface="Times New Roman"/>
                <a:cs typeface="Times New Roman"/>
              </a:rPr>
              <a:t> </a:t>
            </a:r>
            <a:r>
              <a:rPr sz="2400" dirty="0">
                <a:latin typeface="Times New Roman"/>
                <a:cs typeface="Times New Roman"/>
              </a:rPr>
              <a:t>types</a:t>
            </a:r>
            <a:r>
              <a:rPr sz="2400" spc="-5" dirty="0">
                <a:latin typeface="Times New Roman"/>
                <a:cs typeface="Times New Roman"/>
              </a:rPr>
              <a:t> </a:t>
            </a:r>
            <a:r>
              <a:rPr sz="2400" spc="-50" dirty="0">
                <a:latin typeface="Times New Roman"/>
                <a:cs typeface="Times New Roman"/>
              </a:rPr>
              <a:t>:</a:t>
            </a:r>
            <a:endParaRPr sz="2400">
              <a:latin typeface="Times New Roman"/>
              <a:cs typeface="Times New Roman"/>
            </a:endParaRPr>
          </a:p>
          <a:p>
            <a:pPr marL="756285" indent="-287020">
              <a:lnSpc>
                <a:spcPct val="100000"/>
              </a:lnSpc>
              <a:spcBef>
                <a:spcPts val="580"/>
              </a:spcBef>
              <a:buFont typeface="Arial MT"/>
              <a:buChar char="–"/>
              <a:tabLst>
                <a:tab pos="756920" algn="l"/>
              </a:tabLst>
            </a:pPr>
            <a:r>
              <a:rPr sz="2400" dirty="0">
                <a:latin typeface="Times New Roman"/>
                <a:cs typeface="Times New Roman"/>
              </a:rPr>
              <a:t>Brute</a:t>
            </a:r>
            <a:r>
              <a:rPr sz="2400" spc="-10" dirty="0">
                <a:latin typeface="Times New Roman"/>
                <a:cs typeface="Times New Roman"/>
              </a:rPr>
              <a:t> </a:t>
            </a:r>
            <a:r>
              <a:rPr sz="2400" dirty="0">
                <a:latin typeface="Times New Roman"/>
                <a:cs typeface="Times New Roman"/>
              </a:rPr>
              <a:t>force</a:t>
            </a:r>
            <a:r>
              <a:rPr sz="2400" spc="-15"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dirty="0">
                <a:latin typeface="Times New Roman"/>
                <a:cs typeface="Times New Roman"/>
              </a:rPr>
              <a:t>Simple</a:t>
            </a:r>
            <a:r>
              <a:rPr sz="2400" spc="-20" dirty="0">
                <a:latin typeface="Times New Roman"/>
                <a:cs typeface="Times New Roman"/>
              </a:rPr>
              <a:t> </a:t>
            </a:r>
            <a:r>
              <a:rPr sz="2400" dirty="0">
                <a:latin typeface="Times New Roman"/>
                <a:cs typeface="Times New Roman"/>
              </a:rPr>
              <a:t>recursive</a:t>
            </a:r>
            <a:r>
              <a:rPr sz="2400" spc="-30"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b="1" dirty="0">
                <a:solidFill>
                  <a:srgbClr val="C00000"/>
                </a:solidFill>
                <a:latin typeface="Times New Roman"/>
                <a:cs typeface="Times New Roman"/>
              </a:rPr>
              <a:t>Greedy</a:t>
            </a:r>
            <a:r>
              <a:rPr sz="2400" b="1" spc="-55" dirty="0">
                <a:solidFill>
                  <a:srgbClr val="C00000"/>
                </a:solidFill>
                <a:latin typeface="Times New Roman"/>
                <a:cs typeface="Times New Roman"/>
              </a:rPr>
              <a:t> </a:t>
            </a:r>
            <a:r>
              <a:rPr sz="2400" b="1" spc="-10" dirty="0">
                <a:solidFill>
                  <a:srgbClr val="C00000"/>
                </a:solidFill>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dirty="0">
                <a:latin typeface="Times New Roman"/>
                <a:cs typeface="Times New Roman"/>
              </a:rPr>
              <a:t>Divide</a:t>
            </a:r>
            <a:r>
              <a:rPr sz="2400" spc="-2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conquer</a:t>
            </a:r>
            <a:r>
              <a:rPr sz="2400" spc="-10" dirty="0">
                <a:latin typeface="Times New Roman"/>
                <a:cs typeface="Times New Roman"/>
              </a:rPr>
              <a:t> algorithms</a:t>
            </a:r>
            <a:endParaRPr sz="2400">
              <a:latin typeface="Times New Roman"/>
              <a:cs typeface="Times New Roman"/>
            </a:endParaRPr>
          </a:p>
          <a:p>
            <a:pPr marL="756285" indent="-287020">
              <a:lnSpc>
                <a:spcPct val="100000"/>
              </a:lnSpc>
              <a:spcBef>
                <a:spcPts val="580"/>
              </a:spcBef>
              <a:buFont typeface="Arial MT"/>
              <a:buChar char="–"/>
              <a:tabLst>
                <a:tab pos="756920" algn="l"/>
              </a:tabLst>
            </a:pPr>
            <a:r>
              <a:rPr sz="2400" dirty="0">
                <a:latin typeface="Times New Roman"/>
                <a:cs typeface="Times New Roman"/>
              </a:rPr>
              <a:t>Dynamic</a:t>
            </a:r>
            <a:r>
              <a:rPr sz="2400" spc="-40" dirty="0">
                <a:latin typeface="Times New Roman"/>
                <a:cs typeface="Times New Roman"/>
              </a:rPr>
              <a:t> </a:t>
            </a:r>
            <a:r>
              <a:rPr sz="2400" dirty="0">
                <a:latin typeface="Times New Roman"/>
                <a:cs typeface="Times New Roman"/>
              </a:rPr>
              <a:t>programming</a:t>
            </a:r>
            <a:r>
              <a:rPr sz="2400" spc="-20"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dirty="0">
                <a:latin typeface="Times New Roman"/>
                <a:cs typeface="Times New Roman"/>
              </a:rPr>
              <a:t>Backtracking</a:t>
            </a:r>
            <a:r>
              <a:rPr sz="2400" spc="-30"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80"/>
              </a:spcBef>
              <a:buFont typeface="Arial MT"/>
              <a:buChar char="–"/>
              <a:tabLst>
                <a:tab pos="756920" algn="l"/>
              </a:tabLst>
            </a:pPr>
            <a:r>
              <a:rPr sz="2400" dirty="0">
                <a:latin typeface="Times New Roman"/>
                <a:cs typeface="Times New Roman"/>
              </a:rPr>
              <a:t>Branch</a:t>
            </a:r>
            <a:r>
              <a:rPr sz="2400" spc="-10" dirty="0">
                <a:latin typeface="Times New Roman"/>
                <a:cs typeface="Times New Roman"/>
              </a:rPr>
              <a:t> </a:t>
            </a:r>
            <a:r>
              <a:rPr sz="2400" dirty="0">
                <a:latin typeface="Times New Roman"/>
                <a:cs typeface="Times New Roman"/>
              </a:rPr>
              <a:t>and bound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dirty="0">
                <a:latin typeface="Times New Roman"/>
                <a:cs typeface="Times New Roman"/>
              </a:rPr>
              <a:t>Randomized</a:t>
            </a:r>
            <a:r>
              <a:rPr sz="2400" spc="-35"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a:p>
            <a:pPr marL="756285" indent="-287020">
              <a:lnSpc>
                <a:spcPct val="100000"/>
              </a:lnSpc>
              <a:spcBef>
                <a:spcPts val="575"/>
              </a:spcBef>
              <a:buFont typeface="Arial MT"/>
              <a:buChar char="–"/>
              <a:tabLst>
                <a:tab pos="756920" algn="l"/>
              </a:tabLst>
            </a:pPr>
            <a:r>
              <a:rPr sz="2400" dirty="0">
                <a:latin typeface="Times New Roman"/>
                <a:cs typeface="Times New Roman"/>
              </a:rPr>
              <a:t>Approximation</a:t>
            </a:r>
            <a:r>
              <a:rPr sz="2400" spc="-25" dirty="0">
                <a:latin typeface="Times New Roman"/>
                <a:cs typeface="Times New Roman"/>
              </a:rPr>
              <a:t> </a:t>
            </a:r>
            <a:r>
              <a:rPr sz="2400" spc="-10" dirty="0">
                <a:latin typeface="Times New Roman"/>
                <a:cs typeface="Times New Roman"/>
              </a:rPr>
              <a:t>algorithms</a:t>
            </a:r>
            <a:endParaRPr sz="2400">
              <a:latin typeface="Times New Roman"/>
              <a:cs typeface="Times New Roman"/>
            </a:endParaRPr>
          </a:p>
        </p:txBody>
      </p:sp>
      <p:sp>
        <p:nvSpPr>
          <p:cNvPr id="7" name="Content Placeholder 6">
            <a:extLst>
              <a:ext uri="{FF2B5EF4-FFF2-40B4-BE49-F238E27FC236}">
                <a16:creationId xmlns:a16="http://schemas.microsoft.com/office/drawing/2014/main" id="{A2B762D8-B5C1-D30A-7468-4CBE52EFE6B2}"/>
              </a:ext>
            </a:extLst>
          </p:cNvPr>
          <p:cNvSpPr>
            <a:spLocks noGrp="1"/>
          </p:cNvSpPr>
          <p:nvPr>
            <p:ph sz="quarter" idx="10"/>
          </p:nvPr>
        </p:nvSpPr>
        <p:spPr>
          <a:xfrm>
            <a:off x="228600" y="131826"/>
            <a:ext cx="6324600" cy="1143000"/>
          </a:xfrm>
        </p:spPr>
        <p:txBody>
          <a:bodyPr/>
          <a:lstStyle/>
          <a:p>
            <a:r>
              <a:rPr lang="en-IN" spc="-140" dirty="0"/>
              <a:t>Greedy</a:t>
            </a:r>
            <a:r>
              <a:rPr lang="en-IN" spc="-375" dirty="0"/>
              <a:t> </a:t>
            </a:r>
            <a:r>
              <a:rPr lang="en-IN" spc="-140" dirty="0"/>
              <a:t>Algorithms</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516507"/>
            <a:ext cx="7997190" cy="4473019"/>
          </a:xfrm>
          <a:prstGeom prst="rect">
            <a:avLst/>
          </a:prstGeom>
        </p:spPr>
        <p:txBody>
          <a:bodyPr vert="horz" wrap="square" lIns="0" tIns="12700" rIns="0" bIns="0" rtlCol="0">
            <a:spAutoFit/>
          </a:bodyPr>
          <a:lstStyle/>
          <a:p>
            <a:pPr marL="355600" marR="5080" indent="-342900">
              <a:lnSpc>
                <a:spcPct val="100000"/>
              </a:lnSpc>
              <a:spcBef>
                <a:spcPts val="100"/>
              </a:spcBef>
              <a:buClr>
                <a:srgbClr val="0F1141"/>
              </a:buClr>
              <a:buFont typeface="Wingdings"/>
              <a:buChar char=""/>
              <a:tabLst>
                <a:tab pos="355600" algn="l"/>
              </a:tabLst>
            </a:pPr>
            <a:r>
              <a:rPr sz="2400" dirty="0">
                <a:latin typeface="Times New Roman"/>
                <a:cs typeface="Times New Roman"/>
              </a:rPr>
              <a:t>An</a:t>
            </a:r>
            <a:r>
              <a:rPr sz="2400" spc="-5" dirty="0">
                <a:latin typeface="Times New Roman"/>
                <a:cs typeface="Times New Roman"/>
              </a:rPr>
              <a:t> </a:t>
            </a:r>
            <a:r>
              <a:rPr sz="2400" dirty="0">
                <a:solidFill>
                  <a:srgbClr val="1F487C"/>
                </a:solidFill>
                <a:latin typeface="Times New Roman"/>
                <a:cs typeface="Times New Roman"/>
              </a:rPr>
              <a:t>optimization</a:t>
            </a:r>
            <a:r>
              <a:rPr sz="2400" spc="-45" dirty="0">
                <a:solidFill>
                  <a:srgbClr val="1F487C"/>
                </a:solidFill>
                <a:latin typeface="Times New Roman"/>
                <a:cs typeface="Times New Roman"/>
              </a:rPr>
              <a:t> </a:t>
            </a:r>
            <a:r>
              <a:rPr sz="2400" dirty="0">
                <a:solidFill>
                  <a:srgbClr val="1F487C"/>
                </a:solidFill>
                <a:latin typeface="Times New Roman"/>
                <a:cs typeface="Times New Roman"/>
              </a:rPr>
              <a:t>problem</a:t>
            </a:r>
            <a:r>
              <a:rPr sz="2400" spc="-15" dirty="0">
                <a:solidFill>
                  <a:srgbClr val="1F487C"/>
                </a:solidFill>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one</a:t>
            </a:r>
            <a:r>
              <a:rPr sz="2400" spc="-5"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dirty="0">
                <a:latin typeface="Times New Roman"/>
                <a:cs typeface="Times New Roman"/>
              </a:rPr>
              <a:t>which</a:t>
            </a:r>
            <a:r>
              <a:rPr sz="2400" spc="-15" dirty="0">
                <a:latin typeface="Times New Roman"/>
                <a:cs typeface="Times New Roman"/>
              </a:rPr>
              <a:t> </a:t>
            </a:r>
            <a:r>
              <a:rPr sz="2400" dirty="0">
                <a:latin typeface="Times New Roman"/>
                <a:cs typeface="Times New Roman"/>
              </a:rPr>
              <a:t>you</a:t>
            </a:r>
            <a:r>
              <a:rPr sz="2400" spc="-5" dirty="0">
                <a:latin typeface="Times New Roman"/>
                <a:cs typeface="Times New Roman"/>
              </a:rPr>
              <a:t> </a:t>
            </a:r>
            <a:r>
              <a:rPr sz="2400" dirty="0">
                <a:latin typeface="Times New Roman"/>
                <a:cs typeface="Times New Roman"/>
              </a:rPr>
              <a:t>want</a:t>
            </a:r>
            <a:r>
              <a:rPr sz="2400" spc="-5"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find,</a:t>
            </a:r>
            <a:r>
              <a:rPr sz="2400" spc="-10" dirty="0">
                <a:latin typeface="Times New Roman"/>
                <a:cs typeface="Times New Roman"/>
              </a:rPr>
              <a:t> </a:t>
            </a:r>
            <a:r>
              <a:rPr sz="2400" spc="-25" dirty="0">
                <a:latin typeface="Times New Roman"/>
                <a:cs typeface="Times New Roman"/>
              </a:rPr>
              <a:t>not </a:t>
            </a:r>
            <a:r>
              <a:rPr sz="2400" dirty="0">
                <a:latin typeface="Times New Roman"/>
                <a:cs typeface="Times New Roman"/>
              </a:rPr>
              <a:t>just</a:t>
            </a:r>
            <a:r>
              <a:rPr sz="2400" spc="-5" dirty="0">
                <a:latin typeface="Times New Roman"/>
                <a:cs typeface="Times New Roman"/>
              </a:rPr>
              <a:t> </a:t>
            </a:r>
            <a:r>
              <a:rPr sz="2400" i="1" dirty="0">
                <a:latin typeface="Times New Roman"/>
                <a:cs typeface="Times New Roman"/>
              </a:rPr>
              <a:t>a</a:t>
            </a:r>
            <a:r>
              <a:rPr sz="2400" i="1" spc="-5" dirty="0">
                <a:latin typeface="Times New Roman"/>
                <a:cs typeface="Times New Roman"/>
              </a:rPr>
              <a:t> </a:t>
            </a:r>
            <a:r>
              <a:rPr sz="2400" dirty="0">
                <a:latin typeface="Times New Roman"/>
                <a:cs typeface="Times New Roman"/>
              </a:rPr>
              <a:t>solution,</a:t>
            </a:r>
            <a:r>
              <a:rPr sz="2400" spc="-35" dirty="0">
                <a:latin typeface="Times New Roman"/>
                <a:cs typeface="Times New Roman"/>
              </a:rPr>
              <a:t> </a:t>
            </a:r>
            <a:r>
              <a:rPr sz="2400" dirty="0">
                <a:latin typeface="Times New Roman"/>
                <a:cs typeface="Times New Roman"/>
              </a:rPr>
              <a:t>but the</a:t>
            </a:r>
            <a:r>
              <a:rPr sz="2400" spc="-15" dirty="0">
                <a:latin typeface="Times New Roman"/>
                <a:cs typeface="Times New Roman"/>
              </a:rPr>
              <a:t> </a:t>
            </a:r>
            <a:r>
              <a:rPr sz="2400" i="1" dirty="0">
                <a:latin typeface="Times New Roman"/>
                <a:cs typeface="Times New Roman"/>
              </a:rPr>
              <a:t>best</a:t>
            </a:r>
            <a:r>
              <a:rPr sz="2400" i="1" spc="-10" dirty="0">
                <a:latin typeface="Times New Roman"/>
                <a:cs typeface="Times New Roman"/>
              </a:rPr>
              <a:t> </a:t>
            </a:r>
            <a:r>
              <a:rPr sz="2400" dirty="0">
                <a:latin typeface="Times New Roman"/>
                <a:cs typeface="Times New Roman"/>
              </a:rPr>
              <a:t>solution</a:t>
            </a:r>
            <a:r>
              <a:rPr sz="2400" spc="-20" dirty="0">
                <a:latin typeface="Times New Roman"/>
                <a:cs typeface="Times New Roman"/>
              </a:rPr>
              <a:t> </a:t>
            </a:r>
            <a:r>
              <a:rPr sz="2400" spc="-50" dirty="0">
                <a:latin typeface="Wingdings"/>
                <a:cs typeface="Wingdings"/>
              </a:rPr>
              <a:t></a:t>
            </a:r>
            <a:endParaRPr lang="en-US" sz="2400" spc="-50" dirty="0">
              <a:latin typeface="Wingdings"/>
              <a:cs typeface="Wingdings"/>
            </a:endParaRPr>
          </a:p>
          <a:p>
            <a:pPr marL="355600" marR="5080" indent="-342900">
              <a:lnSpc>
                <a:spcPct val="100000"/>
              </a:lnSpc>
              <a:spcBef>
                <a:spcPts val="100"/>
              </a:spcBef>
              <a:buClr>
                <a:srgbClr val="0F1141"/>
              </a:buClr>
              <a:buFont typeface="Wingdings"/>
              <a:buChar char=""/>
              <a:tabLst>
                <a:tab pos="355600" algn="l"/>
              </a:tabLst>
            </a:pPr>
            <a:endParaRPr sz="2400" dirty="0">
              <a:latin typeface="Wingdings"/>
              <a:cs typeface="Wingdings"/>
            </a:endParaRPr>
          </a:p>
          <a:p>
            <a:pPr marL="355600" marR="146685" indent="-342900">
              <a:lnSpc>
                <a:spcPct val="100000"/>
              </a:lnSpc>
              <a:spcBef>
                <a:spcPts val="575"/>
              </a:spcBef>
              <a:buClr>
                <a:srgbClr val="0F1141"/>
              </a:buClr>
              <a:buFont typeface="Wingdings"/>
              <a:buChar char=""/>
              <a:tabLst>
                <a:tab pos="355600" algn="l"/>
              </a:tabLst>
            </a:pPr>
            <a:r>
              <a:rPr sz="2400" dirty="0">
                <a:latin typeface="Times New Roman"/>
                <a:cs typeface="Times New Roman"/>
              </a:rPr>
              <a:t>A</a:t>
            </a:r>
            <a:r>
              <a:rPr sz="2400" spc="-150" dirty="0">
                <a:latin typeface="Times New Roman"/>
                <a:cs typeface="Times New Roman"/>
              </a:rPr>
              <a:t> </a:t>
            </a:r>
            <a:r>
              <a:rPr sz="2400" dirty="0">
                <a:latin typeface="Times New Roman"/>
                <a:cs typeface="Times New Roman"/>
              </a:rPr>
              <a:t>“greedy</a:t>
            </a:r>
            <a:r>
              <a:rPr sz="2400" spc="-25" dirty="0">
                <a:latin typeface="Times New Roman"/>
                <a:cs typeface="Times New Roman"/>
              </a:rPr>
              <a:t> </a:t>
            </a:r>
            <a:r>
              <a:rPr sz="2400" dirty="0">
                <a:latin typeface="Times New Roman"/>
                <a:cs typeface="Times New Roman"/>
              </a:rPr>
              <a:t>algorithm”</a:t>
            </a:r>
            <a:r>
              <a:rPr sz="2400" spc="-35" dirty="0">
                <a:latin typeface="Times New Roman"/>
                <a:cs typeface="Times New Roman"/>
              </a:rPr>
              <a:t> </a:t>
            </a:r>
            <a:r>
              <a:rPr sz="2400" dirty="0">
                <a:latin typeface="Times New Roman"/>
                <a:cs typeface="Times New Roman"/>
              </a:rPr>
              <a:t>sometimes</a:t>
            </a:r>
            <a:r>
              <a:rPr sz="2400" spc="-10" dirty="0">
                <a:latin typeface="Times New Roman"/>
                <a:cs typeface="Times New Roman"/>
              </a:rPr>
              <a:t> </a:t>
            </a:r>
            <a:r>
              <a:rPr sz="2400" dirty="0">
                <a:latin typeface="Times New Roman"/>
                <a:cs typeface="Times New Roman"/>
              </a:rPr>
              <a:t>works</a:t>
            </a:r>
            <a:r>
              <a:rPr sz="2400" spc="-5" dirty="0">
                <a:latin typeface="Times New Roman"/>
                <a:cs typeface="Times New Roman"/>
              </a:rPr>
              <a:t> </a:t>
            </a:r>
            <a:r>
              <a:rPr sz="2400" dirty="0">
                <a:latin typeface="Times New Roman"/>
                <a:cs typeface="Times New Roman"/>
              </a:rPr>
              <a:t>well</a:t>
            </a:r>
            <a:r>
              <a:rPr sz="2400" spc="-20"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spc="-10" dirty="0">
                <a:latin typeface="Times New Roman"/>
                <a:cs typeface="Times New Roman"/>
              </a:rPr>
              <a:t>optimization problems</a:t>
            </a:r>
            <a:endParaRPr lang="en-US" sz="2400" spc="-10" dirty="0">
              <a:latin typeface="Times New Roman"/>
              <a:cs typeface="Times New Roman"/>
            </a:endParaRPr>
          </a:p>
          <a:p>
            <a:pPr marL="355600" marR="146685" indent="-342900">
              <a:lnSpc>
                <a:spcPct val="100000"/>
              </a:lnSpc>
              <a:spcBef>
                <a:spcPts val="575"/>
              </a:spcBef>
              <a:buClr>
                <a:srgbClr val="0F1141"/>
              </a:buClr>
              <a:buFont typeface="Wingdings"/>
              <a:buChar char=""/>
              <a:tabLst>
                <a:tab pos="355600" algn="l"/>
              </a:tabLst>
            </a:pPr>
            <a:endParaRPr sz="2400" dirty="0">
              <a:latin typeface="Times New Roman"/>
              <a:cs typeface="Times New Roman"/>
            </a:endParaRPr>
          </a:p>
          <a:p>
            <a:pPr marL="355600" indent="-342900">
              <a:lnSpc>
                <a:spcPct val="100000"/>
              </a:lnSpc>
              <a:spcBef>
                <a:spcPts val="575"/>
              </a:spcBef>
              <a:buClr>
                <a:srgbClr val="0F1141"/>
              </a:buClr>
              <a:buFont typeface="Wingdings"/>
              <a:buChar char=""/>
              <a:tabLst>
                <a:tab pos="355600" algn="l"/>
              </a:tabLst>
            </a:pPr>
            <a:r>
              <a:rPr sz="2400" dirty="0">
                <a:latin typeface="Times New Roman"/>
                <a:cs typeface="Times New Roman"/>
              </a:rPr>
              <a:t>A</a:t>
            </a:r>
            <a:r>
              <a:rPr sz="2400" spc="-140" dirty="0">
                <a:latin typeface="Times New Roman"/>
                <a:cs typeface="Times New Roman"/>
              </a:rPr>
              <a:t> </a:t>
            </a:r>
            <a:r>
              <a:rPr sz="2400" dirty="0">
                <a:solidFill>
                  <a:srgbClr val="1F487C"/>
                </a:solidFill>
                <a:latin typeface="Times New Roman"/>
                <a:cs typeface="Times New Roman"/>
              </a:rPr>
              <a:t>greedy</a:t>
            </a:r>
            <a:r>
              <a:rPr sz="2400" spc="-35" dirty="0">
                <a:solidFill>
                  <a:srgbClr val="1F487C"/>
                </a:solidFill>
                <a:latin typeface="Times New Roman"/>
                <a:cs typeface="Times New Roman"/>
              </a:rPr>
              <a:t> </a:t>
            </a:r>
            <a:r>
              <a:rPr sz="2400" dirty="0">
                <a:solidFill>
                  <a:srgbClr val="1F487C"/>
                </a:solidFill>
                <a:latin typeface="Times New Roman"/>
                <a:cs typeface="Times New Roman"/>
              </a:rPr>
              <a:t>algorithm</a:t>
            </a:r>
            <a:r>
              <a:rPr sz="2400" spc="-40" dirty="0">
                <a:solidFill>
                  <a:srgbClr val="1F487C"/>
                </a:solidFill>
                <a:latin typeface="Times New Roman"/>
                <a:cs typeface="Times New Roman"/>
              </a:rPr>
              <a:t> </a:t>
            </a:r>
            <a:r>
              <a:rPr sz="2400" dirty="0">
                <a:latin typeface="Times New Roman"/>
                <a:cs typeface="Times New Roman"/>
              </a:rPr>
              <a:t>works</a:t>
            </a:r>
            <a:r>
              <a:rPr sz="2400" spc="-1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dirty="0">
                <a:latin typeface="Times New Roman"/>
                <a:cs typeface="Times New Roman"/>
              </a:rPr>
              <a:t>phases.</a:t>
            </a:r>
            <a:r>
              <a:rPr sz="2400" spc="-140" dirty="0">
                <a:latin typeface="Times New Roman"/>
                <a:cs typeface="Times New Roman"/>
              </a:rPr>
              <a:t> </a:t>
            </a:r>
            <a:r>
              <a:rPr sz="2400" dirty="0">
                <a:latin typeface="Times New Roman"/>
                <a:cs typeface="Times New Roman"/>
              </a:rPr>
              <a:t>At</a:t>
            </a:r>
            <a:r>
              <a:rPr sz="2400" spc="-15" dirty="0">
                <a:latin typeface="Times New Roman"/>
                <a:cs typeface="Times New Roman"/>
              </a:rPr>
              <a:t> </a:t>
            </a:r>
            <a:r>
              <a:rPr sz="2400" dirty="0">
                <a:latin typeface="Times New Roman"/>
                <a:cs typeface="Times New Roman"/>
              </a:rPr>
              <a:t>each</a:t>
            </a:r>
            <a:r>
              <a:rPr sz="2400" spc="-35" dirty="0">
                <a:latin typeface="Times New Roman"/>
                <a:cs typeface="Times New Roman"/>
              </a:rPr>
              <a:t> </a:t>
            </a:r>
            <a:r>
              <a:rPr sz="2400" spc="-10" dirty="0">
                <a:latin typeface="Times New Roman"/>
                <a:cs typeface="Times New Roman"/>
              </a:rPr>
              <a:t>phase:</a:t>
            </a:r>
            <a:endParaRPr sz="2400" dirty="0">
              <a:latin typeface="Times New Roman"/>
              <a:cs typeface="Times New Roman"/>
            </a:endParaRPr>
          </a:p>
          <a:p>
            <a:pPr marL="756285" marR="62230" lvl="1" indent="-287020">
              <a:lnSpc>
                <a:spcPct val="100000"/>
              </a:lnSpc>
              <a:spcBef>
                <a:spcPts val="580"/>
              </a:spcBef>
              <a:buFont typeface="Wingdings"/>
              <a:buChar char=""/>
              <a:tabLst>
                <a:tab pos="756920" algn="l"/>
              </a:tabLst>
            </a:pPr>
            <a:r>
              <a:rPr sz="2400" spc="-55" dirty="0">
                <a:latin typeface="Times New Roman"/>
                <a:cs typeface="Times New Roman"/>
              </a:rPr>
              <a:t>You</a:t>
            </a:r>
            <a:r>
              <a:rPr sz="2400" spc="-15" dirty="0">
                <a:latin typeface="Times New Roman"/>
                <a:cs typeface="Times New Roman"/>
              </a:rPr>
              <a:t> </a:t>
            </a:r>
            <a:r>
              <a:rPr sz="2400" dirty="0">
                <a:latin typeface="Times New Roman"/>
                <a:cs typeface="Times New Roman"/>
              </a:rPr>
              <a:t>take</a:t>
            </a:r>
            <a:r>
              <a:rPr sz="2400" spc="-4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best</a:t>
            </a:r>
            <a:r>
              <a:rPr sz="2400" spc="-30" dirty="0">
                <a:latin typeface="Times New Roman"/>
                <a:cs typeface="Times New Roman"/>
              </a:rPr>
              <a:t> </a:t>
            </a:r>
            <a:r>
              <a:rPr sz="2400" dirty="0">
                <a:latin typeface="Times New Roman"/>
                <a:cs typeface="Times New Roman"/>
              </a:rPr>
              <a:t>you</a:t>
            </a:r>
            <a:r>
              <a:rPr sz="2400" spc="-20" dirty="0">
                <a:latin typeface="Times New Roman"/>
                <a:cs typeface="Times New Roman"/>
              </a:rPr>
              <a:t> </a:t>
            </a:r>
            <a:r>
              <a:rPr sz="2400" dirty="0">
                <a:latin typeface="Times New Roman"/>
                <a:cs typeface="Times New Roman"/>
              </a:rPr>
              <a:t>can</a:t>
            </a:r>
            <a:r>
              <a:rPr sz="2400" spc="-25" dirty="0">
                <a:latin typeface="Times New Roman"/>
                <a:cs typeface="Times New Roman"/>
              </a:rPr>
              <a:t> </a:t>
            </a:r>
            <a:r>
              <a:rPr sz="2400" dirty="0">
                <a:latin typeface="Times New Roman"/>
                <a:cs typeface="Times New Roman"/>
              </a:rPr>
              <a:t>get</a:t>
            </a:r>
            <a:r>
              <a:rPr sz="2400" spc="-20" dirty="0">
                <a:latin typeface="Times New Roman"/>
                <a:cs typeface="Times New Roman"/>
              </a:rPr>
              <a:t> </a:t>
            </a:r>
            <a:r>
              <a:rPr sz="2400" dirty="0">
                <a:latin typeface="Times New Roman"/>
                <a:cs typeface="Times New Roman"/>
              </a:rPr>
              <a:t>right</a:t>
            </a:r>
            <a:r>
              <a:rPr sz="2400" spc="-40" dirty="0">
                <a:latin typeface="Times New Roman"/>
                <a:cs typeface="Times New Roman"/>
              </a:rPr>
              <a:t> </a:t>
            </a:r>
            <a:r>
              <a:rPr sz="2400" spc="-20" dirty="0">
                <a:latin typeface="Times New Roman"/>
                <a:cs typeface="Times New Roman"/>
              </a:rPr>
              <a:t>now,</a:t>
            </a:r>
            <a:r>
              <a:rPr sz="2400" spc="-15" dirty="0">
                <a:latin typeface="Times New Roman"/>
                <a:cs typeface="Times New Roman"/>
              </a:rPr>
              <a:t> </a:t>
            </a:r>
            <a:r>
              <a:rPr sz="2400" dirty="0">
                <a:latin typeface="Times New Roman"/>
                <a:cs typeface="Times New Roman"/>
              </a:rPr>
              <a:t>without</a:t>
            </a:r>
            <a:r>
              <a:rPr sz="2400" spc="-25" dirty="0">
                <a:latin typeface="Times New Roman"/>
                <a:cs typeface="Times New Roman"/>
              </a:rPr>
              <a:t> </a:t>
            </a:r>
            <a:r>
              <a:rPr sz="2400" dirty="0">
                <a:latin typeface="Times New Roman"/>
                <a:cs typeface="Times New Roman"/>
              </a:rPr>
              <a:t>regard</a:t>
            </a:r>
            <a:r>
              <a:rPr sz="2400" spc="-35" dirty="0">
                <a:latin typeface="Times New Roman"/>
                <a:cs typeface="Times New Roman"/>
              </a:rPr>
              <a:t> </a:t>
            </a:r>
            <a:r>
              <a:rPr sz="2400" spc="-25" dirty="0">
                <a:latin typeface="Times New Roman"/>
                <a:cs typeface="Times New Roman"/>
              </a:rPr>
              <a:t>for </a:t>
            </a:r>
            <a:r>
              <a:rPr sz="2400" dirty="0">
                <a:latin typeface="Times New Roman"/>
                <a:cs typeface="Times New Roman"/>
              </a:rPr>
              <a:t>future</a:t>
            </a:r>
            <a:r>
              <a:rPr sz="2400" spc="-10" dirty="0">
                <a:latin typeface="Times New Roman"/>
                <a:cs typeface="Times New Roman"/>
              </a:rPr>
              <a:t> consequences</a:t>
            </a:r>
            <a:endParaRPr sz="2400" dirty="0">
              <a:latin typeface="Times New Roman"/>
              <a:cs typeface="Times New Roman"/>
            </a:endParaRPr>
          </a:p>
          <a:p>
            <a:pPr marL="756285" marR="337185" lvl="1" indent="-287020">
              <a:lnSpc>
                <a:spcPct val="100000"/>
              </a:lnSpc>
              <a:spcBef>
                <a:spcPts val="580"/>
              </a:spcBef>
              <a:buFont typeface="Wingdings"/>
              <a:buChar char=""/>
              <a:tabLst>
                <a:tab pos="756920" algn="l"/>
              </a:tabLst>
            </a:pPr>
            <a:r>
              <a:rPr sz="2400" spc="-55" dirty="0">
                <a:latin typeface="Times New Roman"/>
                <a:cs typeface="Times New Roman"/>
              </a:rPr>
              <a:t>You</a:t>
            </a:r>
            <a:r>
              <a:rPr sz="2400" spc="-10" dirty="0">
                <a:latin typeface="Times New Roman"/>
                <a:cs typeface="Times New Roman"/>
              </a:rPr>
              <a:t> </a:t>
            </a:r>
            <a:r>
              <a:rPr sz="2400" dirty="0">
                <a:latin typeface="Times New Roman"/>
                <a:cs typeface="Times New Roman"/>
              </a:rPr>
              <a:t>hope</a:t>
            </a:r>
            <a:r>
              <a:rPr sz="2400" spc="-20" dirty="0">
                <a:latin typeface="Times New Roman"/>
                <a:cs typeface="Times New Roman"/>
              </a:rPr>
              <a:t>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by</a:t>
            </a:r>
            <a:r>
              <a:rPr sz="2400" spc="-10" dirty="0">
                <a:latin typeface="Times New Roman"/>
                <a:cs typeface="Times New Roman"/>
              </a:rPr>
              <a:t> </a:t>
            </a:r>
            <a:r>
              <a:rPr sz="2400" dirty="0">
                <a:latin typeface="Times New Roman"/>
                <a:cs typeface="Times New Roman"/>
              </a:rPr>
              <a:t>choosing</a:t>
            </a:r>
            <a:r>
              <a:rPr sz="2400" spc="-25" dirty="0">
                <a:latin typeface="Times New Roman"/>
                <a:cs typeface="Times New Roman"/>
              </a:rPr>
              <a:t> </a:t>
            </a:r>
            <a:r>
              <a:rPr sz="2400" dirty="0">
                <a:latin typeface="Times New Roman"/>
                <a:cs typeface="Times New Roman"/>
              </a:rPr>
              <a:t>a </a:t>
            </a:r>
            <a:r>
              <a:rPr sz="2400" i="1" dirty="0">
                <a:latin typeface="Times New Roman"/>
                <a:cs typeface="Times New Roman"/>
              </a:rPr>
              <a:t>local</a:t>
            </a:r>
            <a:r>
              <a:rPr sz="2400" i="1" spc="-25" dirty="0">
                <a:latin typeface="Times New Roman"/>
                <a:cs typeface="Times New Roman"/>
              </a:rPr>
              <a:t> </a:t>
            </a:r>
            <a:r>
              <a:rPr sz="2400" dirty="0">
                <a:latin typeface="Times New Roman"/>
                <a:cs typeface="Times New Roman"/>
              </a:rPr>
              <a:t>optimum</a:t>
            </a:r>
            <a:r>
              <a:rPr sz="2400" spc="-20" dirty="0">
                <a:latin typeface="Times New Roman"/>
                <a:cs typeface="Times New Roman"/>
              </a:rPr>
              <a:t> </a:t>
            </a:r>
            <a:r>
              <a:rPr sz="2400" dirty="0">
                <a:latin typeface="Times New Roman"/>
                <a:cs typeface="Times New Roman"/>
              </a:rPr>
              <a:t>at</a:t>
            </a:r>
            <a:r>
              <a:rPr sz="2400" spc="-30" dirty="0">
                <a:latin typeface="Times New Roman"/>
                <a:cs typeface="Times New Roman"/>
              </a:rPr>
              <a:t> </a:t>
            </a:r>
            <a:r>
              <a:rPr sz="2400" dirty="0">
                <a:latin typeface="Times New Roman"/>
                <a:cs typeface="Times New Roman"/>
              </a:rPr>
              <a:t>each</a:t>
            </a:r>
            <a:r>
              <a:rPr sz="2400" spc="-10" dirty="0">
                <a:latin typeface="Times New Roman"/>
                <a:cs typeface="Times New Roman"/>
              </a:rPr>
              <a:t> step, </a:t>
            </a:r>
            <a:r>
              <a:rPr sz="2400" dirty="0">
                <a:latin typeface="Times New Roman"/>
                <a:cs typeface="Times New Roman"/>
              </a:rPr>
              <a:t>you</a:t>
            </a:r>
            <a:r>
              <a:rPr sz="2400" spc="-5" dirty="0">
                <a:latin typeface="Times New Roman"/>
                <a:cs typeface="Times New Roman"/>
              </a:rPr>
              <a:t> </a:t>
            </a:r>
            <a:r>
              <a:rPr sz="2400" dirty="0">
                <a:latin typeface="Times New Roman"/>
                <a:cs typeface="Times New Roman"/>
              </a:rPr>
              <a:t>will</a:t>
            </a:r>
            <a:r>
              <a:rPr sz="2400" spc="-25" dirty="0">
                <a:latin typeface="Times New Roman"/>
                <a:cs typeface="Times New Roman"/>
              </a:rPr>
              <a:t> </a:t>
            </a:r>
            <a:r>
              <a:rPr sz="2400" dirty="0">
                <a:latin typeface="Times New Roman"/>
                <a:cs typeface="Times New Roman"/>
              </a:rPr>
              <a:t>end up at</a:t>
            </a:r>
            <a:r>
              <a:rPr sz="2400" spc="-1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i="1" dirty="0">
                <a:latin typeface="Times New Roman"/>
                <a:cs typeface="Times New Roman"/>
              </a:rPr>
              <a:t>global</a:t>
            </a:r>
            <a:r>
              <a:rPr sz="2400" i="1" spc="-10" dirty="0">
                <a:latin typeface="Times New Roman"/>
                <a:cs typeface="Times New Roman"/>
              </a:rPr>
              <a:t> </a:t>
            </a:r>
            <a:r>
              <a:rPr sz="2400" spc="-10" dirty="0">
                <a:latin typeface="Times New Roman"/>
                <a:cs typeface="Times New Roman"/>
              </a:rPr>
              <a:t>optimum</a:t>
            </a:r>
            <a:endParaRPr sz="2400" dirty="0">
              <a:latin typeface="Times New Roman"/>
              <a:cs typeface="Times New Roman"/>
            </a:endParaRPr>
          </a:p>
        </p:txBody>
      </p:sp>
      <p:sp>
        <p:nvSpPr>
          <p:cNvPr id="7" name="Content Placeholder 6">
            <a:extLst>
              <a:ext uri="{FF2B5EF4-FFF2-40B4-BE49-F238E27FC236}">
                <a16:creationId xmlns:a16="http://schemas.microsoft.com/office/drawing/2014/main" id="{1D1CCBF6-B56A-20E2-E9B3-6164D9AD211F}"/>
              </a:ext>
            </a:extLst>
          </p:cNvPr>
          <p:cNvSpPr>
            <a:spLocks noGrp="1"/>
          </p:cNvSpPr>
          <p:nvPr>
            <p:ph sz="quarter" idx="10"/>
          </p:nvPr>
        </p:nvSpPr>
        <p:spPr/>
        <p:txBody>
          <a:bodyPr/>
          <a:lstStyle/>
          <a:p>
            <a:r>
              <a:rPr lang="en-IN" spc="-150" dirty="0"/>
              <a:t>Optimization</a:t>
            </a:r>
            <a:r>
              <a:rPr lang="en-IN" spc="-185" dirty="0"/>
              <a:t> </a:t>
            </a:r>
            <a:r>
              <a:rPr lang="en-IN" spc="-135" dirty="0"/>
              <a:t>problems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1443354"/>
            <a:ext cx="8073390" cy="3830320"/>
          </a:xfrm>
          <a:prstGeom prst="rect">
            <a:avLst/>
          </a:prstGeom>
        </p:spPr>
        <p:txBody>
          <a:bodyPr vert="horz" wrap="square" lIns="0" tIns="83820" rIns="0" bIns="0" rtlCol="0">
            <a:spAutoFit/>
          </a:bodyPr>
          <a:lstStyle/>
          <a:p>
            <a:pPr marL="355600" marR="5080" indent="-342900" algn="just">
              <a:lnSpc>
                <a:spcPts val="2300"/>
              </a:lnSpc>
              <a:spcBef>
                <a:spcPts val="660"/>
              </a:spcBef>
              <a:buClr>
                <a:srgbClr val="0F1141"/>
              </a:buClr>
              <a:buFont typeface="Wingdings"/>
              <a:buChar char=""/>
              <a:tabLst>
                <a:tab pos="355600" algn="l"/>
              </a:tabLst>
            </a:pPr>
            <a:r>
              <a:rPr sz="2400" dirty="0">
                <a:latin typeface="Times New Roman"/>
                <a:cs typeface="Times New Roman"/>
              </a:rPr>
              <a:t>Suppose</a:t>
            </a:r>
            <a:r>
              <a:rPr sz="2400" spc="430" dirty="0">
                <a:latin typeface="Times New Roman"/>
                <a:cs typeface="Times New Roman"/>
              </a:rPr>
              <a:t> </a:t>
            </a:r>
            <a:r>
              <a:rPr sz="2400" dirty="0">
                <a:latin typeface="Times New Roman"/>
                <a:cs typeface="Times New Roman"/>
              </a:rPr>
              <a:t>you</a:t>
            </a:r>
            <a:r>
              <a:rPr sz="2400" spc="425" dirty="0">
                <a:latin typeface="Times New Roman"/>
                <a:cs typeface="Times New Roman"/>
              </a:rPr>
              <a:t> </a:t>
            </a:r>
            <a:r>
              <a:rPr sz="2400" dirty="0">
                <a:latin typeface="Times New Roman"/>
                <a:cs typeface="Times New Roman"/>
              </a:rPr>
              <a:t>want</a:t>
            </a:r>
            <a:r>
              <a:rPr sz="2400" spc="420" dirty="0">
                <a:latin typeface="Times New Roman"/>
                <a:cs typeface="Times New Roman"/>
              </a:rPr>
              <a:t> </a:t>
            </a:r>
            <a:r>
              <a:rPr sz="2400" dirty="0">
                <a:latin typeface="Times New Roman"/>
                <a:cs typeface="Times New Roman"/>
              </a:rPr>
              <a:t>to</a:t>
            </a:r>
            <a:r>
              <a:rPr sz="2400" spc="415" dirty="0">
                <a:latin typeface="Times New Roman"/>
                <a:cs typeface="Times New Roman"/>
              </a:rPr>
              <a:t> </a:t>
            </a:r>
            <a:r>
              <a:rPr sz="2400" dirty="0">
                <a:latin typeface="Times New Roman"/>
                <a:cs typeface="Times New Roman"/>
              </a:rPr>
              <a:t>count</a:t>
            </a:r>
            <a:r>
              <a:rPr sz="2400" spc="430" dirty="0">
                <a:latin typeface="Times New Roman"/>
                <a:cs typeface="Times New Roman"/>
              </a:rPr>
              <a:t> </a:t>
            </a:r>
            <a:r>
              <a:rPr sz="2400" dirty="0">
                <a:latin typeface="Times New Roman"/>
                <a:cs typeface="Times New Roman"/>
              </a:rPr>
              <a:t>out</a:t>
            </a:r>
            <a:r>
              <a:rPr sz="2400" spc="420" dirty="0">
                <a:latin typeface="Times New Roman"/>
                <a:cs typeface="Times New Roman"/>
              </a:rPr>
              <a:t> </a:t>
            </a:r>
            <a:r>
              <a:rPr sz="2400" dirty="0">
                <a:latin typeface="Times New Roman"/>
                <a:cs typeface="Times New Roman"/>
              </a:rPr>
              <a:t>a</a:t>
            </a:r>
            <a:r>
              <a:rPr sz="2400" spc="415" dirty="0">
                <a:latin typeface="Times New Roman"/>
                <a:cs typeface="Times New Roman"/>
              </a:rPr>
              <a:t> </a:t>
            </a:r>
            <a:r>
              <a:rPr sz="2400" dirty="0">
                <a:latin typeface="Times New Roman"/>
                <a:cs typeface="Times New Roman"/>
              </a:rPr>
              <a:t>certain</a:t>
            </a:r>
            <a:r>
              <a:rPr sz="2400" spc="420" dirty="0">
                <a:latin typeface="Times New Roman"/>
                <a:cs typeface="Times New Roman"/>
              </a:rPr>
              <a:t> </a:t>
            </a:r>
            <a:r>
              <a:rPr sz="2400" dirty="0">
                <a:latin typeface="Times New Roman"/>
                <a:cs typeface="Times New Roman"/>
              </a:rPr>
              <a:t>amount</a:t>
            </a:r>
            <a:r>
              <a:rPr sz="2400" spc="430" dirty="0">
                <a:latin typeface="Times New Roman"/>
                <a:cs typeface="Times New Roman"/>
              </a:rPr>
              <a:t> </a:t>
            </a:r>
            <a:r>
              <a:rPr sz="2400" dirty="0">
                <a:latin typeface="Times New Roman"/>
                <a:cs typeface="Times New Roman"/>
              </a:rPr>
              <a:t>of</a:t>
            </a:r>
            <a:r>
              <a:rPr sz="2400" spc="420" dirty="0">
                <a:latin typeface="Times New Roman"/>
                <a:cs typeface="Times New Roman"/>
              </a:rPr>
              <a:t> </a:t>
            </a:r>
            <a:r>
              <a:rPr sz="2400" spc="-40" dirty="0">
                <a:latin typeface="Times New Roman"/>
                <a:cs typeface="Times New Roman"/>
              </a:rPr>
              <a:t>money, </a:t>
            </a:r>
            <a:r>
              <a:rPr sz="2400" dirty="0">
                <a:latin typeface="Times New Roman"/>
                <a:cs typeface="Times New Roman"/>
              </a:rPr>
              <a:t>using</a:t>
            </a:r>
            <a:r>
              <a:rPr sz="2400" spc="-1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fewest possible</a:t>
            </a:r>
            <a:r>
              <a:rPr sz="2400" spc="-20" dirty="0">
                <a:latin typeface="Times New Roman"/>
                <a:cs typeface="Times New Roman"/>
              </a:rPr>
              <a:t> </a:t>
            </a:r>
            <a:r>
              <a:rPr sz="2400" dirty="0">
                <a:latin typeface="Times New Roman"/>
                <a:cs typeface="Times New Roman"/>
              </a:rPr>
              <a:t>bills</a:t>
            </a:r>
            <a:r>
              <a:rPr sz="2400" spc="-2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spc="-10" dirty="0">
                <a:latin typeface="Times New Roman"/>
                <a:cs typeface="Times New Roman"/>
              </a:rPr>
              <a:t>coins</a:t>
            </a:r>
            <a:endParaRPr sz="2400">
              <a:latin typeface="Times New Roman"/>
              <a:cs typeface="Times New Roman"/>
            </a:endParaRPr>
          </a:p>
          <a:p>
            <a:pPr marL="355600" marR="5080" indent="-342900" algn="just">
              <a:lnSpc>
                <a:spcPct val="80000"/>
              </a:lnSpc>
              <a:spcBef>
                <a:spcPts val="600"/>
              </a:spcBef>
              <a:buClr>
                <a:srgbClr val="0F1141"/>
              </a:buClr>
              <a:buFont typeface="Wingdings"/>
              <a:buChar char=""/>
              <a:tabLst>
                <a:tab pos="355600" algn="l"/>
              </a:tabLst>
            </a:pPr>
            <a:r>
              <a:rPr sz="2400" dirty="0">
                <a:latin typeface="Times New Roman"/>
                <a:cs typeface="Times New Roman"/>
              </a:rPr>
              <a:t>A</a:t>
            </a:r>
            <a:r>
              <a:rPr sz="2400" spc="415" dirty="0">
                <a:latin typeface="Times New Roman"/>
                <a:cs typeface="Times New Roman"/>
              </a:rPr>
              <a:t>   </a:t>
            </a:r>
            <a:r>
              <a:rPr sz="2400" dirty="0">
                <a:latin typeface="Times New Roman"/>
                <a:cs typeface="Times New Roman"/>
              </a:rPr>
              <a:t>greedy</a:t>
            </a:r>
            <a:r>
              <a:rPr sz="2400" spc="465" dirty="0">
                <a:latin typeface="Times New Roman"/>
                <a:cs typeface="Times New Roman"/>
              </a:rPr>
              <a:t>   </a:t>
            </a:r>
            <a:r>
              <a:rPr sz="2400" dirty="0">
                <a:latin typeface="Times New Roman"/>
                <a:cs typeface="Times New Roman"/>
              </a:rPr>
              <a:t>algorithm</a:t>
            </a:r>
            <a:r>
              <a:rPr sz="2400" spc="459" dirty="0">
                <a:latin typeface="Times New Roman"/>
                <a:cs typeface="Times New Roman"/>
              </a:rPr>
              <a:t>   </a:t>
            </a:r>
            <a:r>
              <a:rPr sz="2400" dirty="0">
                <a:latin typeface="Times New Roman"/>
                <a:cs typeface="Times New Roman"/>
              </a:rPr>
              <a:t>would</a:t>
            </a:r>
            <a:r>
              <a:rPr sz="2400" spc="465" dirty="0">
                <a:latin typeface="Times New Roman"/>
                <a:cs typeface="Times New Roman"/>
              </a:rPr>
              <a:t>   </a:t>
            </a:r>
            <a:r>
              <a:rPr sz="2400" dirty="0">
                <a:latin typeface="Times New Roman"/>
                <a:cs typeface="Times New Roman"/>
              </a:rPr>
              <a:t>do</a:t>
            </a:r>
            <a:r>
              <a:rPr sz="2400" spc="465" dirty="0">
                <a:latin typeface="Times New Roman"/>
                <a:cs typeface="Times New Roman"/>
              </a:rPr>
              <a:t>   </a:t>
            </a:r>
            <a:r>
              <a:rPr sz="2400" dirty="0">
                <a:latin typeface="Times New Roman"/>
                <a:cs typeface="Times New Roman"/>
              </a:rPr>
              <a:t>this</a:t>
            </a:r>
            <a:r>
              <a:rPr sz="2400" spc="465" dirty="0">
                <a:latin typeface="Times New Roman"/>
                <a:cs typeface="Times New Roman"/>
              </a:rPr>
              <a:t>   </a:t>
            </a:r>
            <a:r>
              <a:rPr sz="2400" dirty="0">
                <a:latin typeface="Times New Roman"/>
                <a:cs typeface="Times New Roman"/>
              </a:rPr>
              <a:t>would</a:t>
            </a:r>
            <a:r>
              <a:rPr sz="2400" spc="465" dirty="0">
                <a:latin typeface="Times New Roman"/>
                <a:cs typeface="Times New Roman"/>
              </a:rPr>
              <a:t>   </a:t>
            </a:r>
            <a:r>
              <a:rPr sz="2400" spc="-25" dirty="0">
                <a:latin typeface="Times New Roman"/>
                <a:cs typeface="Times New Roman"/>
              </a:rPr>
              <a:t>be: </a:t>
            </a:r>
            <a:r>
              <a:rPr sz="2400" i="1" dirty="0">
                <a:solidFill>
                  <a:srgbClr val="1F487C"/>
                </a:solidFill>
                <a:latin typeface="Times New Roman"/>
                <a:cs typeface="Times New Roman"/>
              </a:rPr>
              <a:t>At</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each step,</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take</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the</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largest</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possible</a:t>
            </a:r>
            <a:r>
              <a:rPr sz="2400" i="1" spc="-5" dirty="0">
                <a:solidFill>
                  <a:srgbClr val="1F487C"/>
                </a:solidFill>
                <a:latin typeface="Times New Roman"/>
                <a:cs typeface="Times New Roman"/>
              </a:rPr>
              <a:t> </a:t>
            </a:r>
            <a:r>
              <a:rPr sz="2400" i="1" dirty="0">
                <a:solidFill>
                  <a:srgbClr val="1F487C"/>
                </a:solidFill>
                <a:latin typeface="Times New Roman"/>
                <a:cs typeface="Times New Roman"/>
              </a:rPr>
              <a:t>bill</a:t>
            </a:r>
            <a:r>
              <a:rPr sz="2400" i="1" spc="10" dirty="0">
                <a:solidFill>
                  <a:srgbClr val="1F487C"/>
                </a:solidFill>
                <a:latin typeface="Times New Roman"/>
                <a:cs typeface="Times New Roman"/>
              </a:rPr>
              <a:t> </a:t>
            </a:r>
            <a:r>
              <a:rPr sz="2400" i="1" dirty="0">
                <a:solidFill>
                  <a:srgbClr val="1F487C"/>
                </a:solidFill>
                <a:latin typeface="Times New Roman"/>
                <a:cs typeface="Times New Roman"/>
              </a:rPr>
              <a:t>or coin</a:t>
            </a:r>
            <a:r>
              <a:rPr sz="2400" i="1" spc="-10" dirty="0">
                <a:solidFill>
                  <a:srgbClr val="1F487C"/>
                </a:solidFill>
                <a:latin typeface="Times New Roman"/>
                <a:cs typeface="Times New Roman"/>
              </a:rPr>
              <a:t> </a:t>
            </a:r>
            <a:r>
              <a:rPr sz="2400" i="1" dirty="0">
                <a:solidFill>
                  <a:srgbClr val="1F487C"/>
                </a:solidFill>
                <a:latin typeface="Times New Roman"/>
                <a:cs typeface="Times New Roman"/>
              </a:rPr>
              <a:t>that</a:t>
            </a:r>
            <a:r>
              <a:rPr sz="2400" i="1" spc="15" dirty="0">
                <a:solidFill>
                  <a:srgbClr val="1F487C"/>
                </a:solidFill>
                <a:latin typeface="Times New Roman"/>
                <a:cs typeface="Times New Roman"/>
              </a:rPr>
              <a:t> </a:t>
            </a:r>
            <a:r>
              <a:rPr sz="2400" i="1" dirty="0">
                <a:solidFill>
                  <a:srgbClr val="1F487C"/>
                </a:solidFill>
                <a:latin typeface="Times New Roman"/>
                <a:cs typeface="Times New Roman"/>
              </a:rPr>
              <a:t>does</a:t>
            </a:r>
            <a:r>
              <a:rPr sz="2400" i="1" spc="-10" dirty="0">
                <a:solidFill>
                  <a:srgbClr val="1F487C"/>
                </a:solidFill>
                <a:latin typeface="Times New Roman"/>
                <a:cs typeface="Times New Roman"/>
              </a:rPr>
              <a:t> </a:t>
            </a:r>
            <a:r>
              <a:rPr sz="2400" i="1" spc="-25" dirty="0">
                <a:solidFill>
                  <a:srgbClr val="1F487C"/>
                </a:solidFill>
                <a:latin typeface="Times New Roman"/>
                <a:cs typeface="Times New Roman"/>
              </a:rPr>
              <a:t>not </a:t>
            </a:r>
            <a:r>
              <a:rPr sz="2400" i="1" spc="-10" dirty="0">
                <a:solidFill>
                  <a:srgbClr val="1F487C"/>
                </a:solidFill>
                <a:latin typeface="Times New Roman"/>
                <a:cs typeface="Times New Roman"/>
              </a:rPr>
              <a:t>overshoot</a:t>
            </a:r>
            <a:endParaRPr sz="2400">
              <a:latin typeface="Times New Roman"/>
              <a:cs typeface="Times New Roman"/>
            </a:endParaRPr>
          </a:p>
          <a:p>
            <a:pPr marL="756285" lvl="1" indent="-287020" algn="just">
              <a:lnSpc>
                <a:spcPct val="100000"/>
              </a:lnSpc>
              <a:buFont typeface="Wingdings"/>
              <a:buChar char=""/>
              <a:tabLst>
                <a:tab pos="756920" algn="l"/>
              </a:tabLst>
            </a:pPr>
            <a:r>
              <a:rPr sz="2200" dirty="0">
                <a:latin typeface="Times New Roman"/>
                <a:cs typeface="Times New Roman"/>
              </a:rPr>
              <a:t>Example:</a:t>
            </a:r>
            <a:r>
              <a:rPr sz="2200" spc="-70" dirty="0">
                <a:latin typeface="Times New Roman"/>
                <a:cs typeface="Times New Roman"/>
              </a:rPr>
              <a:t> </a:t>
            </a:r>
            <a:r>
              <a:rPr sz="2200" spc="-45" dirty="0">
                <a:latin typeface="Times New Roman"/>
                <a:cs typeface="Times New Roman"/>
              </a:rPr>
              <a:t>To</a:t>
            </a:r>
            <a:r>
              <a:rPr sz="2200" spc="-50" dirty="0">
                <a:latin typeface="Times New Roman"/>
                <a:cs typeface="Times New Roman"/>
              </a:rPr>
              <a:t> </a:t>
            </a:r>
            <a:r>
              <a:rPr sz="2200" dirty="0">
                <a:latin typeface="Times New Roman"/>
                <a:cs typeface="Times New Roman"/>
              </a:rPr>
              <a:t>make</a:t>
            </a:r>
            <a:r>
              <a:rPr sz="2200" spc="-30" dirty="0">
                <a:latin typeface="Times New Roman"/>
                <a:cs typeface="Times New Roman"/>
              </a:rPr>
              <a:t> </a:t>
            </a:r>
            <a:r>
              <a:rPr sz="2400" dirty="0">
                <a:latin typeface="Times New Roman"/>
                <a:cs typeface="Times New Roman"/>
              </a:rPr>
              <a:t>$</a:t>
            </a:r>
            <a:r>
              <a:rPr sz="2200" dirty="0">
                <a:latin typeface="Times New Roman"/>
                <a:cs typeface="Times New Roman"/>
              </a:rPr>
              <a:t>6.39,</a:t>
            </a:r>
            <a:r>
              <a:rPr sz="2200" spc="-75" dirty="0">
                <a:latin typeface="Times New Roman"/>
                <a:cs typeface="Times New Roman"/>
              </a:rPr>
              <a:t> </a:t>
            </a:r>
            <a:r>
              <a:rPr sz="2200" dirty="0">
                <a:latin typeface="Times New Roman"/>
                <a:cs typeface="Times New Roman"/>
              </a:rPr>
              <a:t>you</a:t>
            </a:r>
            <a:r>
              <a:rPr sz="2200" spc="-70" dirty="0">
                <a:latin typeface="Times New Roman"/>
                <a:cs typeface="Times New Roman"/>
              </a:rPr>
              <a:t> </a:t>
            </a:r>
            <a:r>
              <a:rPr sz="2200" dirty="0">
                <a:latin typeface="Times New Roman"/>
                <a:cs typeface="Times New Roman"/>
              </a:rPr>
              <a:t>can</a:t>
            </a:r>
            <a:r>
              <a:rPr sz="2200" spc="-50" dirty="0">
                <a:latin typeface="Times New Roman"/>
                <a:cs typeface="Times New Roman"/>
              </a:rPr>
              <a:t> </a:t>
            </a:r>
            <a:r>
              <a:rPr sz="2200" spc="-10" dirty="0">
                <a:latin typeface="Times New Roman"/>
                <a:cs typeface="Times New Roman"/>
              </a:rPr>
              <a:t>choose:</a:t>
            </a:r>
            <a:endParaRPr sz="2200">
              <a:latin typeface="Times New Roman"/>
              <a:cs typeface="Times New Roman"/>
            </a:endParaRPr>
          </a:p>
          <a:p>
            <a:pPr marL="1170305" lvl="2" indent="-243840">
              <a:lnSpc>
                <a:spcPct val="100000"/>
              </a:lnSpc>
              <a:buSzPct val="95833"/>
              <a:buFont typeface="Wingdings"/>
              <a:buChar char=""/>
              <a:tabLst>
                <a:tab pos="1170940" algn="l"/>
              </a:tabLst>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$5</a:t>
            </a:r>
            <a:r>
              <a:rPr sz="2400" spc="-5" dirty="0">
                <a:latin typeface="Times New Roman"/>
                <a:cs typeface="Times New Roman"/>
              </a:rPr>
              <a:t> </a:t>
            </a:r>
            <a:r>
              <a:rPr sz="2400" spc="-20" dirty="0">
                <a:latin typeface="Times New Roman"/>
                <a:cs typeface="Times New Roman"/>
              </a:rPr>
              <a:t>bill</a:t>
            </a:r>
            <a:endParaRPr sz="2400">
              <a:latin typeface="Times New Roman"/>
              <a:cs typeface="Times New Roman"/>
            </a:endParaRPr>
          </a:p>
          <a:p>
            <a:pPr marL="1169670" lvl="2" indent="-243204">
              <a:lnSpc>
                <a:spcPct val="100000"/>
              </a:lnSpc>
              <a:spcBef>
                <a:spcPts val="5"/>
              </a:spcBef>
              <a:buSzPct val="95833"/>
              <a:buFont typeface="Wingdings"/>
              <a:buChar char=""/>
              <a:tabLst>
                <a:tab pos="1170305" algn="l"/>
              </a:tabLst>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$1 bill,</a:t>
            </a:r>
            <a:r>
              <a:rPr sz="2400" spc="-3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make</a:t>
            </a:r>
            <a:r>
              <a:rPr sz="2400" spc="15" dirty="0">
                <a:latin typeface="Times New Roman"/>
                <a:cs typeface="Times New Roman"/>
              </a:rPr>
              <a:t> </a:t>
            </a:r>
            <a:r>
              <a:rPr sz="2400" spc="-25" dirty="0">
                <a:latin typeface="Times New Roman"/>
                <a:cs typeface="Times New Roman"/>
              </a:rPr>
              <a:t>$6</a:t>
            </a:r>
            <a:endParaRPr sz="2400">
              <a:latin typeface="Times New Roman"/>
              <a:cs typeface="Times New Roman"/>
            </a:endParaRPr>
          </a:p>
          <a:p>
            <a:pPr marL="1169670" lvl="2" indent="-243204">
              <a:lnSpc>
                <a:spcPct val="100000"/>
              </a:lnSpc>
              <a:buSzPct val="95833"/>
              <a:buFont typeface="Wingdings"/>
              <a:buChar char=""/>
              <a:tabLst>
                <a:tab pos="1170305" algn="l"/>
              </a:tabLst>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25¢</a:t>
            </a:r>
            <a:r>
              <a:rPr sz="2400" spc="55" dirty="0">
                <a:latin typeface="Times New Roman"/>
                <a:cs typeface="Times New Roman"/>
              </a:rPr>
              <a:t> </a:t>
            </a:r>
            <a:r>
              <a:rPr sz="2400" dirty="0">
                <a:latin typeface="Times New Roman"/>
                <a:cs typeface="Times New Roman"/>
              </a:rPr>
              <a:t>coin,</a:t>
            </a:r>
            <a:r>
              <a:rPr sz="2400" spc="-2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make</a:t>
            </a:r>
            <a:r>
              <a:rPr sz="2400" spc="5" dirty="0">
                <a:latin typeface="Times New Roman"/>
                <a:cs typeface="Times New Roman"/>
              </a:rPr>
              <a:t> </a:t>
            </a:r>
            <a:r>
              <a:rPr sz="2400" spc="-10" dirty="0">
                <a:latin typeface="Times New Roman"/>
                <a:cs typeface="Times New Roman"/>
              </a:rPr>
              <a:t>$6.25</a:t>
            </a:r>
            <a:endParaRPr sz="2400">
              <a:latin typeface="Times New Roman"/>
              <a:cs typeface="Times New Roman"/>
            </a:endParaRPr>
          </a:p>
          <a:p>
            <a:pPr marL="1169670" lvl="2" indent="-243204">
              <a:lnSpc>
                <a:spcPct val="100000"/>
              </a:lnSpc>
              <a:buSzPct val="95833"/>
              <a:buFont typeface="Wingdings"/>
              <a:buChar char=""/>
              <a:tabLst>
                <a:tab pos="1170305" algn="l"/>
              </a:tabLst>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10¢</a:t>
            </a:r>
            <a:r>
              <a:rPr sz="2400" spc="-5" dirty="0">
                <a:latin typeface="Times New Roman"/>
                <a:cs typeface="Times New Roman"/>
              </a:rPr>
              <a:t> </a:t>
            </a:r>
            <a:r>
              <a:rPr sz="2400" dirty="0">
                <a:latin typeface="Times New Roman"/>
                <a:cs typeface="Times New Roman"/>
              </a:rPr>
              <a:t>coin,</a:t>
            </a:r>
            <a:r>
              <a:rPr sz="2400" spc="-20" dirty="0">
                <a:latin typeface="Times New Roman"/>
                <a:cs typeface="Times New Roman"/>
              </a:rPr>
              <a:t> </a:t>
            </a:r>
            <a:r>
              <a:rPr sz="2400" dirty="0">
                <a:latin typeface="Times New Roman"/>
                <a:cs typeface="Times New Roman"/>
              </a:rPr>
              <a:t>to</a:t>
            </a:r>
            <a:r>
              <a:rPr sz="2400" spc="-5" dirty="0">
                <a:latin typeface="Times New Roman"/>
                <a:cs typeface="Times New Roman"/>
              </a:rPr>
              <a:t> </a:t>
            </a:r>
            <a:r>
              <a:rPr sz="2400" dirty="0">
                <a:latin typeface="Times New Roman"/>
                <a:cs typeface="Times New Roman"/>
              </a:rPr>
              <a:t>make</a:t>
            </a:r>
            <a:r>
              <a:rPr sz="2400" spc="5" dirty="0">
                <a:latin typeface="Times New Roman"/>
                <a:cs typeface="Times New Roman"/>
              </a:rPr>
              <a:t> </a:t>
            </a:r>
            <a:r>
              <a:rPr sz="2400" spc="-10" dirty="0">
                <a:latin typeface="Times New Roman"/>
                <a:cs typeface="Times New Roman"/>
              </a:rPr>
              <a:t>$6.35</a:t>
            </a:r>
            <a:endParaRPr sz="2400">
              <a:latin typeface="Times New Roman"/>
              <a:cs typeface="Times New Roman"/>
            </a:endParaRPr>
          </a:p>
          <a:p>
            <a:pPr marL="1170305" lvl="2" indent="-243840">
              <a:lnSpc>
                <a:spcPct val="100000"/>
              </a:lnSpc>
              <a:buSzPct val="95833"/>
              <a:buFont typeface="Wingdings"/>
              <a:buChar char=""/>
              <a:tabLst>
                <a:tab pos="1170940" algn="l"/>
                <a:tab pos="2159635" algn="l"/>
              </a:tabLst>
            </a:pPr>
            <a:r>
              <a:rPr sz="2400" dirty="0">
                <a:latin typeface="Times New Roman"/>
                <a:cs typeface="Times New Roman"/>
              </a:rPr>
              <a:t>four</a:t>
            </a:r>
            <a:r>
              <a:rPr sz="2400" spc="-10" dirty="0">
                <a:latin typeface="Times New Roman"/>
                <a:cs typeface="Times New Roman"/>
              </a:rPr>
              <a:t> </a:t>
            </a:r>
            <a:r>
              <a:rPr sz="2400" spc="-25" dirty="0">
                <a:latin typeface="Times New Roman"/>
                <a:cs typeface="Times New Roman"/>
              </a:rPr>
              <a:t>1</a:t>
            </a:r>
            <a:r>
              <a:rPr sz="1800" spc="-25" dirty="0">
                <a:latin typeface="Arial MT"/>
                <a:cs typeface="Arial MT"/>
              </a:rPr>
              <a:t>¢</a:t>
            </a:r>
            <a:r>
              <a:rPr sz="1800" dirty="0">
                <a:latin typeface="Arial MT"/>
                <a:cs typeface="Arial MT"/>
              </a:rPr>
              <a:t>	</a:t>
            </a:r>
            <a:r>
              <a:rPr sz="2400" dirty="0">
                <a:latin typeface="Times New Roman"/>
                <a:cs typeface="Times New Roman"/>
              </a:rPr>
              <a:t>coins,</a:t>
            </a:r>
            <a:r>
              <a:rPr sz="2400" spc="-20" dirty="0">
                <a:latin typeface="Times New Roman"/>
                <a:cs typeface="Times New Roman"/>
              </a:rPr>
              <a:t> </a:t>
            </a:r>
            <a:r>
              <a:rPr sz="2400" dirty="0">
                <a:latin typeface="Times New Roman"/>
                <a:cs typeface="Times New Roman"/>
              </a:rPr>
              <a:t>to</a:t>
            </a:r>
            <a:r>
              <a:rPr sz="2400" spc="-25" dirty="0">
                <a:latin typeface="Times New Roman"/>
                <a:cs typeface="Times New Roman"/>
              </a:rPr>
              <a:t> </a:t>
            </a:r>
            <a:r>
              <a:rPr sz="2400" dirty="0">
                <a:latin typeface="Times New Roman"/>
                <a:cs typeface="Times New Roman"/>
              </a:rPr>
              <a:t>make</a:t>
            </a:r>
            <a:r>
              <a:rPr sz="2400" spc="-5" dirty="0">
                <a:latin typeface="Times New Roman"/>
                <a:cs typeface="Times New Roman"/>
              </a:rPr>
              <a:t> </a:t>
            </a:r>
            <a:r>
              <a:rPr sz="2400" spc="-20" dirty="0">
                <a:latin typeface="Times New Roman"/>
                <a:cs typeface="Times New Roman"/>
              </a:rPr>
              <a:t>$6.39</a:t>
            </a:r>
            <a:endParaRPr sz="2400">
              <a:latin typeface="Times New Roman"/>
              <a:cs typeface="Times New Roman"/>
            </a:endParaRPr>
          </a:p>
        </p:txBody>
      </p:sp>
      <p:sp>
        <p:nvSpPr>
          <p:cNvPr id="9" name="Content Placeholder 8">
            <a:extLst>
              <a:ext uri="{FF2B5EF4-FFF2-40B4-BE49-F238E27FC236}">
                <a16:creationId xmlns:a16="http://schemas.microsoft.com/office/drawing/2014/main" id="{57DB20A0-2C09-F6DE-C473-A1823E1A0BBF}"/>
              </a:ext>
            </a:extLst>
          </p:cNvPr>
          <p:cNvSpPr>
            <a:spLocks noGrp="1"/>
          </p:cNvSpPr>
          <p:nvPr>
            <p:ph sz="quarter" idx="10"/>
          </p:nvPr>
        </p:nvSpPr>
        <p:spPr/>
        <p:txBody>
          <a:bodyPr/>
          <a:lstStyle/>
          <a:p>
            <a:r>
              <a:rPr lang="en-IN" spc="-150" dirty="0"/>
              <a:t>Counting</a:t>
            </a:r>
            <a:r>
              <a:rPr lang="en-IN" spc="-185" dirty="0"/>
              <a:t> </a:t>
            </a:r>
            <a:r>
              <a:rPr lang="en-IN" spc="-114" dirty="0"/>
              <a:t>Money</a:t>
            </a:r>
            <a:endParaRPr lang="en-IN" dirty="0"/>
          </a:p>
        </p:txBody>
      </p:sp>
      <p:sp>
        <p:nvSpPr>
          <p:cNvPr id="3" name="object 3"/>
          <p:cNvSpPr txBox="1"/>
          <p:nvPr/>
        </p:nvSpPr>
        <p:spPr>
          <a:xfrm>
            <a:off x="4651375" y="5248147"/>
            <a:ext cx="3728720" cy="391160"/>
          </a:xfrm>
          <a:prstGeom prst="rect">
            <a:avLst/>
          </a:prstGeom>
        </p:spPr>
        <p:txBody>
          <a:bodyPr vert="horz" wrap="square" lIns="0" tIns="12700" rIns="0" bIns="0" rtlCol="0">
            <a:spAutoFit/>
          </a:bodyPr>
          <a:lstStyle/>
          <a:p>
            <a:pPr marL="12700">
              <a:lnSpc>
                <a:spcPct val="100000"/>
              </a:lnSpc>
              <a:spcBef>
                <a:spcPts val="100"/>
              </a:spcBef>
              <a:tabLst>
                <a:tab pos="1412875" algn="l"/>
                <a:tab pos="2479675" algn="l"/>
                <a:tab pos="3342640" algn="l"/>
              </a:tabLst>
            </a:pPr>
            <a:r>
              <a:rPr sz="2400" spc="-10" dirty="0">
                <a:latin typeface="Times New Roman"/>
                <a:cs typeface="Times New Roman"/>
              </a:rPr>
              <a:t>algorithm</a:t>
            </a:r>
            <a:r>
              <a:rPr sz="2400" dirty="0">
                <a:latin typeface="Times New Roman"/>
                <a:cs typeface="Times New Roman"/>
              </a:rPr>
              <a:t>	</a:t>
            </a:r>
            <a:r>
              <a:rPr sz="2400" spc="-10" dirty="0">
                <a:latin typeface="Times New Roman"/>
                <a:cs typeface="Times New Roman"/>
              </a:rPr>
              <a:t>always</a:t>
            </a:r>
            <a:r>
              <a:rPr sz="2400" dirty="0">
                <a:latin typeface="Times New Roman"/>
                <a:cs typeface="Times New Roman"/>
              </a:rPr>
              <a:t>	</a:t>
            </a:r>
            <a:r>
              <a:rPr sz="2400" spc="-10" dirty="0">
                <a:latin typeface="Times New Roman"/>
                <a:cs typeface="Times New Roman"/>
              </a:rPr>
              <a:t>gives</a:t>
            </a:r>
            <a:r>
              <a:rPr sz="2400" dirty="0">
                <a:latin typeface="Times New Roman"/>
                <a:cs typeface="Times New Roman"/>
              </a:rPr>
              <a:t>	</a:t>
            </a:r>
            <a:r>
              <a:rPr sz="2400" spc="-25" dirty="0">
                <a:latin typeface="Times New Roman"/>
                <a:cs typeface="Times New Roman"/>
              </a:rPr>
              <a:t>the</a:t>
            </a:r>
            <a:endParaRPr sz="2400">
              <a:latin typeface="Times New Roman"/>
              <a:cs typeface="Times New Roman"/>
            </a:endParaRPr>
          </a:p>
        </p:txBody>
      </p:sp>
      <p:sp>
        <p:nvSpPr>
          <p:cNvPr id="4" name="object 4"/>
          <p:cNvSpPr txBox="1"/>
          <p:nvPr/>
        </p:nvSpPr>
        <p:spPr>
          <a:xfrm>
            <a:off x="307340" y="5248147"/>
            <a:ext cx="4149725" cy="1049655"/>
          </a:xfrm>
          <a:prstGeom prst="rect">
            <a:avLst/>
          </a:prstGeom>
        </p:spPr>
        <p:txBody>
          <a:bodyPr vert="horz" wrap="square" lIns="0" tIns="83820" rIns="0" bIns="0" rtlCol="0">
            <a:spAutoFit/>
          </a:bodyPr>
          <a:lstStyle/>
          <a:p>
            <a:pPr marL="355600" marR="5080" indent="-342900">
              <a:lnSpc>
                <a:spcPts val="2300"/>
              </a:lnSpc>
              <a:spcBef>
                <a:spcPts val="660"/>
              </a:spcBef>
              <a:buClr>
                <a:srgbClr val="0F1141"/>
              </a:buClr>
              <a:buFont typeface="Wingdings"/>
              <a:buChar char=""/>
              <a:tabLst>
                <a:tab pos="355600" algn="l"/>
                <a:tab pos="998855" algn="l"/>
                <a:tab pos="1609725" algn="l"/>
                <a:tab pos="2715260" algn="l"/>
                <a:tab pos="3306445" algn="l"/>
              </a:tabLst>
            </a:pPr>
            <a:r>
              <a:rPr sz="2400" spc="-25" dirty="0">
                <a:latin typeface="Times New Roman"/>
                <a:cs typeface="Times New Roman"/>
              </a:rPr>
              <a:t>For</a:t>
            </a:r>
            <a:r>
              <a:rPr sz="2400" dirty="0">
                <a:latin typeface="Times New Roman"/>
                <a:cs typeface="Times New Roman"/>
              </a:rPr>
              <a:t>	</a:t>
            </a:r>
            <a:r>
              <a:rPr sz="2400" spc="-25" dirty="0">
                <a:latin typeface="Times New Roman"/>
                <a:cs typeface="Times New Roman"/>
              </a:rPr>
              <a:t>US</a:t>
            </a:r>
            <a:r>
              <a:rPr sz="2400" dirty="0">
                <a:latin typeface="Times New Roman"/>
                <a:cs typeface="Times New Roman"/>
              </a:rPr>
              <a:t>	</a:t>
            </a:r>
            <a:r>
              <a:rPr sz="2400" spc="-10" dirty="0">
                <a:latin typeface="Times New Roman"/>
                <a:cs typeface="Times New Roman"/>
              </a:rPr>
              <a:t>money,</a:t>
            </a:r>
            <a:r>
              <a:rPr sz="2400" dirty="0">
                <a:latin typeface="Times New Roman"/>
                <a:cs typeface="Times New Roman"/>
              </a:rPr>
              <a:t>	</a:t>
            </a:r>
            <a:r>
              <a:rPr sz="2400" spc="-25" dirty="0">
                <a:latin typeface="Times New Roman"/>
                <a:cs typeface="Times New Roman"/>
              </a:rPr>
              <a:t>the</a:t>
            </a:r>
            <a:r>
              <a:rPr sz="2400" dirty="0">
                <a:latin typeface="Times New Roman"/>
                <a:cs typeface="Times New Roman"/>
              </a:rPr>
              <a:t>	</a:t>
            </a:r>
            <a:r>
              <a:rPr sz="2400" spc="-10" dirty="0">
                <a:latin typeface="Times New Roman"/>
                <a:cs typeface="Times New Roman"/>
              </a:rPr>
              <a:t>greedy </a:t>
            </a:r>
            <a:r>
              <a:rPr sz="2400" dirty="0">
                <a:latin typeface="Times New Roman"/>
                <a:cs typeface="Times New Roman"/>
              </a:rPr>
              <a:t>optimum</a:t>
            </a:r>
            <a:r>
              <a:rPr sz="2400" spc="-20" dirty="0">
                <a:latin typeface="Times New Roman"/>
                <a:cs typeface="Times New Roman"/>
              </a:rPr>
              <a:t> </a:t>
            </a:r>
            <a:r>
              <a:rPr sz="2400" spc="-10" dirty="0">
                <a:latin typeface="Times New Roman"/>
                <a:cs typeface="Times New Roman"/>
              </a:rPr>
              <a:t>solution.</a:t>
            </a:r>
            <a:endParaRPr sz="2400">
              <a:latin typeface="Times New Roman"/>
              <a:cs typeface="Times New Roman"/>
            </a:endParaRPr>
          </a:p>
          <a:p>
            <a:pPr marL="355600" indent="-342900">
              <a:lnSpc>
                <a:spcPct val="100000"/>
              </a:lnSpc>
              <a:spcBef>
                <a:spcPts val="25"/>
              </a:spcBef>
              <a:buClr>
                <a:srgbClr val="0F1141"/>
              </a:buClr>
              <a:buFont typeface="Wingdings"/>
              <a:buChar char=""/>
              <a:tabLst>
                <a:tab pos="355600" algn="l"/>
              </a:tabLst>
            </a:pPr>
            <a:r>
              <a:rPr sz="2400" dirty="0">
                <a:latin typeface="Times New Roman"/>
                <a:cs typeface="Times New Roman"/>
              </a:rPr>
              <a:t>Try</a:t>
            </a:r>
            <a:r>
              <a:rPr sz="2400" spc="-30"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other</a:t>
            </a:r>
            <a:r>
              <a:rPr sz="2400" spc="-35" dirty="0">
                <a:latin typeface="Times New Roman"/>
                <a:cs typeface="Times New Roman"/>
              </a:rPr>
              <a:t> </a:t>
            </a:r>
            <a:r>
              <a:rPr sz="2400" dirty="0">
                <a:latin typeface="Times New Roman"/>
                <a:cs typeface="Times New Roman"/>
              </a:rPr>
              <a:t>currencies</a:t>
            </a:r>
            <a:r>
              <a:rPr sz="2400" spc="-45" dirty="0">
                <a:latin typeface="Times New Roman"/>
                <a:cs typeface="Times New Roman"/>
              </a:rPr>
              <a:t> </a:t>
            </a:r>
            <a:r>
              <a:rPr sz="2400" spc="-50" dirty="0">
                <a:latin typeface="Times New Roman"/>
                <a:cs typeface="Times New Roman"/>
              </a:rPr>
              <a:t>…</a:t>
            </a:r>
            <a:endParaRPr sz="24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3540" y="1479930"/>
            <a:ext cx="8442960" cy="4062095"/>
          </a:xfrm>
          <a:prstGeom prst="rect">
            <a:avLst/>
          </a:prstGeom>
        </p:spPr>
        <p:txBody>
          <a:bodyPr vert="horz" wrap="square" lIns="0" tIns="53975" rIns="0" bIns="0" rtlCol="0">
            <a:spAutoFit/>
          </a:bodyPr>
          <a:lstStyle/>
          <a:p>
            <a:pPr marL="355600" marR="347980" indent="-342900">
              <a:lnSpc>
                <a:spcPts val="2590"/>
              </a:lnSpc>
              <a:spcBef>
                <a:spcPts val="425"/>
              </a:spcBef>
              <a:buClr>
                <a:srgbClr val="0F1141"/>
              </a:buClr>
              <a:buFont typeface="Wingdings"/>
              <a:buChar char=""/>
              <a:tabLst>
                <a:tab pos="355600" algn="l"/>
              </a:tabLst>
            </a:pP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some</a:t>
            </a:r>
            <a:r>
              <a:rPr sz="2400" spc="5" dirty="0">
                <a:latin typeface="Times New Roman"/>
                <a:cs typeface="Times New Roman"/>
              </a:rPr>
              <a:t> </a:t>
            </a:r>
            <a:r>
              <a:rPr sz="2400" dirty="0">
                <a:latin typeface="Times New Roman"/>
                <a:cs typeface="Times New Roman"/>
              </a:rPr>
              <a:t>(fictional)</a:t>
            </a:r>
            <a:r>
              <a:rPr sz="2400" spc="-50" dirty="0">
                <a:latin typeface="Times New Roman"/>
                <a:cs typeface="Times New Roman"/>
              </a:rPr>
              <a:t> </a:t>
            </a:r>
            <a:r>
              <a:rPr sz="2400" dirty="0">
                <a:latin typeface="Times New Roman"/>
                <a:cs typeface="Times New Roman"/>
              </a:rPr>
              <a:t>monetary</a:t>
            </a:r>
            <a:r>
              <a:rPr sz="2400" spc="-5" dirty="0">
                <a:latin typeface="Times New Roman"/>
                <a:cs typeface="Times New Roman"/>
              </a:rPr>
              <a:t> </a:t>
            </a:r>
            <a:r>
              <a:rPr sz="2400" dirty="0">
                <a:latin typeface="Times New Roman"/>
                <a:cs typeface="Times New Roman"/>
              </a:rPr>
              <a:t>system,</a:t>
            </a:r>
            <a:r>
              <a:rPr sz="2400" spc="-5" dirty="0">
                <a:latin typeface="Times New Roman"/>
                <a:cs typeface="Times New Roman"/>
              </a:rPr>
              <a:t> </a:t>
            </a:r>
            <a:r>
              <a:rPr sz="2400" dirty="0">
                <a:latin typeface="Times New Roman"/>
                <a:cs typeface="Times New Roman"/>
              </a:rPr>
              <a:t>“krons”</a:t>
            </a:r>
            <a:r>
              <a:rPr sz="2400" spc="-15" dirty="0">
                <a:latin typeface="Times New Roman"/>
                <a:cs typeface="Times New Roman"/>
              </a:rPr>
              <a:t> </a:t>
            </a:r>
            <a:r>
              <a:rPr sz="2400" dirty="0">
                <a:latin typeface="Times New Roman"/>
                <a:cs typeface="Times New Roman"/>
              </a:rPr>
              <a:t>come</a:t>
            </a:r>
            <a:r>
              <a:rPr sz="2400" spc="-5" dirty="0">
                <a:latin typeface="Times New Roman"/>
                <a:cs typeface="Times New Roman"/>
              </a:rPr>
              <a:t> </a:t>
            </a:r>
            <a:r>
              <a:rPr sz="2400" dirty="0">
                <a:latin typeface="Times New Roman"/>
                <a:cs typeface="Times New Roman"/>
              </a:rPr>
              <a:t>in</a:t>
            </a:r>
            <a:r>
              <a:rPr sz="2400" spc="5" dirty="0">
                <a:latin typeface="Times New Roman"/>
                <a:cs typeface="Times New Roman"/>
              </a:rPr>
              <a:t> </a:t>
            </a:r>
            <a:r>
              <a:rPr sz="2400" dirty="0">
                <a:solidFill>
                  <a:srgbClr val="C0504D"/>
                </a:solidFill>
                <a:latin typeface="Times New Roman"/>
                <a:cs typeface="Times New Roman"/>
              </a:rPr>
              <a:t>1</a:t>
            </a:r>
            <a:r>
              <a:rPr sz="2400" spc="-5" dirty="0">
                <a:solidFill>
                  <a:srgbClr val="C0504D"/>
                </a:solidFill>
                <a:latin typeface="Times New Roman"/>
                <a:cs typeface="Times New Roman"/>
              </a:rPr>
              <a:t> </a:t>
            </a:r>
            <a:r>
              <a:rPr sz="2400" dirty="0">
                <a:latin typeface="Times New Roman"/>
                <a:cs typeface="Times New Roman"/>
              </a:rPr>
              <a:t>kron,</a:t>
            </a:r>
            <a:r>
              <a:rPr sz="2400" spc="-5" dirty="0">
                <a:latin typeface="Times New Roman"/>
                <a:cs typeface="Times New Roman"/>
              </a:rPr>
              <a:t> </a:t>
            </a:r>
            <a:r>
              <a:rPr sz="2400" spc="-50" dirty="0">
                <a:solidFill>
                  <a:srgbClr val="C0504D"/>
                </a:solidFill>
                <a:latin typeface="Times New Roman"/>
                <a:cs typeface="Times New Roman"/>
              </a:rPr>
              <a:t>7 </a:t>
            </a:r>
            <a:r>
              <a:rPr sz="2400" dirty="0">
                <a:latin typeface="Times New Roman"/>
                <a:cs typeface="Times New Roman"/>
              </a:rPr>
              <a:t>kron,</a:t>
            </a:r>
            <a:r>
              <a:rPr sz="2400" spc="-5"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solidFill>
                  <a:srgbClr val="C0504D"/>
                </a:solidFill>
                <a:latin typeface="Times New Roman"/>
                <a:cs typeface="Times New Roman"/>
              </a:rPr>
              <a:t>10</a:t>
            </a:r>
            <a:r>
              <a:rPr sz="2400" spc="-5" dirty="0">
                <a:solidFill>
                  <a:srgbClr val="C0504D"/>
                </a:solidFill>
                <a:latin typeface="Times New Roman"/>
                <a:cs typeface="Times New Roman"/>
              </a:rPr>
              <a:t> </a:t>
            </a:r>
            <a:r>
              <a:rPr sz="2400" dirty="0">
                <a:latin typeface="Times New Roman"/>
                <a:cs typeface="Times New Roman"/>
              </a:rPr>
              <a:t>kron </a:t>
            </a:r>
            <a:r>
              <a:rPr sz="2400" spc="-10" dirty="0">
                <a:latin typeface="Times New Roman"/>
                <a:cs typeface="Times New Roman"/>
              </a:rPr>
              <a:t>coins</a:t>
            </a:r>
            <a:endParaRPr sz="2400">
              <a:latin typeface="Times New Roman"/>
              <a:cs typeface="Times New Roman"/>
            </a:endParaRPr>
          </a:p>
          <a:p>
            <a:pPr marL="355600" indent="-342900">
              <a:lnSpc>
                <a:spcPct val="100000"/>
              </a:lnSpc>
              <a:spcBef>
                <a:spcPts val="254"/>
              </a:spcBef>
              <a:buClr>
                <a:srgbClr val="0F1141"/>
              </a:buClr>
              <a:buFont typeface="Wingdings"/>
              <a:buChar char=""/>
              <a:tabLst>
                <a:tab pos="355600" algn="l"/>
              </a:tabLst>
            </a:pPr>
            <a:r>
              <a:rPr sz="2400" dirty="0">
                <a:latin typeface="Times New Roman"/>
                <a:cs typeface="Times New Roman"/>
              </a:rPr>
              <a:t>Using</a:t>
            </a:r>
            <a:r>
              <a:rPr sz="2400" spc="-5" dirty="0">
                <a:latin typeface="Times New Roman"/>
                <a:cs typeface="Times New Roman"/>
              </a:rPr>
              <a:t> </a:t>
            </a:r>
            <a:r>
              <a:rPr sz="2400" dirty="0">
                <a:latin typeface="Times New Roman"/>
                <a:cs typeface="Times New Roman"/>
              </a:rPr>
              <a:t>a greedy</a:t>
            </a:r>
            <a:r>
              <a:rPr sz="2400" spc="-30" dirty="0">
                <a:latin typeface="Times New Roman"/>
                <a:cs typeface="Times New Roman"/>
              </a:rPr>
              <a:t> </a:t>
            </a:r>
            <a:r>
              <a:rPr sz="2400" dirty="0">
                <a:latin typeface="Times New Roman"/>
                <a:cs typeface="Times New Roman"/>
              </a:rPr>
              <a:t>algorithm</a:t>
            </a:r>
            <a:r>
              <a:rPr sz="2400" spc="-50" dirty="0">
                <a:latin typeface="Times New Roman"/>
                <a:cs typeface="Times New Roman"/>
              </a:rPr>
              <a:t> </a:t>
            </a:r>
            <a:r>
              <a:rPr sz="2400" dirty="0">
                <a:latin typeface="Times New Roman"/>
                <a:cs typeface="Times New Roman"/>
              </a:rPr>
              <a:t>to count</a:t>
            </a:r>
            <a:r>
              <a:rPr sz="2400" spc="-20" dirty="0">
                <a:latin typeface="Times New Roman"/>
                <a:cs typeface="Times New Roman"/>
              </a:rPr>
              <a:t> </a:t>
            </a:r>
            <a:r>
              <a:rPr sz="2400" dirty="0">
                <a:latin typeface="Times New Roman"/>
                <a:cs typeface="Times New Roman"/>
              </a:rPr>
              <a:t>out</a:t>
            </a:r>
            <a:r>
              <a:rPr sz="2400" spc="-5" dirty="0">
                <a:latin typeface="Times New Roman"/>
                <a:cs typeface="Times New Roman"/>
              </a:rPr>
              <a:t> </a:t>
            </a:r>
            <a:r>
              <a:rPr sz="2400" dirty="0">
                <a:latin typeface="Times New Roman"/>
                <a:cs typeface="Times New Roman"/>
              </a:rPr>
              <a:t>15</a:t>
            </a:r>
            <a:r>
              <a:rPr sz="2400" spc="-5" dirty="0">
                <a:latin typeface="Times New Roman"/>
                <a:cs typeface="Times New Roman"/>
              </a:rPr>
              <a:t> </a:t>
            </a:r>
            <a:r>
              <a:rPr sz="2400" dirty="0">
                <a:latin typeface="Times New Roman"/>
                <a:cs typeface="Times New Roman"/>
              </a:rPr>
              <a:t>krons,</a:t>
            </a:r>
            <a:r>
              <a:rPr sz="2400" spc="-10" dirty="0">
                <a:latin typeface="Times New Roman"/>
                <a:cs typeface="Times New Roman"/>
              </a:rPr>
              <a:t> </a:t>
            </a:r>
            <a:r>
              <a:rPr sz="2400" dirty="0">
                <a:latin typeface="Times New Roman"/>
                <a:cs typeface="Times New Roman"/>
              </a:rPr>
              <a:t>you</a:t>
            </a:r>
            <a:r>
              <a:rPr sz="2400" spc="-5" dirty="0">
                <a:latin typeface="Times New Roman"/>
                <a:cs typeface="Times New Roman"/>
              </a:rPr>
              <a:t> </a:t>
            </a:r>
            <a:r>
              <a:rPr sz="2400" dirty="0">
                <a:latin typeface="Times New Roman"/>
                <a:cs typeface="Times New Roman"/>
              </a:rPr>
              <a:t>would</a:t>
            </a:r>
            <a:r>
              <a:rPr sz="2400" spc="-5" dirty="0">
                <a:latin typeface="Times New Roman"/>
                <a:cs typeface="Times New Roman"/>
              </a:rPr>
              <a:t> </a:t>
            </a:r>
            <a:r>
              <a:rPr sz="2400" spc="-25" dirty="0">
                <a:latin typeface="Times New Roman"/>
                <a:cs typeface="Times New Roman"/>
              </a:rPr>
              <a:t>get</a:t>
            </a:r>
            <a:endParaRPr sz="2400">
              <a:latin typeface="Times New Roman"/>
              <a:cs typeface="Times New Roman"/>
            </a:endParaRPr>
          </a:p>
          <a:p>
            <a:pPr marL="756285" lvl="1" indent="-287020">
              <a:lnSpc>
                <a:spcPct val="100000"/>
              </a:lnSpc>
              <a:spcBef>
                <a:spcPts val="275"/>
              </a:spcBef>
              <a:buFont typeface="Wingdings"/>
              <a:buChar char=""/>
              <a:tabLst>
                <a:tab pos="756920" algn="l"/>
              </a:tabLst>
            </a:pPr>
            <a:r>
              <a:rPr sz="2200" spc="-20" dirty="0">
                <a:latin typeface="Times New Roman"/>
                <a:cs typeface="Times New Roman"/>
              </a:rPr>
              <a:t>A</a:t>
            </a:r>
            <a:r>
              <a:rPr sz="2200" spc="-125" dirty="0">
                <a:latin typeface="Times New Roman"/>
                <a:cs typeface="Times New Roman"/>
              </a:rPr>
              <a:t> </a:t>
            </a:r>
            <a:r>
              <a:rPr sz="2200" dirty="0">
                <a:latin typeface="Times New Roman"/>
                <a:cs typeface="Times New Roman"/>
              </a:rPr>
              <a:t>10</a:t>
            </a:r>
            <a:r>
              <a:rPr sz="2200" spc="-40" dirty="0">
                <a:latin typeface="Times New Roman"/>
                <a:cs typeface="Times New Roman"/>
              </a:rPr>
              <a:t> </a:t>
            </a:r>
            <a:r>
              <a:rPr sz="2200" dirty="0">
                <a:latin typeface="Times New Roman"/>
                <a:cs typeface="Times New Roman"/>
              </a:rPr>
              <a:t>kron</a:t>
            </a:r>
            <a:r>
              <a:rPr sz="2200" spc="-20" dirty="0">
                <a:latin typeface="Times New Roman"/>
                <a:cs typeface="Times New Roman"/>
              </a:rPr>
              <a:t> </a:t>
            </a:r>
            <a:r>
              <a:rPr sz="2200" spc="-10" dirty="0">
                <a:latin typeface="Times New Roman"/>
                <a:cs typeface="Times New Roman"/>
              </a:rPr>
              <a:t>piece</a:t>
            </a:r>
            <a:endParaRPr sz="2200">
              <a:latin typeface="Times New Roman"/>
              <a:cs typeface="Times New Roman"/>
            </a:endParaRPr>
          </a:p>
          <a:p>
            <a:pPr marL="756285" lvl="1" indent="-287020">
              <a:lnSpc>
                <a:spcPct val="100000"/>
              </a:lnSpc>
              <a:spcBef>
                <a:spcPts val="260"/>
              </a:spcBef>
              <a:buFont typeface="Wingdings"/>
              <a:buChar char=""/>
              <a:tabLst>
                <a:tab pos="756920" algn="l"/>
              </a:tabLst>
            </a:pPr>
            <a:r>
              <a:rPr sz="2200" dirty="0">
                <a:latin typeface="Times New Roman"/>
                <a:cs typeface="Times New Roman"/>
              </a:rPr>
              <a:t>Five</a:t>
            </a:r>
            <a:r>
              <a:rPr sz="2200" spc="-35" dirty="0">
                <a:latin typeface="Times New Roman"/>
                <a:cs typeface="Times New Roman"/>
              </a:rPr>
              <a:t> </a:t>
            </a:r>
            <a:r>
              <a:rPr sz="2200" dirty="0">
                <a:latin typeface="Times New Roman"/>
                <a:cs typeface="Times New Roman"/>
              </a:rPr>
              <a:t>1</a:t>
            </a:r>
            <a:r>
              <a:rPr sz="2200" spc="-30" dirty="0">
                <a:latin typeface="Times New Roman"/>
                <a:cs typeface="Times New Roman"/>
              </a:rPr>
              <a:t> </a:t>
            </a:r>
            <a:r>
              <a:rPr sz="2200" dirty="0">
                <a:latin typeface="Times New Roman"/>
                <a:cs typeface="Times New Roman"/>
              </a:rPr>
              <a:t>kron</a:t>
            </a:r>
            <a:r>
              <a:rPr sz="2200" spc="-25" dirty="0">
                <a:latin typeface="Times New Roman"/>
                <a:cs typeface="Times New Roman"/>
              </a:rPr>
              <a:t> </a:t>
            </a:r>
            <a:r>
              <a:rPr sz="2200" dirty="0">
                <a:latin typeface="Times New Roman"/>
                <a:cs typeface="Times New Roman"/>
              </a:rPr>
              <a:t>pieces,</a:t>
            </a:r>
            <a:r>
              <a:rPr sz="2200" spc="-30" dirty="0">
                <a:latin typeface="Times New Roman"/>
                <a:cs typeface="Times New Roman"/>
              </a:rPr>
              <a:t> </a:t>
            </a:r>
            <a:r>
              <a:rPr sz="2200" dirty="0">
                <a:latin typeface="Times New Roman"/>
                <a:cs typeface="Times New Roman"/>
              </a:rPr>
              <a:t>for</a:t>
            </a:r>
            <a:r>
              <a:rPr sz="2200" spc="-35" dirty="0">
                <a:latin typeface="Times New Roman"/>
                <a:cs typeface="Times New Roman"/>
              </a:rPr>
              <a:t> </a:t>
            </a:r>
            <a:r>
              <a:rPr sz="2200" dirty="0">
                <a:latin typeface="Times New Roman"/>
                <a:cs typeface="Times New Roman"/>
              </a:rPr>
              <a:t>a</a:t>
            </a:r>
            <a:r>
              <a:rPr sz="2200" spc="-30" dirty="0">
                <a:latin typeface="Times New Roman"/>
                <a:cs typeface="Times New Roman"/>
              </a:rPr>
              <a:t> </a:t>
            </a:r>
            <a:r>
              <a:rPr sz="2200" dirty="0">
                <a:latin typeface="Times New Roman"/>
                <a:cs typeface="Times New Roman"/>
              </a:rPr>
              <a:t>total</a:t>
            </a:r>
            <a:r>
              <a:rPr sz="2200" spc="-35" dirty="0">
                <a:latin typeface="Times New Roman"/>
                <a:cs typeface="Times New Roman"/>
              </a:rPr>
              <a:t> </a:t>
            </a:r>
            <a:r>
              <a:rPr sz="2200" dirty="0">
                <a:latin typeface="Times New Roman"/>
                <a:cs typeface="Times New Roman"/>
              </a:rPr>
              <a:t>of</a:t>
            </a:r>
            <a:r>
              <a:rPr sz="2200" spc="-30" dirty="0">
                <a:latin typeface="Times New Roman"/>
                <a:cs typeface="Times New Roman"/>
              </a:rPr>
              <a:t> </a:t>
            </a:r>
            <a:r>
              <a:rPr sz="2200" dirty="0">
                <a:latin typeface="Times New Roman"/>
                <a:cs typeface="Times New Roman"/>
              </a:rPr>
              <a:t>15</a:t>
            </a:r>
            <a:r>
              <a:rPr sz="2200" spc="-35" dirty="0">
                <a:latin typeface="Times New Roman"/>
                <a:cs typeface="Times New Roman"/>
              </a:rPr>
              <a:t> </a:t>
            </a:r>
            <a:r>
              <a:rPr sz="2200" spc="-10" dirty="0">
                <a:latin typeface="Times New Roman"/>
                <a:cs typeface="Times New Roman"/>
              </a:rPr>
              <a:t>krons</a:t>
            </a:r>
            <a:endParaRPr sz="2200">
              <a:latin typeface="Times New Roman"/>
              <a:cs typeface="Times New Roman"/>
            </a:endParaRPr>
          </a:p>
          <a:p>
            <a:pPr marL="756285" lvl="1" indent="-287020">
              <a:lnSpc>
                <a:spcPct val="100000"/>
              </a:lnSpc>
              <a:spcBef>
                <a:spcPts val="265"/>
              </a:spcBef>
              <a:buFont typeface="Wingdings"/>
              <a:buChar char=""/>
              <a:tabLst>
                <a:tab pos="756920" algn="l"/>
              </a:tabLst>
            </a:pPr>
            <a:r>
              <a:rPr sz="2200" dirty="0">
                <a:latin typeface="Times New Roman"/>
                <a:cs typeface="Times New Roman"/>
              </a:rPr>
              <a:t>This</a:t>
            </a:r>
            <a:r>
              <a:rPr sz="2200" spc="-50" dirty="0">
                <a:latin typeface="Times New Roman"/>
                <a:cs typeface="Times New Roman"/>
              </a:rPr>
              <a:t> </a:t>
            </a:r>
            <a:r>
              <a:rPr sz="2200" dirty="0">
                <a:latin typeface="Times New Roman"/>
                <a:cs typeface="Times New Roman"/>
              </a:rPr>
              <a:t>requires</a:t>
            </a:r>
            <a:r>
              <a:rPr sz="2200" spc="-45" dirty="0">
                <a:latin typeface="Times New Roman"/>
                <a:cs typeface="Times New Roman"/>
              </a:rPr>
              <a:t> </a:t>
            </a:r>
            <a:r>
              <a:rPr sz="2200" dirty="0">
                <a:latin typeface="Times New Roman"/>
                <a:cs typeface="Times New Roman"/>
              </a:rPr>
              <a:t>six</a:t>
            </a:r>
            <a:r>
              <a:rPr sz="2200" spc="-45" dirty="0">
                <a:latin typeface="Times New Roman"/>
                <a:cs typeface="Times New Roman"/>
              </a:rPr>
              <a:t> </a:t>
            </a:r>
            <a:r>
              <a:rPr sz="2200" spc="-10" dirty="0">
                <a:latin typeface="Times New Roman"/>
                <a:cs typeface="Times New Roman"/>
              </a:rPr>
              <a:t>coins</a:t>
            </a:r>
            <a:endParaRPr sz="2200">
              <a:latin typeface="Times New Roman"/>
              <a:cs typeface="Times New Roman"/>
            </a:endParaRPr>
          </a:p>
          <a:p>
            <a:pPr marL="355600" marR="559435" indent="-342900">
              <a:lnSpc>
                <a:spcPts val="2590"/>
              </a:lnSpc>
              <a:spcBef>
                <a:spcPts val="610"/>
              </a:spcBef>
              <a:buClr>
                <a:srgbClr val="0F1141"/>
              </a:buClr>
              <a:buFont typeface="Wingdings"/>
              <a:buChar char=""/>
              <a:tabLst>
                <a:tab pos="355600" algn="l"/>
              </a:tabLst>
            </a:pPr>
            <a:r>
              <a:rPr sz="2400" dirty="0">
                <a:latin typeface="Times New Roman"/>
                <a:cs typeface="Times New Roman"/>
              </a:rPr>
              <a:t>A</a:t>
            </a:r>
            <a:r>
              <a:rPr sz="2400" spc="-135" dirty="0">
                <a:latin typeface="Times New Roman"/>
                <a:cs typeface="Times New Roman"/>
              </a:rPr>
              <a:t> </a:t>
            </a:r>
            <a:r>
              <a:rPr sz="2400" dirty="0">
                <a:latin typeface="Times New Roman"/>
                <a:cs typeface="Times New Roman"/>
              </a:rPr>
              <a:t>better</a:t>
            </a:r>
            <a:r>
              <a:rPr sz="2400" spc="-35" dirty="0">
                <a:latin typeface="Times New Roman"/>
                <a:cs typeface="Times New Roman"/>
              </a:rPr>
              <a:t> </a:t>
            </a:r>
            <a:r>
              <a:rPr sz="2400" dirty="0">
                <a:latin typeface="Times New Roman"/>
                <a:cs typeface="Times New Roman"/>
              </a:rPr>
              <a:t>solution</a:t>
            </a:r>
            <a:r>
              <a:rPr sz="2400" spc="-25" dirty="0">
                <a:latin typeface="Times New Roman"/>
                <a:cs typeface="Times New Roman"/>
              </a:rPr>
              <a:t> </a:t>
            </a:r>
            <a:r>
              <a:rPr sz="2400" dirty="0">
                <a:latin typeface="Times New Roman"/>
                <a:cs typeface="Times New Roman"/>
              </a:rPr>
              <a:t>would</a:t>
            </a:r>
            <a:r>
              <a:rPr sz="2400" spc="-10" dirty="0">
                <a:latin typeface="Times New Roman"/>
                <a:cs typeface="Times New Roman"/>
              </a:rPr>
              <a:t> </a:t>
            </a:r>
            <a:r>
              <a:rPr sz="2400" dirty="0">
                <a:latin typeface="Times New Roman"/>
                <a:cs typeface="Times New Roman"/>
              </a:rPr>
              <a:t>be</a:t>
            </a:r>
            <a:r>
              <a:rPr sz="2400" spc="-15"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use</a:t>
            </a:r>
            <a:r>
              <a:rPr sz="2400" spc="-5" dirty="0">
                <a:latin typeface="Times New Roman"/>
                <a:cs typeface="Times New Roman"/>
              </a:rPr>
              <a:t> </a:t>
            </a:r>
            <a:r>
              <a:rPr sz="2400" dirty="0">
                <a:latin typeface="Times New Roman"/>
                <a:cs typeface="Times New Roman"/>
              </a:rPr>
              <a:t>two</a:t>
            </a:r>
            <a:r>
              <a:rPr sz="2400" spc="-5" dirty="0">
                <a:latin typeface="Times New Roman"/>
                <a:cs typeface="Times New Roman"/>
              </a:rPr>
              <a:t> </a:t>
            </a:r>
            <a:r>
              <a:rPr sz="2400" dirty="0">
                <a:latin typeface="Times New Roman"/>
                <a:cs typeface="Times New Roman"/>
              </a:rPr>
              <a:t>7</a:t>
            </a:r>
            <a:r>
              <a:rPr sz="2400" spc="-10" dirty="0">
                <a:latin typeface="Times New Roman"/>
                <a:cs typeface="Times New Roman"/>
              </a:rPr>
              <a:t> </a:t>
            </a:r>
            <a:r>
              <a:rPr sz="2400" dirty="0">
                <a:latin typeface="Times New Roman"/>
                <a:cs typeface="Times New Roman"/>
              </a:rPr>
              <a:t>kron</a:t>
            </a:r>
            <a:r>
              <a:rPr sz="2400" spc="-5" dirty="0">
                <a:latin typeface="Times New Roman"/>
                <a:cs typeface="Times New Roman"/>
              </a:rPr>
              <a:t> </a:t>
            </a:r>
            <a:r>
              <a:rPr sz="2400" dirty="0">
                <a:latin typeface="Times New Roman"/>
                <a:cs typeface="Times New Roman"/>
              </a:rPr>
              <a:t>pieces</a:t>
            </a:r>
            <a:r>
              <a:rPr sz="2400" spc="-30" dirty="0">
                <a:latin typeface="Times New Roman"/>
                <a:cs typeface="Times New Roman"/>
              </a:rPr>
              <a:t> </a:t>
            </a:r>
            <a:r>
              <a:rPr sz="2400" dirty="0">
                <a:latin typeface="Times New Roman"/>
                <a:cs typeface="Times New Roman"/>
              </a:rPr>
              <a:t>and</a:t>
            </a:r>
            <a:r>
              <a:rPr sz="2400" spc="-15" dirty="0">
                <a:latin typeface="Times New Roman"/>
                <a:cs typeface="Times New Roman"/>
              </a:rPr>
              <a:t> </a:t>
            </a:r>
            <a:r>
              <a:rPr sz="2400" dirty="0">
                <a:latin typeface="Times New Roman"/>
                <a:cs typeface="Times New Roman"/>
              </a:rPr>
              <a:t>one</a:t>
            </a:r>
            <a:r>
              <a:rPr sz="2400" spc="-5" dirty="0">
                <a:latin typeface="Times New Roman"/>
                <a:cs typeface="Times New Roman"/>
              </a:rPr>
              <a:t> </a:t>
            </a:r>
            <a:r>
              <a:rPr sz="2400" spc="-50" dirty="0">
                <a:latin typeface="Times New Roman"/>
                <a:cs typeface="Times New Roman"/>
              </a:rPr>
              <a:t>1 </a:t>
            </a:r>
            <a:r>
              <a:rPr sz="2400" dirty="0">
                <a:latin typeface="Times New Roman"/>
                <a:cs typeface="Times New Roman"/>
              </a:rPr>
              <a:t>kron </a:t>
            </a:r>
            <a:r>
              <a:rPr sz="2400" spc="-10" dirty="0">
                <a:latin typeface="Times New Roman"/>
                <a:cs typeface="Times New Roman"/>
              </a:rPr>
              <a:t>piece</a:t>
            </a:r>
            <a:endParaRPr sz="2400">
              <a:latin typeface="Times New Roman"/>
              <a:cs typeface="Times New Roman"/>
            </a:endParaRPr>
          </a:p>
          <a:p>
            <a:pPr marL="756285" lvl="1" indent="-287020">
              <a:lnSpc>
                <a:spcPct val="100000"/>
              </a:lnSpc>
              <a:spcBef>
                <a:spcPts val="235"/>
              </a:spcBef>
              <a:buFont typeface="Wingdings"/>
              <a:buChar char=""/>
              <a:tabLst>
                <a:tab pos="756920" algn="l"/>
              </a:tabLst>
            </a:pPr>
            <a:r>
              <a:rPr sz="2200" dirty="0">
                <a:latin typeface="Times New Roman"/>
                <a:cs typeface="Times New Roman"/>
              </a:rPr>
              <a:t>This</a:t>
            </a:r>
            <a:r>
              <a:rPr sz="2200" spc="-50" dirty="0">
                <a:latin typeface="Times New Roman"/>
                <a:cs typeface="Times New Roman"/>
              </a:rPr>
              <a:t> </a:t>
            </a:r>
            <a:r>
              <a:rPr sz="2200" dirty="0">
                <a:latin typeface="Times New Roman"/>
                <a:cs typeface="Times New Roman"/>
              </a:rPr>
              <a:t>only</a:t>
            </a:r>
            <a:r>
              <a:rPr sz="2200" spc="-55" dirty="0">
                <a:latin typeface="Times New Roman"/>
                <a:cs typeface="Times New Roman"/>
              </a:rPr>
              <a:t> </a:t>
            </a:r>
            <a:r>
              <a:rPr sz="2200" dirty="0">
                <a:latin typeface="Times New Roman"/>
                <a:cs typeface="Times New Roman"/>
              </a:rPr>
              <a:t>requires</a:t>
            </a:r>
            <a:r>
              <a:rPr sz="2200" spc="-50" dirty="0">
                <a:latin typeface="Times New Roman"/>
                <a:cs typeface="Times New Roman"/>
              </a:rPr>
              <a:t> </a:t>
            </a:r>
            <a:r>
              <a:rPr sz="2200" dirty="0">
                <a:latin typeface="Times New Roman"/>
                <a:cs typeface="Times New Roman"/>
              </a:rPr>
              <a:t>three</a:t>
            </a:r>
            <a:r>
              <a:rPr sz="2200" spc="-40" dirty="0">
                <a:latin typeface="Times New Roman"/>
                <a:cs typeface="Times New Roman"/>
              </a:rPr>
              <a:t> </a:t>
            </a:r>
            <a:r>
              <a:rPr sz="2200" spc="-20" dirty="0">
                <a:latin typeface="Times New Roman"/>
                <a:cs typeface="Times New Roman"/>
              </a:rPr>
              <a:t>coins</a:t>
            </a:r>
            <a:endParaRPr sz="2200">
              <a:latin typeface="Times New Roman"/>
              <a:cs typeface="Times New Roman"/>
            </a:endParaRPr>
          </a:p>
          <a:p>
            <a:pPr marL="355600" indent="-342900">
              <a:lnSpc>
                <a:spcPts val="2735"/>
              </a:lnSpc>
              <a:spcBef>
                <a:spcPts val="280"/>
              </a:spcBef>
              <a:buClr>
                <a:srgbClr val="0F1141"/>
              </a:buClr>
              <a:buFont typeface="Wingdings"/>
              <a:buChar char=""/>
              <a:tabLst>
                <a:tab pos="355600" algn="l"/>
              </a:tabLst>
            </a:pPr>
            <a:r>
              <a:rPr sz="2400" dirty="0">
                <a:latin typeface="Times New Roman"/>
                <a:cs typeface="Times New Roman"/>
              </a:rPr>
              <a:t>In this</a:t>
            </a:r>
            <a:r>
              <a:rPr sz="2400" spc="-25" dirty="0">
                <a:latin typeface="Times New Roman"/>
                <a:cs typeface="Times New Roman"/>
              </a:rPr>
              <a:t> </a:t>
            </a:r>
            <a:r>
              <a:rPr sz="2400" dirty="0">
                <a:latin typeface="Times New Roman"/>
                <a:cs typeface="Times New Roman"/>
              </a:rPr>
              <a:t>case,</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greedy</a:t>
            </a:r>
            <a:r>
              <a:rPr sz="2400" spc="-25" dirty="0">
                <a:latin typeface="Times New Roman"/>
                <a:cs typeface="Times New Roman"/>
              </a:rPr>
              <a:t> </a:t>
            </a:r>
            <a:r>
              <a:rPr sz="2400" dirty="0">
                <a:latin typeface="Times New Roman"/>
                <a:cs typeface="Times New Roman"/>
              </a:rPr>
              <a:t>algorithm</a:t>
            </a:r>
            <a:r>
              <a:rPr sz="2400" spc="-25" dirty="0">
                <a:latin typeface="Times New Roman"/>
                <a:cs typeface="Times New Roman"/>
              </a:rPr>
              <a:t> </a:t>
            </a:r>
            <a:r>
              <a:rPr sz="2400" dirty="0">
                <a:latin typeface="Times New Roman"/>
                <a:cs typeface="Times New Roman"/>
              </a:rPr>
              <a:t>results</a:t>
            </a:r>
            <a:r>
              <a:rPr sz="2400" spc="-35" dirty="0">
                <a:latin typeface="Times New Roman"/>
                <a:cs typeface="Times New Roman"/>
              </a:rPr>
              <a:t> </a:t>
            </a:r>
            <a:r>
              <a:rPr sz="2400" dirty="0">
                <a:latin typeface="Times New Roman"/>
                <a:cs typeface="Times New Roman"/>
              </a:rPr>
              <a:t>in a</a:t>
            </a:r>
            <a:r>
              <a:rPr sz="2400" spc="-10" dirty="0">
                <a:latin typeface="Times New Roman"/>
                <a:cs typeface="Times New Roman"/>
              </a:rPr>
              <a:t> </a:t>
            </a:r>
            <a:r>
              <a:rPr sz="2400" dirty="0">
                <a:latin typeface="Times New Roman"/>
                <a:cs typeface="Times New Roman"/>
              </a:rPr>
              <a:t>feasible</a:t>
            </a:r>
            <a:r>
              <a:rPr sz="2400" spc="-20" dirty="0">
                <a:latin typeface="Times New Roman"/>
                <a:cs typeface="Times New Roman"/>
              </a:rPr>
              <a:t> </a:t>
            </a:r>
            <a:r>
              <a:rPr sz="2400" dirty="0">
                <a:latin typeface="Times New Roman"/>
                <a:cs typeface="Times New Roman"/>
              </a:rPr>
              <a:t>solution,</a:t>
            </a:r>
            <a:r>
              <a:rPr sz="2400" spc="-20" dirty="0">
                <a:latin typeface="Times New Roman"/>
                <a:cs typeface="Times New Roman"/>
              </a:rPr>
              <a:t> </a:t>
            </a:r>
            <a:r>
              <a:rPr sz="2400" spc="-25" dirty="0">
                <a:latin typeface="Times New Roman"/>
                <a:cs typeface="Times New Roman"/>
              </a:rPr>
              <a:t>but</a:t>
            </a:r>
            <a:endParaRPr sz="2400">
              <a:latin typeface="Times New Roman"/>
              <a:cs typeface="Times New Roman"/>
            </a:endParaRPr>
          </a:p>
          <a:p>
            <a:pPr marL="355600">
              <a:lnSpc>
                <a:spcPts val="2735"/>
              </a:lnSpc>
            </a:pPr>
            <a:r>
              <a:rPr sz="2400" dirty="0">
                <a:latin typeface="Times New Roman"/>
                <a:cs typeface="Times New Roman"/>
              </a:rPr>
              <a:t>not</a:t>
            </a:r>
            <a:r>
              <a:rPr sz="2400" spc="-15"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an</a:t>
            </a:r>
            <a:r>
              <a:rPr sz="2400" spc="-5" dirty="0">
                <a:latin typeface="Times New Roman"/>
                <a:cs typeface="Times New Roman"/>
              </a:rPr>
              <a:t> </a:t>
            </a:r>
            <a:r>
              <a:rPr sz="2400" dirty="0">
                <a:latin typeface="Times New Roman"/>
                <a:cs typeface="Times New Roman"/>
              </a:rPr>
              <a:t>optimal</a:t>
            </a:r>
            <a:r>
              <a:rPr sz="2400" spc="-20" dirty="0">
                <a:latin typeface="Times New Roman"/>
                <a:cs typeface="Times New Roman"/>
              </a:rPr>
              <a:t> </a:t>
            </a:r>
            <a:r>
              <a:rPr sz="2400" dirty="0">
                <a:latin typeface="Times New Roman"/>
                <a:cs typeface="Times New Roman"/>
              </a:rPr>
              <a:t>solution</a:t>
            </a:r>
            <a:r>
              <a:rPr sz="2400" spc="-20" dirty="0">
                <a:latin typeface="Times New Roman"/>
                <a:cs typeface="Times New Roman"/>
              </a:rPr>
              <a:t> </a:t>
            </a:r>
            <a:r>
              <a:rPr sz="2400" spc="-25" dirty="0">
                <a:latin typeface="Times New Roman"/>
                <a:cs typeface="Times New Roman"/>
              </a:rPr>
              <a:t>!!</a:t>
            </a:r>
            <a:endParaRPr sz="2400">
              <a:latin typeface="Times New Roman"/>
              <a:cs typeface="Times New Roman"/>
            </a:endParaRPr>
          </a:p>
        </p:txBody>
      </p:sp>
      <p:sp>
        <p:nvSpPr>
          <p:cNvPr id="7" name="Content Placeholder 6">
            <a:extLst>
              <a:ext uri="{FF2B5EF4-FFF2-40B4-BE49-F238E27FC236}">
                <a16:creationId xmlns:a16="http://schemas.microsoft.com/office/drawing/2014/main" id="{81FBCEE3-1CDD-15B5-3B76-19BF15A0B996}"/>
              </a:ext>
            </a:extLst>
          </p:cNvPr>
          <p:cNvSpPr>
            <a:spLocks noGrp="1"/>
          </p:cNvSpPr>
          <p:nvPr>
            <p:ph sz="quarter" idx="10"/>
          </p:nvPr>
        </p:nvSpPr>
        <p:spPr/>
        <p:txBody>
          <a:bodyPr/>
          <a:lstStyle/>
          <a:p>
            <a:r>
              <a:rPr lang="en-US" dirty="0"/>
              <a:t>A</a:t>
            </a:r>
            <a:r>
              <a:rPr lang="en-US" spc="-430" dirty="0"/>
              <a:t> </a:t>
            </a:r>
            <a:r>
              <a:rPr lang="en-US" spc="-145" dirty="0"/>
              <a:t>failure</a:t>
            </a:r>
            <a:r>
              <a:rPr lang="en-US" spc="-245" dirty="0"/>
              <a:t> </a:t>
            </a:r>
            <a:r>
              <a:rPr lang="en-US" spc="-90" dirty="0"/>
              <a:t>of</a:t>
            </a:r>
            <a:r>
              <a:rPr lang="en-US" spc="-275" dirty="0"/>
              <a:t> </a:t>
            </a:r>
            <a:r>
              <a:rPr lang="en-US" spc="-114" dirty="0"/>
              <a:t>the</a:t>
            </a:r>
            <a:r>
              <a:rPr lang="en-US" spc="-260" dirty="0"/>
              <a:t> </a:t>
            </a:r>
            <a:r>
              <a:rPr lang="en-US" spc="-135" dirty="0"/>
              <a:t>Greedy </a:t>
            </a:r>
            <a:r>
              <a:rPr lang="en-US" spc="-45" dirty="0"/>
              <a:t>Algorithm</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066800"/>
          </a:xfrm>
        </p:spPr>
        <p:txBody>
          <a:bodyPr>
            <a:normAutofit/>
          </a:bodyPr>
          <a:lstStyle/>
          <a:p>
            <a:pPr lvl="0"/>
            <a:r>
              <a:rPr lang="en-US" sz="3200" dirty="0"/>
              <a:t>Greedy Algorithms</a:t>
            </a:r>
          </a:p>
        </p:txBody>
      </p:sp>
      <p:sp>
        <p:nvSpPr>
          <p:cNvPr id="8" name="Rectangle 3">
            <a:extLst>
              <a:ext uri="{FF2B5EF4-FFF2-40B4-BE49-F238E27FC236}">
                <a16:creationId xmlns:a16="http://schemas.microsoft.com/office/drawing/2014/main" id="{32C439A4-199F-4372-9D88-D05750F5A12A}"/>
              </a:ext>
            </a:extLst>
          </p:cNvPr>
          <p:cNvSpPr>
            <a:spLocks noGrp="1" noChangeArrowheads="1"/>
          </p:cNvSpPr>
          <p:nvPr>
            <p:ph idx="1"/>
          </p:nvPr>
        </p:nvSpPr>
        <p:spPr>
          <a:xfrm>
            <a:off x="228600" y="1419705"/>
            <a:ext cx="8763000" cy="4876800"/>
          </a:xfrm>
        </p:spPr>
        <p:txBody>
          <a:bodyPr>
            <a:normAutofit/>
          </a:bodyPr>
          <a:lstStyle/>
          <a:p>
            <a:pPr algn="just">
              <a:buFont typeface="Arial" charset="0"/>
              <a:buChar char="•"/>
              <a:defRPr/>
            </a:pPr>
            <a:r>
              <a:rPr lang="en-US" sz="1800" dirty="0">
                <a:latin typeface="Times New Roman" pitchFamily="18" charset="0"/>
                <a:cs typeface="Times New Roman" pitchFamily="18" charset="0"/>
              </a:rPr>
              <a:t>Greedy Algorithms are also used for optimization problems.</a:t>
            </a:r>
          </a:p>
          <a:p>
            <a:pPr algn="just">
              <a:buFont typeface="Arial" charset="0"/>
              <a:buChar char="•"/>
              <a:defRPr/>
            </a:pPr>
            <a:endParaRPr lang="en-US" sz="1800" dirty="0">
              <a:latin typeface="Times New Roman" pitchFamily="18" charset="0"/>
              <a:cs typeface="Times New Roman" pitchFamily="18" charset="0"/>
            </a:endParaRPr>
          </a:p>
          <a:p>
            <a:pPr algn="just">
              <a:buFont typeface="Arial" charset="0"/>
              <a:buChar char="•"/>
              <a:defRPr/>
            </a:pPr>
            <a:r>
              <a:rPr lang="en-US" sz="1800" dirty="0">
                <a:latin typeface="Times New Roman" pitchFamily="18" charset="0"/>
                <a:cs typeface="Times New Roman" pitchFamily="18" charset="0"/>
              </a:rPr>
              <a:t>A Greedy Algorithm always makes the choice that looks best at that moment.</a:t>
            </a:r>
          </a:p>
          <a:p>
            <a:pPr marL="0" indent="0" algn="just">
              <a:defRPr/>
            </a:pPr>
            <a:endParaRPr lang="en-US" sz="1800" dirty="0">
              <a:latin typeface="Times New Roman" pitchFamily="18" charset="0"/>
              <a:cs typeface="Times New Roman" pitchFamily="18" charset="0"/>
            </a:endParaRPr>
          </a:p>
          <a:p>
            <a:pPr algn="just">
              <a:buFont typeface="Arial" charset="0"/>
              <a:buChar char="•"/>
              <a:defRPr/>
            </a:pPr>
            <a:r>
              <a:rPr lang="en-US" sz="1800" dirty="0">
                <a:latin typeface="Times New Roman" pitchFamily="18" charset="0"/>
                <a:cs typeface="Times New Roman" pitchFamily="18" charset="0"/>
              </a:rPr>
              <a:t>Greedy Algorithms do not always yield optimal solutions, but for many problems they do.</a:t>
            </a:r>
          </a:p>
          <a:p>
            <a:pPr marL="0" indent="0" algn="just">
              <a:defRPr/>
            </a:pPr>
            <a:endParaRPr lang="en-US" sz="1800" dirty="0">
              <a:latin typeface="Times New Roman" pitchFamily="18" charset="0"/>
              <a:cs typeface="Times New Roman" pitchFamily="18" charset="0"/>
            </a:endParaRPr>
          </a:p>
          <a:p>
            <a:pPr algn="just">
              <a:buFont typeface="Arial" charset="0"/>
              <a:buChar char="•"/>
              <a:defRPr/>
            </a:pPr>
            <a:r>
              <a:rPr lang="en-US" sz="1800" dirty="0">
                <a:latin typeface="Times New Roman" pitchFamily="18" charset="0"/>
                <a:cs typeface="Times New Roman" pitchFamily="18" charset="0"/>
              </a:rPr>
              <a:t>Examples</a:t>
            </a:r>
          </a:p>
          <a:p>
            <a:pPr lvl="1" algn="just">
              <a:buFont typeface="Arial" charset="0"/>
              <a:buChar char="•"/>
              <a:defRPr/>
            </a:pPr>
            <a:r>
              <a:rPr lang="en-US" sz="1400" dirty="0">
                <a:latin typeface="Times New Roman" pitchFamily="18" charset="0"/>
                <a:cs typeface="Times New Roman" pitchFamily="18" charset="0"/>
              </a:rPr>
              <a:t>Fractional Knapsack problem</a:t>
            </a:r>
          </a:p>
          <a:p>
            <a:pPr lvl="1" algn="just">
              <a:buFont typeface="Arial" charset="0"/>
              <a:buChar char="•"/>
              <a:defRPr/>
            </a:pPr>
            <a:r>
              <a:rPr lang="en-US" sz="1400" dirty="0">
                <a:latin typeface="Times New Roman" pitchFamily="18" charset="0"/>
                <a:cs typeface="Times New Roman" pitchFamily="18" charset="0"/>
              </a:rPr>
              <a:t>0/1 Knapsack problem</a:t>
            </a:r>
          </a:p>
          <a:p>
            <a:pPr lvl="2" algn="just">
              <a:buFont typeface="Arial" charset="0"/>
              <a:buChar char="•"/>
              <a:defRPr/>
            </a:pPr>
            <a:r>
              <a:rPr lang="en-US" sz="1400" dirty="0">
                <a:latin typeface="Times New Roman" pitchFamily="18" charset="0"/>
                <a:cs typeface="Times New Roman" pitchFamily="18" charset="0"/>
              </a:rPr>
              <a:t>Container problem (Volume and Profit)</a:t>
            </a:r>
          </a:p>
          <a:p>
            <a:pPr lvl="1" algn="just">
              <a:buFont typeface="Arial" charset="0"/>
              <a:buChar char="•"/>
              <a:defRPr/>
            </a:pPr>
            <a:r>
              <a:rPr lang="en-US" sz="1400" dirty="0">
                <a:latin typeface="Times New Roman" pitchFamily="18" charset="0"/>
                <a:cs typeface="Times New Roman" pitchFamily="18" charset="0"/>
              </a:rPr>
              <a:t>Data Compression (Huffman) Codes</a:t>
            </a:r>
          </a:p>
          <a:p>
            <a:pPr lvl="1" algn="just">
              <a:buFont typeface="Arial" charset="0"/>
              <a:buChar char="•"/>
              <a:defRPr/>
            </a:pPr>
            <a:r>
              <a:rPr lang="en-US" sz="1400" dirty="0">
                <a:latin typeface="Times New Roman" pitchFamily="18" charset="0"/>
                <a:cs typeface="Times New Roman" pitchFamily="18" charset="0"/>
              </a:rPr>
              <a:t>Activity Selection Problem</a:t>
            </a:r>
          </a:p>
          <a:p>
            <a:pPr lvl="1" algn="just">
              <a:buFont typeface="Arial" charset="0"/>
              <a:buChar char="•"/>
              <a:defRPr/>
            </a:pPr>
            <a:r>
              <a:rPr lang="en-US" sz="1400" dirty="0">
                <a:latin typeface="Times New Roman" pitchFamily="18" charset="0"/>
                <a:cs typeface="Times New Roman" pitchFamily="18" charset="0"/>
              </a:rPr>
              <a:t>Task Scheduling problem - Scheduling several competing activities that require exclusive use of a common resource, with a goal of selecting a maximum-size set of mutually compatible activities.</a:t>
            </a:r>
          </a:p>
          <a:p>
            <a:pPr marL="457200" lvl="1" indent="0" algn="just">
              <a:buNone/>
              <a:defRPr/>
            </a:pPr>
            <a:endParaRPr lang="en-US" sz="1400" dirty="0">
              <a:latin typeface="Times New Roman" pitchFamily="18" charset="0"/>
              <a:cs typeface="Times New Roman" pitchFamily="18" charset="0"/>
            </a:endParaRPr>
          </a:p>
          <a:p>
            <a:pPr lvl="1" algn="just">
              <a:buFont typeface="Arial" charset="0"/>
              <a:buChar char="•"/>
              <a:defRPr/>
            </a:pPr>
            <a:endParaRPr lang="en-US" sz="1200" dirty="0">
              <a:latin typeface="Times New Roman" pitchFamily="18" charset="0"/>
              <a:cs typeface="Times New Roman" pitchFamily="18" charset="0"/>
            </a:endParaRP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582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Minimum Spanning Tree</a:t>
            </a:r>
            <a:endParaRPr lang="en-US" sz="3200"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304800" y="1445732"/>
            <a:ext cx="8382000" cy="1143000"/>
          </a:xfrm>
          <a:ln>
            <a:solidFill>
              <a:schemeClr val="tx1"/>
            </a:solidFill>
          </a:ln>
        </p:spPr>
        <p:txBody>
          <a:bodyPr>
            <a:normAutofit fontScale="70000" lnSpcReduction="20000"/>
          </a:bodyPr>
          <a:lstStyle/>
          <a:p>
            <a:pPr marL="0" indent="0" algn="just">
              <a:defRPr/>
            </a:pPr>
            <a:r>
              <a:rPr lang="en-US" sz="2000" b="1" dirty="0">
                <a:solidFill>
                  <a:srgbClr val="FF0000"/>
                </a:solidFill>
                <a:latin typeface="Times New Roman" pitchFamily="18" charset="0"/>
                <a:cs typeface="Times New Roman" pitchFamily="18" charset="0"/>
              </a:rPr>
              <a:t>Examples</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Electronic Circuit Designs – Wiring pins of components</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Road Network in the country - Cost of construction of road between two cities.</a:t>
            </a:r>
          </a:p>
          <a:p>
            <a:pPr marL="1085850" lvl="2" algn="just">
              <a:defRPr/>
            </a:pPr>
            <a:r>
              <a:rPr lang="en-US" sz="2000" dirty="0">
                <a:latin typeface="Times New Roman" pitchFamily="18" charset="0"/>
                <a:cs typeface="Times New Roman" pitchFamily="18" charset="0"/>
              </a:rPr>
              <a:t>Data below is the Cost of construction of road between two cities</a:t>
            </a:r>
          </a:p>
          <a:p>
            <a:pPr marL="1085850" lvl="2" algn="just">
              <a:defRPr/>
            </a:pPr>
            <a:r>
              <a:rPr lang="en-US" sz="2000" dirty="0">
                <a:latin typeface="Times New Roman" pitchFamily="18" charset="0"/>
                <a:cs typeface="Times New Roman" pitchFamily="18" charset="0"/>
              </a:rPr>
              <a:t>Find which all road should be build</a:t>
            </a: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p:txBody>
      </p:sp>
      <p:pic>
        <p:nvPicPr>
          <p:cNvPr id="22" name="Picture 21">
            <a:extLst>
              <a:ext uri="{FF2B5EF4-FFF2-40B4-BE49-F238E27FC236}">
                <a16:creationId xmlns:a16="http://schemas.microsoft.com/office/drawing/2014/main" id="{FA3DDF51-A210-4A16-8CBB-0ED35C1FCCE5}"/>
              </a:ext>
            </a:extLst>
          </p:cNvPr>
          <p:cNvPicPr>
            <a:picLocks noChangeAspect="1"/>
          </p:cNvPicPr>
          <p:nvPr/>
        </p:nvPicPr>
        <p:blipFill>
          <a:blip r:embed="rId2"/>
          <a:stretch>
            <a:fillRect/>
          </a:stretch>
        </p:blipFill>
        <p:spPr>
          <a:xfrm>
            <a:off x="544045" y="2606695"/>
            <a:ext cx="7516991" cy="3889958"/>
          </a:xfrm>
          <a:prstGeom prst="rect">
            <a:avLst/>
          </a:prstGeom>
        </p:spPr>
      </p:pic>
    </p:spTree>
    <p:extLst>
      <p:ext uri="{BB962C8B-B14F-4D97-AF65-F5344CB8AC3E}">
        <p14:creationId xmlns:p14="http://schemas.microsoft.com/office/powerpoint/2010/main" val="818435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Minimum Spanning Tree</a:t>
            </a:r>
            <a:endParaRPr lang="en-US" sz="3200" dirty="0"/>
          </a:p>
        </p:txBody>
      </p:sp>
      <p:grpSp>
        <p:nvGrpSpPr>
          <p:cNvPr id="70" name="Group 69">
            <a:extLst>
              <a:ext uri="{FF2B5EF4-FFF2-40B4-BE49-F238E27FC236}">
                <a16:creationId xmlns:a16="http://schemas.microsoft.com/office/drawing/2014/main" id="{3AFEE91C-7AEC-4CA0-AEE9-43C0127063F9}"/>
              </a:ext>
            </a:extLst>
          </p:cNvPr>
          <p:cNvGrpSpPr/>
          <p:nvPr/>
        </p:nvGrpSpPr>
        <p:grpSpPr>
          <a:xfrm>
            <a:off x="747140" y="2438400"/>
            <a:ext cx="1691260" cy="381000"/>
            <a:chOff x="747140" y="2438400"/>
            <a:chExt cx="1691260" cy="381000"/>
          </a:xfrm>
        </p:grpSpPr>
        <p:sp>
          <p:nvSpPr>
            <p:cNvPr id="8" name="Oval 7">
              <a:extLst>
                <a:ext uri="{FF2B5EF4-FFF2-40B4-BE49-F238E27FC236}">
                  <a16:creationId xmlns:a16="http://schemas.microsoft.com/office/drawing/2014/main" id="{30485C8B-E5D8-4604-9CFC-EBB328428A6D}"/>
                </a:ext>
              </a:extLst>
            </p:cNvPr>
            <p:cNvSpPr/>
            <p:nvPr/>
          </p:nvSpPr>
          <p:spPr>
            <a:xfrm>
              <a:off x="2057400" y="24384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Oval 9">
              <a:extLst>
                <a:ext uri="{FF2B5EF4-FFF2-40B4-BE49-F238E27FC236}">
                  <a16:creationId xmlns:a16="http://schemas.microsoft.com/office/drawing/2014/main" id="{2190F312-1F13-4BC1-A601-EFB1B662F1A7}"/>
                </a:ext>
              </a:extLst>
            </p:cNvPr>
            <p:cNvSpPr/>
            <p:nvPr/>
          </p:nvSpPr>
          <p:spPr>
            <a:xfrm>
              <a:off x="747140" y="24384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14" name="Straight Connector 13">
              <a:extLst>
                <a:ext uri="{FF2B5EF4-FFF2-40B4-BE49-F238E27FC236}">
                  <a16:creationId xmlns:a16="http://schemas.microsoft.com/office/drawing/2014/main" id="{DC2901D6-8BAC-453D-AE6A-0414BADA0C1A}"/>
                </a:ext>
              </a:extLst>
            </p:cNvPr>
            <p:cNvCxnSpPr>
              <a:cxnSpLocks/>
              <a:stCxn id="8" idx="2"/>
              <a:endCxn id="10" idx="6"/>
            </p:cNvCxnSpPr>
            <p:nvPr/>
          </p:nvCxnSpPr>
          <p:spPr>
            <a:xfrm flipH="1">
              <a:off x="1128140" y="2628900"/>
              <a:ext cx="9292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120763F2-C3E0-40A1-B75A-EA9C255920C6}"/>
              </a:ext>
            </a:extLst>
          </p:cNvPr>
          <p:cNvGrpSpPr/>
          <p:nvPr/>
        </p:nvGrpSpPr>
        <p:grpSpPr>
          <a:xfrm>
            <a:off x="754520" y="4068273"/>
            <a:ext cx="1302880" cy="1260008"/>
            <a:chOff x="3459620" y="3505200"/>
            <a:chExt cx="1302880" cy="1260008"/>
          </a:xfrm>
        </p:grpSpPr>
        <p:sp>
          <p:nvSpPr>
            <p:cNvPr id="29" name="Oval 28">
              <a:extLst>
                <a:ext uri="{FF2B5EF4-FFF2-40B4-BE49-F238E27FC236}">
                  <a16:creationId xmlns:a16="http://schemas.microsoft.com/office/drawing/2014/main" id="{0223B2B4-538F-4903-BB96-9DD0EDBC418F}"/>
                </a:ext>
              </a:extLst>
            </p:cNvPr>
            <p:cNvSpPr/>
            <p:nvPr/>
          </p:nvSpPr>
          <p:spPr>
            <a:xfrm>
              <a:off x="3538113" y="4384208"/>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Oval 29">
              <a:extLst>
                <a:ext uri="{FF2B5EF4-FFF2-40B4-BE49-F238E27FC236}">
                  <a16:creationId xmlns:a16="http://schemas.microsoft.com/office/drawing/2014/main" id="{1451997C-C9AC-452C-8344-BD3D92A9987C}"/>
                </a:ext>
              </a:extLst>
            </p:cNvPr>
            <p:cNvSpPr/>
            <p:nvPr/>
          </p:nvSpPr>
          <p:spPr>
            <a:xfrm>
              <a:off x="4381500" y="3654468"/>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1" name="Oval 30">
              <a:extLst>
                <a:ext uri="{FF2B5EF4-FFF2-40B4-BE49-F238E27FC236}">
                  <a16:creationId xmlns:a16="http://schemas.microsoft.com/office/drawing/2014/main" id="{A5BE1E60-4C1E-4E98-954E-8E0399E50EFC}"/>
                </a:ext>
              </a:extLst>
            </p:cNvPr>
            <p:cNvSpPr/>
            <p:nvPr/>
          </p:nvSpPr>
          <p:spPr>
            <a:xfrm>
              <a:off x="3459620" y="35052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32" name="Straight Connector 31">
              <a:extLst>
                <a:ext uri="{FF2B5EF4-FFF2-40B4-BE49-F238E27FC236}">
                  <a16:creationId xmlns:a16="http://schemas.microsoft.com/office/drawing/2014/main" id="{F310E7E5-8F57-4712-AA8E-A3FB26A0C6C5}"/>
                </a:ext>
              </a:extLst>
            </p:cNvPr>
            <p:cNvCxnSpPr>
              <a:cxnSpLocks/>
              <a:stCxn id="29" idx="0"/>
              <a:endCxn id="31" idx="4"/>
            </p:cNvCxnSpPr>
            <p:nvPr/>
          </p:nvCxnSpPr>
          <p:spPr>
            <a:xfrm flipH="1" flipV="1">
              <a:off x="3650120" y="3886200"/>
              <a:ext cx="78493" cy="498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C9C43DC-899E-4497-AA7F-3DA86F517CB8}"/>
                </a:ext>
              </a:extLst>
            </p:cNvPr>
            <p:cNvCxnSpPr>
              <a:cxnSpLocks/>
              <a:stCxn id="30" idx="2"/>
              <a:endCxn id="31" idx="6"/>
            </p:cNvCxnSpPr>
            <p:nvPr/>
          </p:nvCxnSpPr>
          <p:spPr>
            <a:xfrm flipH="1" flipV="1">
              <a:off x="3840620" y="3695700"/>
              <a:ext cx="540880" cy="1492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1ED1F068-D75F-43B3-8ACA-77652FF5B8C2}"/>
              </a:ext>
            </a:extLst>
          </p:cNvPr>
          <p:cNvGrpSpPr/>
          <p:nvPr/>
        </p:nvGrpSpPr>
        <p:grpSpPr>
          <a:xfrm>
            <a:off x="3700541" y="2254589"/>
            <a:ext cx="1302880" cy="1304923"/>
            <a:chOff x="703314" y="3505200"/>
            <a:chExt cx="1302880" cy="1304923"/>
          </a:xfrm>
        </p:grpSpPr>
        <p:sp>
          <p:nvSpPr>
            <p:cNvPr id="61" name="Oval 60">
              <a:extLst>
                <a:ext uri="{FF2B5EF4-FFF2-40B4-BE49-F238E27FC236}">
                  <a16:creationId xmlns:a16="http://schemas.microsoft.com/office/drawing/2014/main" id="{2E3D1AD3-37A4-4552-99CD-FC23373585CA}"/>
                </a:ext>
              </a:extLst>
            </p:cNvPr>
            <p:cNvSpPr/>
            <p:nvPr/>
          </p:nvSpPr>
          <p:spPr>
            <a:xfrm>
              <a:off x="882874" y="4429123"/>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2" name="Oval 61">
              <a:extLst>
                <a:ext uri="{FF2B5EF4-FFF2-40B4-BE49-F238E27FC236}">
                  <a16:creationId xmlns:a16="http://schemas.microsoft.com/office/drawing/2014/main" id="{4C989506-B1C1-49BA-A658-6C771AF28151}"/>
                </a:ext>
              </a:extLst>
            </p:cNvPr>
            <p:cNvSpPr/>
            <p:nvPr/>
          </p:nvSpPr>
          <p:spPr>
            <a:xfrm>
              <a:off x="1625194" y="3654468"/>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3" name="Oval 62">
              <a:extLst>
                <a:ext uri="{FF2B5EF4-FFF2-40B4-BE49-F238E27FC236}">
                  <a16:creationId xmlns:a16="http://schemas.microsoft.com/office/drawing/2014/main" id="{21A349AB-06A4-4379-B3F9-6F6CD3C0ABCD}"/>
                </a:ext>
              </a:extLst>
            </p:cNvPr>
            <p:cNvSpPr/>
            <p:nvPr/>
          </p:nvSpPr>
          <p:spPr>
            <a:xfrm>
              <a:off x="703314" y="35052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64" name="Straight Connector 63">
              <a:extLst>
                <a:ext uri="{FF2B5EF4-FFF2-40B4-BE49-F238E27FC236}">
                  <a16:creationId xmlns:a16="http://schemas.microsoft.com/office/drawing/2014/main" id="{DF8B6D22-D773-4489-96BE-66E9FE2C9FE6}"/>
                </a:ext>
              </a:extLst>
            </p:cNvPr>
            <p:cNvCxnSpPr>
              <a:cxnSpLocks/>
              <a:stCxn id="61" idx="7"/>
              <a:endCxn id="62" idx="3"/>
            </p:cNvCxnSpPr>
            <p:nvPr/>
          </p:nvCxnSpPr>
          <p:spPr>
            <a:xfrm flipV="1">
              <a:off x="1208078" y="3979672"/>
              <a:ext cx="472912" cy="5052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D622140-B73B-4375-A250-2E5585F3ABD2}"/>
                </a:ext>
              </a:extLst>
            </p:cNvPr>
            <p:cNvCxnSpPr>
              <a:cxnSpLocks/>
              <a:stCxn id="61" idx="0"/>
              <a:endCxn id="63" idx="4"/>
            </p:cNvCxnSpPr>
            <p:nvPr/>
          </p:nvCxnSpPr>
          <p:spPr>
            <a:xfrm flipH="1" flipV="1">
              <a:off x="893814" y="3886200"/>
              <a:ext cx="179560" cy="5429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Rectangle 3">
            <a:extLst>
              <a:ext uri="{FF2B5EF4-FFF2-40B4-BE49-F238E27FC236}">
                <a16:creationId xmlns:a16="http://schemas.microsoft.com/office/drawing/2014/main" id="{B0F7B563-AF3F-4B60-BDFA-F0629A448C5D}"/>
              </a:ext>
            </a:extLst>
          </p:cNvPr>
          <p:cNvSpPr>
            <a:spLocks noGrp="1" noChangeArrowheads="1"/>
          </p:cNvSpPr>
          <p:nvPr>
            <p:ph idx="1"/>
          </p:nvPr>
        </p:nvSpPr>
        <p:spPr>
          <a:xfrm>
            <a:off x="344483" y="1529719"/>
            <a:ext cx="7961317" cy="359475"/>
          </a:xfrm>
          <a:ln>
            <a:solidFill>
              <a:schemeClr val="tx1"/>
            </a:solidFill>
          </a:ln>
        </p:spPr>
        <p:txBody>
          <a:bodyPr>
            <a:normAutofit lnSpcReduction="10000"/>
          </a:bodyPr>
          <a:lstStyle/>
          <a:p>
            <a:pPr marL="285750" indent="-285750">
              <a:buFont typeface="Arial" panose="020B0604020202020204" pitchFamily="34" charset="0"/>
              <a:buChar char="•"/>
              <a:defRPr/>
            </a:pPr>
            <a:r>
              <a:rPr lang="en-US" sz="1800" dirty="0">
                <a:latin typeface="Times New Roman" pitchFamily="18" charset="0"/>
                <a:cs typeface="Times New Roman" pitchFamily="18" charset="0"/>
              </a:rPr>
              <a:t>For all n nodes to be connected in a Graph, n-1 edges are needed</a:t>
            </a:r>
          </a:p>
          <a:p>
            <a:pPr algn="ctr">
              <a:buFont typeface="Arial" charset="0"/>
              <a:buChar char="•"/>
              <a:defRPr/>
            </a:pPr>
            <a:endParaRPr lang="en-US" sz="1800" dirty="0">
              <a:latin typeface="Times New Roman" pitchFamily="18" charset="0"/>
              <a:cs typeface="Times New Roman" pitchFamily="18" charset="0"/>
            </a:endParaRPr>
          </a:p>
        </p:txBody>
      </p:sp>
      <p:grpSp>
        <p:nvGrpSpPr>
          <p:cNvPr id="80" name="Group 79">
            <a:extLst>
              <a:ext uri="{FF2B5EF4-FFF2-40B4-BE49-F238E27FC236}">
                <a16:creationId xmlns:a16="http://schemas.microsoft.com/office/drawing/2014/main" id="{1C3976A8-3E35-4813-A930-31965EF89838}"/>
              </a:ext>
            </a:extLst>
          </p:cNvPr>
          <p:cNvGrpSpPr/>
          <p:nvPr/>
        </p:nvGrpSpPr>
        <p:grpSpPr>
          <a:xfrm>
            <a:off x="6096000" y="2116299"/>
            <a:ext cx="1981382" cy="1593869"/>
            <a:chOff x="703314" y="4654531"/>
            <a:chExt cx="1981382" cy="1593869"/>
          </a:xfrm>
        </p:grpSpPr>
        <p:sp>
          <p:nvSpPr>
            <p:cNvPr id="71" name="Oval 70">
              <a:extLst>
                <a:ext uri="{FF2B5EF4-FFF2-40B4-BE49-F238E27FC236}">
                  <a16:creationId xmlns:a16="http://schemas.microsoft.com/office/drawing/2014/main" id="{FBE2359F-8DF7-49D7-9734-743A5DF50372}"/>
                </a:ext>
              </a:extLst>
            </p:cNvPr>
            <p:cNvSpPr/>
            <p:nvPr/>
          </p:nvSpPr>
          <p:spPr>
            <a:xfrm>
              <a:off x="1985926" y="465453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2" name="Oval 71">
              <a:extLst>
                <a:ext uri="{FF2B5EF4-FFF2-40B4-BE49-F238E27FC236}">
                  <a16:creationId xmlns:a16="http://schemas.microsoft.com/office/drawing/2014/main" id="{A49DE3DF-F766-4572-845E-27AB7D8EB72E}"/>
                </a:ext>
              </a:extLst>
            </p:cNvPr>
            <p:cNvSpPr/>
            <p:nvPr/>
          </p:nvSpPr>
          <p:spPr>
            <a:xfrm>
              <a:off x="917813" y="4721003"/>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3" name="Straight Connector 72">
              <a:extLst>
                <a:ext uri="{FF2B5EF4-FFF2-40B4-BE49-F238E27FC236}">
                  <a16:creationId xmlns:a16="http://schemas.microsoft.com/office/drawing/2014/main" id="{0DBD0D32-05E0-4E5D-9D7C-908C96DFB2E9}"/>
                </a:ext>
              </a:extLst>
            </p:cNvPr>
            <p:cNvCxnSpPr>
              <a:cxnSpLocks/>
              <a:stCxn id="71" idx="2"/>
              <a:endCxn id="72" idx="6"/>
            </p:cNvCxnSpPr>
            <p:nvPr/>
          </p:nvCxnSpPr>
          <p:spPr>
            <a:xfrm flipH="1">
              <a:off x="1298813" y="4845031"/>
              <a:ext cx="687113" cy="66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ED277654-C140-449A-B19D-2C1DB81BB4F7}"/>
                </a:ext>
              </a:extLst>
            </p:cNvPr>
            <p:cNvSpPr/>
            <p:nvPr/>
          </p:nvSpPr>
          <p:spPr>
            <a:xfrm>
              <a:off x="1752600" y="58674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5" name="Oval 74">
              <a:extLst>
                <a:ext uri="{FF2B5EF4-FFF2-40B4-BE49-F238E27FC236}">
                  <a16:creationId xmlns:a16="http://schemas.microsoft.com/office/drawing/2014/main" id="{D61FC873-8B77-4AC7-BE9D-A4C2AC1A5B30}"/>
                </a:ext>
              </a:extLst>
            </p:cNvPr>
            <p:cNvSpPr/>
            <p:nvPr/>
          </p:nvSpPr>
          <p:spPr>
            <a:xfrm>
              <a:off x="2303696" y="5331419"/>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Oval 75">
              <a:extLst>
                <a:ext uri="{FF2B5EF4-FFF2-40B4-BE49-F238E27FC236}">
                  <a16:creationId xmlns:a16="http://schemas.microsoft.com/office/drawing/2014/main" id="{88B3B81C-EE80-4804-AD32-9DE4D5D11499}"/>
                </a:ext>
              </a:extLst>
            </p:cNvPr>
            <p:cNvSpPr/>
            <p:nvPr/>
          </p:nvSpPr>
          <p:spPr>
            <a:xfrm>
              <a:off x="703314" y="56769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7" name="Straight Connector 76">
              <a:extLst>
                <a:ext uri="{FF2B5EF4-FFF2-40B4-BE49-F238E27FC236}">
                  <a16:creationId xmlns:a16="http://schemas.microsoft.com/office/drawing/2014/main" id="{5189049A-0379-4C3A-8BCF-5D2C74E533D8}"/>
                </a:ext>
              </a:extLst>
            </p:cNvPr>
            <p:cNvCxnSpPr>
              <a:cxnSpLocks/>
              <a:stCxn id="74" idx="7"/>
              <a:endCxn id="75" idx="3"/>
            </p:cNvCxnSpPr>
            <p:nvPr/>
          </p:nvCxnSpPr>
          <p:spPr>
            <a:xfrm flipV="1">
              <a:off x="2077804" y="5656623"/>
              <a:ext cx="281688" cy="2665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C8EA645-027C-4119-9FE3-FAE72346652D}"/>
                </a:ext>
              </a:extLst>
            </p:cNvPr>
            <p:cNvCxnSpPr>
              <a:cxnSpLocks/>
              <a:stCxn id="74" idx="2"/>
              <a:endCxn id="76" idx="6"/>
            </p:cNvCxnSpPr>
            <p:nvPr/>
          </p:nvCxnSpPr>
          <p:spPr>
            <a:xfrm flipH="1" flipV="1">
              <a:off x="1084314" y="5867400"/>
              <a:ext cx="668286" cy="190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6D93133-95D5-4CA3-A310-42E7E419F4FE}"/>
                </a:ext>
              </a:extLst>
            </p:cNvPr>
            <p:cNvCxnSpPr>
              <a:cxnSpLocks/>
              <a:stCxn id="76" idx="0"/>
              <a:endCxn id="72" idx="4"/>
            </p:cNvCxnSpPr>
            <p:nvPr/>
          </p:nvCxnSpPr>
          <p:spPr>
            <a:xfrm flipV="1">
              <a:off x="893814" y="5102003"/>
              <a:ext cx="214499" cy="574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3C29B0D4-5043-42DC-B5F8-B7B338A7083F}"/>
              </a:ext>
            </a:extLst>
          </p:cNvPr>
          <p:cNvGrpSpPr/>
          <p:nvPr/>
        </p:nvGrpSpPr>
        <p:grpSpPr>
          <a:xfrm>
            <a:off x="2849719" y="4197217"/>
            <a:ext cx="1933351" cy="1879619"/>
            <a:chOff x="3451070" y="4171872"/>
            <a:chExt cx="1933351" cy="1879619"/>
          </a:xfrm>
        </p:grpSpPr>
        <p:sp>
          <p:nvSpPr>
            <p:cNvPr id="84" name="Oval 83">
              <a:extLst>
                <a:ext uri="{FF2B5EF4-FFF2-40B4-BE49-F238E27FC236}">
                  <a16:creationId xmlns:a16="http://schemas.microsoft.com/office/drawing/2014/main" id="{2E9FC7A4-28D1-4C02-B83D-DBA9D61A6CA1}"/>
                </a:ext>
              </a:extLst>
            </p:cNvPr>
            <p:cNvSpPr/>
            <p:nvPr/>
          </p:nvSpPr>
          <p:spPr>
            <a:xfrm>
              <a:off x="4733682" y="4171872"/>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5" name="Oval 84">
              <a:extLst>
                <a:ext uri="{FF2B5EF4-FFF2-40B4-BE49-F238E27FC236}">
                  <a16:creationId xmlns:a16="http://schemas.microsoft.com/office/drawing/2014/main" id="{22B5714B-F5C1-48D0-89B6-29F5A9F52919}"/>
                </a:ext>
              </a:extLst>
            </p:cNvPr>
            <p:cNvSpPr/>
            <p:nvPr/>
          </p:nvSpPr>
          <p:spPr>
            <a:xfrm>
              <a:off x="3665569" y="4238344"/>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86" name="Straight Connector 85">
              <a:extLst>
                <a:ext uri="{FF2B5EF4-FFF2-40B4-BE49-F238E27FC236}">
                  <a16:creationId xmlns:a16="http://schemas.microsoft.com/office/drawing/2014/main" id="{3CEBAB74-6761-4057-8AAF-8FA56A6C5764}"/>
                </a:ext>
              </a:extLst>
            </p:cNvPr>
            <p:cNvCxnSpPr>
              <a:cxnSpLocks/>
              <a:stCxn id="84" idx="2"/>
              <a:endCxn id="85" idx="6"/>
            </p:cNvCxnSpPr>
            <p:nvPr/>
          </p:nvCxnSpPr>
          <p:spPr>
            <a:xfrm flipH="1">
              <a:off x="4046569" y="4362372"/>
              <a:ext cx="687113" cy="66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7DB07DF0-A20C-4861-8ABA-81A64B5E7EE3}"/>
                </a:ext>
              </a:extLst>
            </p:cNvPr>
            <p:cNvSpPr/>
            <p:nvPr/>
          </p:nvSpPr>
          <p:spPr>
            <a:xfrm>
              <a:off x="4241421" y="567049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8" name="Oval 87">
              <a:extLst>
                <a:ext uri="{FF2B5EF4-FFF2-40B4-BE49-F238E27FC236}">
                  <a16:creationId xmlns:a16="http://schemas.microsoft.com/office/drawing/2014/main" id="{4D463DCD-23EE-4EA2-8E69-4457F348C62C}"/>
                </a:ext>
              </a:extLst>
            </p:cNvPr>
            <p:cNvSpPr/>
            <p:nvPr/>
          </p:nvSpPr>
          <p:spPr>
            <a:xfrm>
              <a:off x="4191000" y="4946527"/>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Oval 88">
              <a:extLst>
                <a:ext uri="{FF2B5EF4-FFF2-40B4-BE49-F238E27FC236}">
                  <a16:creationId xmlns:a16="http://schemas.microsoft.com/office/drawing/2014/main" id="{E6020750-E48A-4848-8336-E5888F791B45}"/>
                </a:ext>
              </a:extLst>
            </p:cNvPr>
            <p:cNvSpPr/>
            <p:nvPr/>
          </p:nvSpPr>
          <p:spPr>
            <a:xfrm>
              <a:off x="3451070" y="519424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90" name="Straight Connector 89">
              <a:extLst>
                <a:ext uri="{FF2B5EF4-FFF2-40B4-BE49-F238E27FC236}">
                  <a16:creationId xmlns:a16="http://schemas.microsoft.com/office/drawing/2014/main" id="{DA89EABD-1E5A-48E3-A512-DF50569F8912}"/>
                </a:ext>
              </a:extLst>
            </p:cNvPr>
            <p:cNvCxnSpPr>
              <a:cxnSpLocks/>
              <a:stCxn id="87" idx="0"/>
              <a:endCxn id="88" idx="4"/>
            </p:cNvCxnSpPr>
            <p:nvPr/>
          </p:nvCxnSpPr>
          <p:spPr>
            <a:xfrm flipH="1" flipV="1">
              <a:off x="4381500" y="5327527"/>
              <a:ext cx="50421" cy="342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9293940-21AF-4E17-B78E-1DD96A10BF52}"/>
                </a:ext>
              </a:extLst>
            </p:cNvPr>
            <p:cNvCxnSpPr>
              <a:cxnSpLocks/>
              <a:stCxn id="87" idx="2"/>
              <a:endCxn id="89" idx="6"/>
            </p:cNvCxnSpPr>
            <p:nvPr/>
          </p:nvCxnSpPr>
          <p:spPr>
            <a:xfrm flipH="1" flipV="1">
              <a:off x="3832070" y="5384741"/>
              <a:ext cx="409351" cy="4762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F107B5F-B923-4AC7-B08F-3B6FA4D81B29}"/>
                </a:ext>
              </a:extLst>
            </p:cNvPr>
            <p:cNvCxnSpPr>
              <a:cxnSpLocks/>
              <a:stCxn id="89" idx="0"/>
              <a:endCxn id="85" idx="4"/>
            </p:cNvCxnSpPr>
            <p:nvPr/>
          </p:nvCxnSpPr>
          <p:spPr>
            <a:xfrm flipV="1">
              <a:off x="3641570" y="4619344"/>
              <a:ext cx="214499" cy="574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F3351D5B-CCB6-4F1E-964E-6F63E4C33FA2}"/>
                </a:ext>
              </a:extLst>
            </p:cNvPr>
            <p:cNvSpPr/>
            <p:nvPr/>
          </p:nvSpPr>
          <p:spPr>
            <a:xfrm>
              <a:off x="5003421" y="5102588"/>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02" name="Straight Connector 101">
              <a:extLst>
                <a:ext uri="{FF2B5EF4-FFF2-40B4-BE49-F238E27FC236}">
                  <a16:creationId xmlns:a16="http://schemas.microsoft.com/office/drawing/2014/main" id="{CE9DADCB-502F-409C-BE08-12E3DF0A0035}"/>
                </a:ext>
              </a:extLst>
            </p:cNvPr>
            <p:cNvCxnSpPr>
              <a:cxnSpLocks/>
              <a:stCxn id="98" idx="1"/>
              <a:endCxn id="85" idx="5"/>
            </p:cNvCxnSpPr>
            <p:nvPr/>
          </p:nvCxnSpPr>
          <p:spPr>
            <a:xfrm flipH="1" flipV="1">
              <a:off x="3990773" y="4563548"/>
              <a:ext cx="1068444" cy="594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6971A3A4-E4B0-4695-A81A-40934453AC6E}"/>
              </a:ext>
            </a:extLst>
          </p:cNvPr>
          <p:cNvGrpSpPr/>
          <p:nvPr/>
        </p:nvGrpSpPr>
        <p:grpSpPr>
          <a:xfrm>
            <a:off x="6096000" y="4216381"/>
            <a:ext cx="1914309" cy="1879619"/>
            <a:chOff x="6096000" y="4216381"/>
            <a:chExt cx="1914309" cy="1879619"/>
          </a:xfrm>
        </p:grpSpPr>
        <p:sp>
          <p:nvSpPr>
            <p:cNvPr id="105" name="Oval 104">
              <a:extLst>
                <a:ext uri="{FF2B5EF4-FFF2-40B4-BE49-F238E27FC236}">
                  <a16:creationId xmlns:a16="http://schemas.microsoft.com/office/drawing/2014/main" id="{544DAA42-67FE-444E-9F30-6583C0C9EF50}"/>
                </a:ext>
              </a:extLst>
            </p:cNvPr>
            <p:cNvSpPr/>
            <p:nvPr/>
          </p:nvSpPr>
          <p:spPr>
            <a:xfrm>
              <a:off x="7378612" y="4216381"/>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6" name="Oval 105">
              <a:extLst>
                <a:ext uri="{FF2B5EF4-FFF2-40B4-BE49-F238E27FC236}">
                  <a16:creationId xmlns:a16="http://schemas.microsoft.com/office/drawing/2014/main" id="{D2EB7AFD-63EF-4140-B428-BA12301D922F}"/>
                </a:ext>
              </a:extLst>
            </p:cNvPr>
            <p:cNvSpPr/>
            <p:nvPr/>
          </p:nvSpPr>
          <p:spPr>
            <a:xfrm>
              <a:off x="6310499" y="4282853"/>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107" name="Straight Connector 106">
              <a:extLst>
                <a:ext uri="{FF2B5EF4-FFF2-40B4-BE49-F238E27FC236}">
                  <a16:creationId xmlns:a16="http://schemas.microsoft.com/office/drawing/2014/main" id="{60E3E92F-DD46-4F23-B688-F18E85A1E21F}"/>
                </a:ext>
              </a:extLst>
            </p:cNvPr>
            <p:cNvCxnSpPr>
              <a:cxnSpLocks/>
              <a:stCxn id="105" idx="2"/>
              <a:endCxn id="109" idx="7"/>
            </p:cNvCxnSpPr>
            <p:nvPr/>
          </p:nvCxnSpPr>
          <p:spPr>
            <a:xfrm flipH="1">
              <a:off x="7161134" y="4406881"/>
              <a:ext cx="217478" cy="6399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675BCEB8-712C-4526-A72A-E4E100020940}"/>
                </a:ext>
              </a:extLst>
            </p:cNvPr>
            <p:cNvSpPr/>
            <p:nvPr/>
          </p:nvSpPr>
          <p:spPr>
            <a:xfrm>
              <a:off x="6886351" y="571500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9" name="Oval 108">
              <a:extLst>
                <a:ext uri="{FF2B5EF4-FFF2-40B4-BE49-F238E27FC236}">
                  <a16:creationId xmlns:a16="http://schemas.microsoft.com/office/drawing/2014/main" id="{FB402B32-1022-4F2B-84B4-DD1FC6CF6CD2}"/>
                </a:ext>
              </a:extLst>
            </p:cNvPr>
            <p:cNvSpPr/>
            <p:nvPr/>
          </p:nvSpPr>
          <p:spPr>
            <a:xfrm>
              <a:off x="6835930" y="4991036"/>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0" name="Oval 109">
              <a:extLst>
                <a:ext uri="{FF2B5EF4-FFF2-40B4-BE49-F238E27FC236}">
                  <a16:creationId xmlns:a16="http://schemas.microsoft.com/office/drawing/2014/main" id="{569A7846-D7FA-4225-AB6D-6EDF9177D0AD}"/>
                </a:ext>
              </a:extLst>
            </p:cNvPr>
            <p:cNvSpPr/>
            <p:nvPr/>
          </p:nvSpPr>
          <p:spPr>
            <a:xfrm>
              <a:off x="6096000" y="5238750"/>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111" name="Straight Connector 110">
              <a:extLst>
                <a:ext uri="{FF2B5EF4-FFF2-40B4-BE49-F238E27FC236}">
                  <a16:creationId xmlns:a16="http://schemas.microsoft.com/office/drawing/2014/main" id="{9E72564E-8E34-487A-AFA5-8A8B16EE91EA}"/>
                </a:ext>
              </a:extLst>
            </p:cNvPr>
            <p:cNvCxnSpPr>
              <a:cxnSpLocks/>
              <a:stCxn id="108" idx="0"/>
              <a:endCxn id="109" idx="4"/>
            </p:cNvCxnSpPr>
            <p:nvPr/>
          </p:nvCxnSpPr>
          <p:spPr>
            <a:xfrm flipH="1" flipV="1">
              <a:off x="7026430" y="5372036"/>
              <a:ext cx="50421" cy="342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E629604-1B7E-451D-BBF5-942FE2641555}"/>
                </a:ext>
              </a:extLst>
            </p:cNvPr>
            <p:cNvCxnSpPr>
              <a:cxnSpLocks/>
              <a:stCxn id="108" idx="2"/>
              <a:endCxn id="110" idx="6"/>
            </p:cNvCxnSpPr>
            <p:nvPr/>
          </p:nvCxnSpPr>
          <p:spPr>
            <a:xfrm flipH="1" flipV="1">
              <a:off x="6477000" y="5429250"/>
              <a:ext cx="409351" cy="4762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BB7546EA-9465-4ED9-B841-2D4691A8246E}"/>
                </a:ext>
              </a:extLst>
            </p:cNvPr>
            <p:cNvCxnSpPr>
              <a:cxnSpLocks/>
              <a:stCxn id="110" idx="0"/>
              <a:endCxn id="106" idx="4"/>
            </p:cNvCxnSpPr>
            <p:nvPr/>
          </p:nvCxnSpPr>
          <p:spPr>
            <a:xfrm flipV="1">
              <a:off x="6286500" y="4663853"/>
              <a:ext cx="214499" cy="574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40836C1D-70C7-496E-B8EE-3A02DD55452D}"/>
                </a:ext>
              </a:extLst>
            </p:cNvPr>
            <p:cNvSpPr/>
            <p:nvPr/>
          </p:nvSpPr>
          <p:spPr>
            <a:xfrm>
              <a:off x="7629309" y="5483588"/>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5" name="Straight Connector 114">
              <a:extLst>
                <a:ext uri="{FF2B5EF4-FFF2-40B4-BE49-F238E27FC236}">
                  <a16:creationId xmlns:a16="http://schemas.microsoft.com/office/drawing/2014/main" id="{F2E1C24E-E371-4BA2-968D-8AA57EE26FC1}"/>
                </a:ext>
              </a:extLst>
            </p:cNvPr>
            <p:cNvCxnSpPr>
              <a:cxnSpLocks/>
              <a:stCxn id="114" idx="1"/>
              <a:endCxn id="109" idx="5"/>
            </p:cNvCxnSpPr>
            <p:nvPr/>
          </p:nvCxnSpPr>
          <p:spPr>
            <a:xfrm flipH="1" flipV="1">
              <a:off x="7161134" y="5316240"/>
              <a:ext cx="523971" cy="223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Oval 116">
              <a:extLst>
                <a:ext uri="{FF2B5EF4-FFF2-40B4-BE49-F238E27FC236}">
                  <a16:creationId xmlns:a16="http://schemas.microsoft.com/office/drawing/2014/main" id="{2B9BEFAA-6FB7-454D-BF76-2E27DB6623D1}"/>
                </a:ext>
              </a:extLst>
            </p:cNvPr>
            <p:cNvSpPr/>
            <p:nvPr/>
          </p:nvSpPr>
          <p:spPr>
            <a:xfrm>
              <a:off x="7628818" y="4756027"/>
              <a:ext cx="381000" cy="381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1" name="Straight Connector 120">
              <a:extLst>
                <a:ext uri="{FF2B5EF4-FFF2-40B4-BE49-F238E27FC236}">
                  <a16:creationId xmlns:a16="http://schemas.microsoft.com/office/drawing/2014/main" id="{D1C01F78-33F7-41EE-999C-76B1DCE99575}"/>
                </a:ext>
              </a:extLst>
            </p:cNvPr>
            <p:cNvCxnSpPr>
              <a:cxnSpLocks/>
              <a:stCxn id="117" idx="2"/>
              <a:endCxn id="109" idx="6"/>
            </p:cNvCxnSpPr>
            <p:nvPr/>
          </p:nvCxnSpPr>
          <p:spPr>
            <a:xfrm flipH="1">
              <a:off x="7216930" y="4946527"/>
              <a:ext cx="411888" cy="2350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60711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Minimum Spanning Tree</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13</a:t>
            </a:fld>
            <a:endParaRPr lang="en-US" dirty="0"/>
          </a:p>
        </p:txBody>
      </p:sp>
      <mc:AlternateContent xmlns:mc="http://schemas.openxmlformats.org/markup-compatibility/2006" xmlns:a14="http://schemas.microsoft.com/office/drawing/2010/main">
        <mc:Choice Requires="a14">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304800" y="1445731"/>
                <a:ext cx="8382000" cy="5033337"/>
              </a:xfrm>
              <a:ln>
                <a:solidFill>
                  <a:schemeClr val="tx1"/>
                </a:solidFill>
              </a:ln>
            </p:spPr>
            <p:txBody>
              <a:bodyPr>
                <a:normAutofit/>
              </a:bodyPr>
              <a:lstStyle/>
              <a:p>
                <a:pPr marL="285750" algn="just">
                  <a:buFont typeface="Arial" panose="020B0604020202020204" pitchFamily="34" charset="0"/>
                  <a:buChar char="•"/>
                  <a:defRPr/>
                </a:pPr>
                <a:r>
                  <a:rPr lang="en-US" sz="2200" dirty="0">
                    <a:latin typeface="Times New Roman" pitchFamily="18" charset="0"/>
                    <a:cs typeface="Times New Roman" pitchFamily="18" charset="0"/>
                  </a:rPr>
                  <a:t>Goals – </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All cities should somehow be connected</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Minimum cost of construction</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Which roads are to be built - ??</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r>
                  <a:rPr lang="en-US" sz="1800" dirty="0">
                    <a:latin typeface="Times New Roman" pitchFamily="18" charset="0"/>
                    <a:cs typeface="Times New Roman" pitchFamily="18" charset="0"/>
                  </a:rPr>
                  <a:t>This problems can be modelled using undirected Graphs.</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G = (V, E). V gives all the vertices (cities)</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Weight w(</a:t>
                </a:r>
                <a:r>
                  <a:rPr lang="en-US" sz="1800" dirty="0" err="1">
                    <a:latin typeface="Times New Roman" pitchFamily="18" charset="0"/>
                    <a:cs typeface="Times New Roman" pitchFamily="18" charset="0"/>
                  </a:rPr>
                  <a:t>u,v</a:t>
                </a:r>
                <a:r>
                  <a:rPr lang="en-US" sz="1800" dirty="0">
                    <a:latin typeface="Times New Roman" pitchFamily="18" charset="0"/>
                    <a:cs typeface="Times New Roman" pitchFamily="18" charset="0"/>
                  </a:rPr>
                  <a:t>) gives the cost of road construction between two cities.</a:t>
                </a:r>
              </a:p>
              <a:p>
                <a:pPr marL="685800" lvl="1" algn="just">
                  <a:buFont typeface="Arial" panose="020B0604020202020204" pitchFamily="34" charset="0"/>
                  <a:buChar char="•"/>
                  <a:defRPr/>
                </a:pPr>
                <a:r>
                  <a:rPr lang="en-US" sz="1800" dirty="0">
                    <a:latin typeface="Times New Roman" pitchFamily="18" charset="0"/>
                    <a:cs typeface="Times New Roman" pitchFamily="18" charset="0"/>
                  </a:rPr>
                  <a:t>Find T </a:t>
                </a:r>
                <a14:m>
                  <m:oMath xmlns:m="http://schemas.openxmlformats.org/officeDocument/2006/math">
                    <m:r>
                      <a:rPr lang="en-US" sz="1800" dirty="0" smtClean="0">
                        <a:latin typeface="Cambria Math" panose="02040503050406030204" pitchFamily="18" charset="0"/>
                      </a:rPr>
                      <m:t>⊆</m:t>
                    </m:r>
                    <m:r>
                      <m:rPr>
                        <m:sty m:val="p"/>
                      </m:rPr>
                      <a:rPr lang="en-US" sz="1800" b="0" i="0" dirty="0" smtClean="0">
                        <a:latin typeface="Cambria Math" panose="02040503050406030204" pitchFamily="18" charset="0"/>
                      </a:rPr>
                      <m:t>E</m:t>
                    </m:r>
                    <m:r>
                      <a:rPr lang="en-US" sz="1800" b="0" i="0" dirty="0" smtClean="0">
                        <a:latin typeface="Cambria Math" panose="02040503050406030204" pitchFamily="18" charset="0"/>
                      </a:rPr>
                      <m:t> </m:t>
                    </m:r>
                  </m:oMath>
                </a14:m>
                <a:r>
                  <a:rPr lang="en-US" sz="1800" dirty="0">
                    <a:latin typeface="Times New Roman" pitchFamily="18" charset="0"/>
                    <a:cs typeface="Times New Roman" pitchFamily="18" charset="0"/>
                  </a:rPr>
                  <a:t>that connects all vertices and whose total weight is minimum</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r>
                  <a:rPr lang="en-US" sz="1800" dirty="0">
                    <a:latin typeface="Times New Roman" pitchFamily="18" charset="0"/>
                    <a:cs typeface="Times New Roman" pitchFamily="18" charset="0"/>
                  </a:rPr>
                  <a:t>T should be </a:t>
                </a:r>
                <a:r>
                  <a:rPr lang="en-US" sz="1800" b="1" dirty="0">
                    <a:solidFill>
                      <a:srgbClr val="FF0000"/>
                    </a:solidFill>
                    <a:latin typeface="Times New Roman" pitchFamily="18" charset="0"/>
                    <a:cs typeface="Times New Roman" pitchFamily="18" charset="0"/>
                  </a:rPr>
                  <a:t>acyclic.</a:t>
                </a:r>
                <a:r>
                  <a:rPr lang="en-US" sz="1800" dirty="0">
                    <a:latin typeface="Times New Roman" pitchFamily="18" charset="0"/>
                    <a:cs typeface="Times New Roman" pitchFamily="18" charset="0"/>
                  </a:rPr>
                  <a:t> Since T is acyclic, hence it must form a Tree. Called as spanning Tree.</a:t>
                </a:r>
              </a:p>
              <a:p>
                <a:pPr marL="1085850" lvl="2" algn="just">
                  <a:defRPr/>
                </a:pPr>
                <a:r>
                  <a:rPr lang="en-US" sz="1800" dirty="0">
                    <a:latin typeface="Times New Roman" pitchFamily="18" charset="0"/>
                    <a:cs typeface="Times New Roman" pitchFamily="18" charset="0"/>
                  </a:rPr>
                  <a:t>Minimum Spanning Tree Problem</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1085850" lvl="2" algn="just">
                  <a:defRPr/>
                </a:pPr>
                <a:endParaRPr lang="en-US" sz="26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p:txBody>
          </p:sp>
        </mc:Choice>
        <mc:Fallback xmlns="">
          <p:sp>
            <p:nvSpPr>
              <p:cNvPr id="41" name="Rectangle 3">
                <a:extLst>
                  <a:ext uri="{FF2B5EF4-FFF2-40B4-BE49-F238E27FC236}">
                    <a16:creationId xmlns:a16="http://schemas.microsoft.com/office/drawing/2014/main" id="{34B6D0E2-DF9F-4622-91BE-DD0B5BADD08E}"/>
                  </a:ext>
                </a:extLst>
              </p:cNvPr>
              <p:cNvSpPr>
                <a:spLocks noGrp="1" noRot="1" noChangeAspect="1" noMove="1" noResize="1" noEditPoints="1" noAdjustHandles="1" noChangeArrowheads="1" noChangeShapeType="1" noTextEdit="1"/>
              </p:cNvSpPr>
              <p:nvPr>
                <p:ph idx="1"/>
              </p:nvPr>
            </p:nvSpPr>
            <p:spPr>
              <a:xfrm>
                <a:off x="304800" y="1445731"/>
                <a:ext cx="8382000" cy="5033337"/>
              </a:xfrm>
              <a:blipFill>
                <a:blip r:embed="rId2"/>
                <a:stretch>
                  <a:fillRect l="-726" t="-725" r="-508" b="-725"/>
                </a:stretch>
              </a:blipFill>
              <a:ln>
                <a:solidFill>
                  <a:schemeClr val="tx1"/>
                </a:solid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07262435-5E2F-4788-9CAF-251A4AD8489E}"/>
              </a:ext>
            </a:extLst>
          </p:cNvPr>
          <p:cNvPicPr>
            <a:picLocks noChangeAspect="1"/>
          </p:cNvPicPr>
          <p:nvPr/>
        </p:nvPicPr>
        <p:blipFill>
          <a:blip r:embed="rId3"/>
          <a:stretch>
            <a:fillRect/>
          </a:stretch>
        </p:blipFill>
        <p:spPr>
          <a:xfrm>
            <a:off x="1066800" y="4648200"/>
            <a:ext cx="2057400" cy="685800"/>
          </a:xfrm>
          <a:prstGeom prst="rect">
            <a:avLst/>
          </a:prstGeom>
          <a:ln>
            <a:solidFill>
              <a:schemeClr val="tx1"/>
            </a:solidFill>
          </a:ln>
        </p:spPr>
      </p:pic>
    </p:spTree>
    <p:extLst>
      <p:ext uri="{BB962C8B-B14F-4D97-AF65-F5344CB8AC3E}">
        <p14:creationId xmlns:p14="http://schemas.microsoft.com/office/powerpoint/2010/main" val="1304201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Minimum Spanning Tree</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14</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304800" y="1445731"/>
            <a:ext cx="8382000" cy="459269"/>
          </a:xfrm>
          <a:ln>
            <a:solidFill>
              <a:schemeClr val="tx1"/>
            </a:solidFill>
          </a:ln>
        </p:spPr>
        <p:txBody>
          <a:bodyPr>
            <a:normAutofit/>
          </a:bodyPr>
          <a:lstStyle/>
          <a:p>
            <a:pPr marL="285750" algn="just">
              <a:buFont typeface="Arial" panose="020B0604020202020204" pitchFamily="34" charset="0"/>
              <a:buChar char="•"/>
              <a:defRPr/>
            </a:pPr>
            <a:r>
              <a:rPr lang="en-US" sz="2200" dirty="0">
                <a:latin typeface="Times New Roman" pitchFamily="18" charset="0"/>
                <a:cs typeface="Times New Roman" pitchFamily="18" charset="0"/>
              </a:rPr>
              <a:t>Example of Minimum Spanning Tree problem – </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p:txBody>
      </p:sp>
      <p:grpSp>
        <p:nvGrpSpPr>
          <p:cNvPr id="107" name="Group 106">
            <a:extLst>
              <a:ext uri="{FF2B5EF4-FFF2-40B4-BE49-F238E27FC236}">
                <a16:creationId xmlns:a16="http://schemas.microsoft.com/office/drawing/2014/main" id="{CE679BDB-E9BD-C1B2-A620-913C6F605397}"/>
              </a:ext>
            </a:extLst>
          </p:cNvPr>
          <p:cNvGrpSpPr/>
          <p:nvPr/>
        </p:nvGrpSpPr>
        <p:grpSpPr>
          <a:xfrm>
            <a:off x="2093504" y="2895600"/>
            <a:ext cx="4459696" cy="1905000"/>
            <a:chOff x="1864904" y="2133600"/>
            <a:chExt cx="4459696" cy="1905000"/>
          </a:xfrm>
        </p:grpSpPr>
        <p:sp>
          <p:nvSpPr>
            <p:cNvPr id="3" name="Oval 2">
              <a:extLst>
                <a:ext uri="{FF2B5EF4-FFF2-40B4-BE49-F238E27FC236}">
                  <a16:creationId xmlns:a16="http://schemas.microsoft.com/office/drawing/2014/main" id="{4D918E3E-D876-6FD4-19A4-BEF979735D0E}"/>
                </a:ext>
              </a:extLst>
            </p:cNvPr>
            <p:cNvSpPr/>
            <p:nvPr/>
          </p:nvSpPr>
          <p:spPr>
            <a:xfrm>
              <a:off x="1864904" y="2980102"/>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6" name="Oval 5">
              <a:extLst>
                <a:ext uri="{FF2B5EF4-FFF2-40B4-BE49-F238E27FC236}">
                  <a16:creationId xmlns:a16="http://schemas.microsoft.com/office/drawing/2014/main" id="{F9843C1F-CC19-A779-CEE6-E1F177C0993D}"/>
                </a:ext>
              </a:extLst>
            </p:cNvPr>
            <p:cNvSpPr/>
            <p:nvPr/>
          </p:nvSpPr>
          <p:spPr>
            <a:xfrm>
              <a:off x="2726664" y="231578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sp>
          <p:nvSpPr>
            <p:cNvPr id="7" name="Oval 6">
              <a:extLst>
                <a:ext uri="{FF2B5EF4-FFF2-40B4-BE49-F238E27FC236}">
                  <a16:creationId xmlns:a16="http://schemas.microsoft.com/office/drawing/2014/main" id="{3D68AD95-4058-C99D-573D-B47BBFD5F4E7}"/>
                </a:ext>
              </a:extLst>
            </p:cNvPr>
            <p:cNvSpPr/>
            <p:nvPr/>
          </p:nvSpPr>
          <p:spPr>
            <a:xfrm>
              <a:off x="3447262" y="288728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a:t>
              </a:r>
            </a:p>
          </p:txBody>
        </p:sp>
        <p:sp>
          <p:nvSpPr>
            <p:cNvPr id="8" name="Oval 7">
              <a:extLst>
                <a:ext uri="{FF2B5EF4-FFF2-40B4-BE49-F238E27FC236}">
                  <a16:creationId xmlns:a16="http://schemas.microsoft.com/office/drawing/2014/main" id="{A85D3DC2-7F86-B7D1-8188-F5B7ECBF8DCC}"/>
                </a:ext>
              </a:extLst>
            </p:cNvPr>
            <p:cNvSpPr/>
            <p:nvPr/>
          </p:nvSpPr>
          <p:spPr>
            <a:xfrm>
              <a:off x="4101262"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a:t>
              </a:r>
            </a:p>
          </p:txBody>
        </p:sp>
        <p:sp>
          <p:nvSpPr>
            <p:cNvPr id="9" name="Oval 8">
              <a:extLst>
                <a:ext uri="{FF2B5EF4-FFF2-40B4-BE49-F238E27FC236}">
                  <a16:creationId xmlns:a16="http://schemas.microsoft.com/office/drawing/2014/main" id="{7F286BC2-6AC1-6DA6-9196-84B1A64CB800}"/>
                </a:ext>
              </a:extLst>
            </p:cNvPr>
            <p:cNvSpPr/>
            <p:nvPr/>
          </p:nvSpPr>
          <p:spPr>
            <a:xfrm>
              <a:off x="3975815" y="2300541"/>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
              </a:r>
            </a:p>
          </p:txBody>
        </p:sp>
        <p:sp>
          <p:nvSpPr>
            <p:cNvPr id="10" name="Oval 9">
              <a:extLst>
                <a:ext uri="{FF2B5EF4-FFF2-40B4-BE49-F238E27FC236}">
                  <a16:creationId xmlns:a16="http://schemas.microsoft.com/office/drawing/2014/main" id="{FA35D297-BD99-D3E2-4C40-BBBA2DA817C3}"/>
                </a:ext>
              </a:extLst>
            </p:cNvPr>
            <p:cNvSpPr/>
            <p:nvPr/>
          </p:nvSpPr>
          <p:spPr>
            <a:xfrm>
              <a:off x="5219986"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a:t>
              </a:r>
            </a:p>
          </p:txBody>
        </p:sp>
        <p:sp>
          <p:nvSpPr>
            <p:cNvPr id="11" name="Oval 10">
              <a:extLst>
                <a:ext uri="{FF2B5EF4-FFF2-40B4-BE49-F238E27FC236}">
                  <a16:creationId xmlns:a16="http://schemas.microsoft.com/office/drawing/2014/main" id="{E2BD0BE9-85E2-1B6E-2CE3-B15F5D6BE4C1}"/>
                </a:ext>
              </a:extLst>
            </p:cNvPr>
            <p:cNvSpPr/>
            <p:nvPr/>
          </p:nvSpPr>
          <p:spPr>
            <a:xfrm>
              <a:off x="5230529" y="2287933"/>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t>
              </a:r>
            </a:p>
          </p:txBody>
        </p:sp>
        <p:sp>
          <p:nvSpPr>
            <p:cNvPr id="12" name="Oval 11">
              <a:extLst>
                <a:ext uri="{FF2B5EF4-FFF2-40B4-BE49-F238E27FC236}">
                  <a16:creationId xmlns:a16="http://schemas.microsoft.com/office/drawing/2014/main" id="{0A8B2090-255B-3804-4D0E-0BED84EC1580}"/>
                </a:ext>
              </a:extLst>
            </p:cNvPr>
            <p:cNvSpPr/>
            <p:nvPr/>
          </p:nvSpPr>
          <p:spPr>
            <a:xfrm>
              <a:off x="6057420" y="2940974"/>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a:t>
              </a:r>
            </a:p>
          </p:txBody>
        </p:sp>
        <p:sp>
          <p:nvSpPr>
            <p:cNvPr id="13" name="Oval 12">
              <a:extLst>
                <a:ext uri="{FF2B5EF4-FFF2-40B4-BE49-F238E27FC236}">
                  <a16:creationId xmlns:a16="http://schemas.microsoft.com/office/drawing/2014/main" id="{944189E2-3EC8-300D-2431-F092D036F870}"/>
                </a:ext>
              </a:extLst>
            </p:cNvPr>
            <p:cNvSpPr/>
            <p:nvPr/>
          </p:nvSpPr>
          <p:spPr>
            <a:xfrm>
              <a:off x="2754486"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a:t>
              </a:r>
            </a:p>
          </p:txBody>
        </p:sp>
        <p:cxnSp>
          <p:nvCxnSpPr>
            <p:cNvPr id="15" name="Straight Connector 14">
              <a:extLst>
                <a:ext uri="{FF2B5EF4-FFF2-40B4-BE49-F238E27FC236}">
                  <a16:creationId xmlns:a16="http://schemas.microsoft.com/office/drawing/2014/main" id="{19C65417-C880-DFE0-9007-653E6EA70C98}"/>
                </a:ext>
              </a:extLst>
            </p:cNvPr>
            <p:cNvCxnSpPr>
              <a:cxnSpLocks/>
              <a:stCxn id="6" idx="3"/>
              <a:endCxn id="3" idx="7"/>
            </p:cNvCxnSpPr>
            <p:nvPr/>
          </p:nvCxnSpPr>
          <p:spPr>
            <a:xfrm flipH="1">
              <a:off x="2092956" y="2543839"/>
              <a:ext cx="672836" cy="4753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187CE4-3119-6DB8-7348-4AA0D649AD6A}"/>
                </a:ext>
              </a:extLst>
            </p:cNvPr>
            <p:cNvCxnSpPr>
              <a:cxnSpLocks/>
              <a:stCxn id="9" idx="2"/>
              <a:endCxn id="6" idx="6"/>
            </p:cNvCxnSpPr>
            <p:nvPr/>
          </p:nvCxnSpPr>
          <p:spPr>
            <a:xfrm flipH="1">
              <a:off x="2993844" y="2434131"/>
              <a:ext cx="981971" cy="152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466D00-D5EB-7E7F-6A1E-410542BF730A}"/>
                </a:ext>
              </a:extLst>
            </p:cNvPr>
            <p:cNvCxnSpPr>
              <a:cxnSpLocks/>
              <a:stCxn id="6" idx="4"/>
              <a:endCxn id="13" idx="0"/>
            </p:cNvCxnSpPr>
            <p:nvPr/>
          </p:nvCxnSpPr>
          <p:spPr>
            <a:xfrm>
              <a:off x="2860254" y="2582967"/>
              <a:ext cx="27822" cy="10094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CFADF5F-E21F-AAB7-1F73-D7F686BB4547}"/>
                </a:ext>
              </a:extLst>
            </p:cNvPr>
            <p:cNvCxnSpPr>
              <a:cxnSpLocks/>
              <a:stCxn id="13" idx="1"/>
              <a:endCxn id="3" idx="5"/>
            </p:cNvCxnSpPr>
            <p:nvPr/>
          </p:nvCxnSpPr>
          <p:spPr>
            <a:xfrm flipH="1" flipV="1">
              <a:off x="2092956" y="3208154"/>
              <a:ext cx="700658" cy="4233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23727E-8B69-73AD-5A28-15EBEAF0DCEF}"/>
                </a:ext>
              </a:extLst>
            </p:cNvPr>
            <p:cNvCxnSpPr>
              <a:cxnSpLocks/>
              <a:stCxn id="9" idx="3"/>
              <a:endCxn id="7" idx="7"/>
            </p:cNvCxnSpPr>
            <p:nvPr/>
          </p:nvCxnSpPr>
          <p:spPr>
            <a:xfrm flipH="1">
              <a:off x="3675314" y="2528593"/>
              <a:ext cx="339629" cy="3978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FC0D38-8086-9C5F-D8A3-31BB1D347ADE}"/>
                </a:ext>
              </a:extLst>
            </p:cNvPr>
            <p:cNvCxnSpPr>
              <a:cxnSpLocks/>
              <a:stCxn id="10" idx="1"/>
              <a:endCxn id="9" idx="5"/>
            </p:cNvCxnSpPr>
            <p:nvPr/>
          </p:nvCxnSpPr>
          <p:spPr>
            <a:xfrm flipH="1" flipV="1">
              <a:off x="4203867" y="2528593"/>
              <a:ext cx="1055247" cy="11029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E37B0A-8A81-71CA-0C2B-2D8FBE3EF811}"/>
                </a:ext>
              </a:extLst>
            </p:cNvPr>
            <p:cNvCxnSpPr>
              <a:cxnSpLocks/>
              <a:stCxn id="11" idx="2"/>
              <a:endCxn id="9" idx="6"/>
            </p:cNvCxnSpPr>
            <p:nvPr/>
          </p:nvCxnSpPr>
          <p:spPr>
            <a:xfrm flipH="1">
              <a:off x="4242995" y="2421523"/>
              <a:ext cx="987534" cy="126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AAD19C-0B6D-6740-E3C8-8B4697114633}"/>
                </a:ext>
              </a:extLst>
            </p:cNvPr>
            <p:cNvCxnSpPr>
              <a:cxnSpLocks/>
              <a:stCxn id="8" idx="2"/>
              <a:endCxn id="13" idx="6"/>
            </p:cNvCxnSpPr>
            <p:nvPr/>
          </p:nvCxnSpPr>
          <p:spPr>
            <a:xfrm flipH="1">
              <a:off x="3021666" y="3725967"/>
              <a:ext cx="1079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9F8B5B8-47DF-71E6-745E-F1AE2CF08AE5}"/>
                </a:ext>
              </a:extLst>
            </p:cNvPr>
            <p:cNvCxnSpPr>
              <a:cxnSpLocks/>
              <a:stCxn id="8" idx="1"/>
              <a:endCxn id="7" idx="5"/>
            </p:cNvCxnSpPr>
            <p:nvPr/>
          </p:nvCxnSpPr>
          <p:spPr>
            <a:xfrm flipH="1" flipV="1">
              <a:off x="3675314" y="3115339"/>
              <a:ext cx="465076" cy="5161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00F34E3-0BBA-A727-4A03-406FCEBF5F61}"/>
                </a:ext>
              </a:extLst>
            </p:cNvPr>
            <p:cNvCxnSpPr>
              <a:cxnSpLocks/>
              <a:stCxn id="12" idx="3"/>
              <a:endCxn id="10" idx="7"/>
            </p:cNvCxnSpPr>
            <p:nvPr/>
          </p:nvCxnSpPr>
          <p:spPr>
            <a:xfrm flipH="1">
              <a:off x="5448038" y="3169026"/>
              <a:ext cx="648510" cy="4624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C90E1C2-2226-941A-F948-753CCD02925D}"/>
                </a:ext>
              </a:extLst>
            </p:cNvPr>
            <p:cNvCxnSpPr>
              <a:cxnSpLocks/>
              <a:stCxn id="10" idx="2"/>
              <a:endCxn id="8" idx="6"/>
            </p:cNvCxnSpPr>
            <p:nvPr/>
          </p:nvCxnSpPr>
          <p:spPr>
            <a:xfrm flipH="1">
              <a:off x="4368442" y="3725967"/>
              <a:ext cx="8515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A4A81C9-D7A1-0CE5-FA22-E5F04959BE31}"/>
                </a:ext>
              </a:extLst>
            </p:cNvPr>
            <p:cNvCxnSpPr>
              <a:cxnSpLocks/>
              <a:stCxn id="7" idx="3"/>
              <a:endCxn id="13" idx="7"/>
            </p:cNvCxnSpPr>
            <p:nvPr/>
          </p:nvCxnSpPr>
          <p:spPr>
            <a:xfrm flipH="1">
              <a:off x="2982538" y="3115339"/>
              <a:ext cx="503852" cy="5161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C9A8B11-CE50-A42E-77F0-0DC009A5AA28}"/>
                </a:ext>
              </a:extLst>
            </p:cNvPr>
            <p:cNvCxnSpPr>
              <a:cxnSpLocks/>
              <a:stCxn id="11" idx="4"/>
              <a:endCxn id="10" idx="0"/>
            </p:cNvCxnSpPr>
            <p:nvPr/>
          </p:nvCxnSpPr>
          <p:spPr>
            <a:xfrm flipH="1">
              <a:off x="5353576" y="2555113"/>
              <a:ext cx="10543" cy="10372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F21AA7F-E65F-79D3-2ABE-4E6AC38F8067}"/>
                </a:ext>
              </a:extLst>
            </p:cNvPr>
            <p:cNvCxnSpPr>
              <a:cxnSpLocks/>
              <a:stCxn id="11" idx="5"/>
              <a:endCxn id="12" idx="1"/>
            </p:cNvCxnSpPr>
            <p:nvPr/>
          </p:nvCxnSpPr>
          <p:spPr>
            <a:xfrm>
              <a:off x="5458581" y="2515985"/>
              <a:ext cx="637967" cy="464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7C54A81-31EA-6FAB-7327-F38DF47E12D3}"/>
                </a:ext>
              </a:extLst>
            </p:cNvPr>
            <p:cNvSpPr txBox="1"/>
            <p:nvPr/>
          </p:nvSpPr>
          <p:spPr>
            <a:xfrm>
              <a:off x="2286000" y="2438400"/>
              <a:ext cx="288862" cy="338554"/>
            </a:xfrm>
            <a:prstGeom prst="rect">
              <a:avLst/>
            </a:prstGeom>
            <a:noFill/>
          </p:spPr>
          <p:txBody>
            <a:bodyPr wrap="none" rtlCol="0">
              <a:spAutoFit/>
            </a:bodyPr>
            <a:lstStyle/>
            <a:p>
              <a:r>
                <a:rPr lang="en-IN" sz="1600" dirty="0"/>
                <a:t>4</a:t>
              </a:r>
            </a:p>
          </p:txBody>
        </p:sp>
        <p:sp>
          <p:nvSpPr>
            <p:cNvPr id="70" name="TextBox 69">
              <a:extLst>
                <a:ext uri="{FF2B5EF4-FFF2-40B4-BE49-F238E27FC236}">
                  <a16:creationId xmlns:a16="http://schemas.microsoft.com/office/drawing/2014/main" id="{F16D0E57-82FA-C123-688F-5445E5F0CFD5}"/>
                </a:ext>
              </a:extLst>
            </p:cNvPr>
            <p:cNvSpPr txBox="1"/>
            <p:nvPr/>
          </p:nvSpPr>
          <p:spPr>
            <a:xfrm>
              <a:off x="2209800" y="3319046"/>
              <a:ext cx="288862" cy="338554"/>
            </a:xfrm>
            <a:prstGeom prst="rect">
              <a:avLst/>
            </a:prstGeom>
            <a:noFill/>
          </p:spPr>
          <p:txBody>
            <a:bodyPr wrap="none" rtlCol="0">
              <a:spAutoFit/>
            </a:bodyPr>
            <a:lstStyle/>
            <a:p>
              <a:r>
                <a:rPr lang="en-IN" sz="1600" dirty="0"/>
                <a:t>8</a:t>
              </a:r>
            </a:p>
          </p:txBody>
        </p:sp>
        <p:sp>
          <p:nvSpPr>
            <p:cNvPr id="71" name="TextBox 70">
              <a:extLst>
                <a:ext uri="{FF2B5EF4-FFF2-40B4-BE49-F238E27FC236}">
                  <a16:creationId xmlns:a16="http://schemas.microsoft.com/office/drawing/2014/main" id="{7EB3D889-FCAC-4AB2-03DB-A8EEF1A1D66A}"/>
                </a:ext>
              </a:extLst>
            </p:cNvPr>
            <p:cNvSpPr txBox="1"/>
            <p:nvPr/>
          </p:nvSpPr>
          <p:spPr>
            <a:xfrm>
              <a:off x="2548782" y="2971961"/>
              <a:ext cx="393056" cy="338554"/>
            </a:xfrm>
            <a:prstGeom prst="rect">
              <a:avLst/>
            </a:prstGeom>
            <a:noFill/>
          </p:spPr>
          <p:txBody>
            <a:bodyPr wrap="none" rtlCol="0">
              <a:spAutoFit/>
            </a:bodyPr>
            <a:lstStyle/>
            <a:p>
              <a:r>
                <a:rPr lang="en-IN" sz="1600" dirty="0"/>
                <a:t>11</a:t>
              </a:r>
            </a:p>
          </p:txBody>
        </p:sp>
        <p:sp>
          <p:nvSpPr>
            <p:cNvPr id="72" name="TextBox 71">
              <a:extLst>
                <a:ext uri="{FF2B5EF4-FFF2-40B4-BE49-F238E27FC236}">
                  <a16:creationId xmlns:a16="http://schemas.microsoft.com/office/drawing/2014/main" id="{1CF7FB11-8863-6479-CCBA-6E889D141030}"/>
                </a:ext>
              </a:extLst>
            </p:cNvPr>
            <p:cNvSpPr txBox="1"/>
            <p:nvPr/>
          </p:nvSpPr>
          <p:spPr>
            <a:xfrm>
              <a:off x="3264544" y="2133600"/>
              <a:ext cx="288862" cy="338554"/>
            </a:xfrm>
            <a:prstGeom prst="rect">
              <a:avLst/>
            </a:prstGeom>
            <a:noFill/>
          </p:spPr>
          <p:txBody>
            <a:bodyPr wrap="none" rtlCol="0">
              <a:spAutoFit/>
            </a:bodyPr>
            <a:lstStyle/>
            <a:p>
              <a:r>
                <a:rPr lang="en-IN" sz="1600" dirty="0"/>
                <a:t>8</a:t>
              </a:r>
            </a:p>
          </p:txBody>
        </p:sp>
        <p:sp>
          <p:nvSpPr>
            <p:cNvPr id="73" name="TextBox 72">
              <a:extLst>
                <a:ext uri="{FF2B5EF4-FFF2-40B4-BE49-F238E27FC236}">
                  <a16:creationId xmlns:a16="http://schemas.microsoft.com/office/drawing/2014/main" id="{21996755-30AF-0A0E-7AA4-8C96042E103C}"/>
                </a:ext>
              </a:extLst>
            </p:cNvPr>
            <p:cNvSpPr txBox="1"/>
            <p:nvPr/>
          </p:nvSpPr>
          <p:spPr>
            <a:xfrm>
              <a:off x="3063938" y="3124200"/>
              <a:ext cx="288862" cy="338554"/>
            </a:xfrm>
            <a:prstGeom prst="rect">
              <a:avLst/>
            </a:prstGeom>
            <a:noFill/>
          </p:spPr>
          <p:txBody>
            <a:bodyPr wrap="none" rtlCol="0">
              <a:spAutoFit/>
            </a:bodyPr>
            <a:lstStyle/>
            <a:p>
              <a:r>
                <a:rPr lang="en-IN" sz="1600" dirty="0"/>
                <a:t>7</a:t>
              </a:r>
            </a:p>
          </p:txBody>
        </p:sp>
        <p:sp>
          <p:nvSpPr>
            <p:cNvPr id="74" name="TextBox 73">
              <a:extLst>
                <a:ext uri="{FF2B5EF4-FFF2-40B4-BE49-F238E27FC236}">
                  <a16:creationId xmlns:a16="http://schemas.microsoft.com/office/drawing/2014/main" id="{D8319FC9-704E-1357-6397-0880D9382900}"/>
                </a:ext>
              </a:extLst>
            </p:cNvPr>
            <p:cNvSpPr txBox="1"/>
            <p:nvPr/>
          </p:nvSpPr>
          <p:spPr>
            <a:xfrm>
              <a:off x="3444938" y="3700046"/>
              <a:ext cx="288862" cy="338554"/>
            </a:xfrm>
            <a:prstGeom prst="rect">
              <a:avLst/>
            </a:prstGeom>
            <a:noFill/>
          </p:spPr>
          <p:txBody>
            <a:bodyPr wrap="none" rtlCol="0">
              <a:spAutoFit/>
            </a:bodyPr>
            <a:lstStyle/>
            <a:p>
              <a:r>
                <a:rPr lang="en-IN" sz="1600" dirty="0"/>
                <a:t>1</a:t>
              </a:r>
            </a:p>
          </p:txBody>
        </p:sp>
        <p:sp>
          <p:nvSpPr>
            <p:cNvPr id="75" name="TextBox 74">
              <a:extLst>
                <a:ext uri="{FF2B5EF4-FFF2-40B4-BE49-F238E27FC236}">
                  <a16:creationId xmlns:a16="http://schemas.microsoft.com/office/drawing/2014/main" id="{2C915775-05D8-47C9-54A0-3F7D65E30647}"/>
                </a:ext>
              </a:extLst>
            </p:cNvPr>
            <p:cNvSpPr txBox="1"/>
            <p:nvPr/>
          </p:nvSpPr>
          <p:spPr>
            <a:xfrm>
              <a:off x="3808946" y="3105389"/>
              <a:ext cx="288862" cy="338554"/>
            </a:xfrm>
            <a:prstGeom prst="rect">
              <a:avLst/>
            </a:prstGeom>
            <a:noFill/>
          </p:spPr>
          <p:txBody>
            <a:bodyPr wrap="none" rtlCol="0">
              <a:spAutoFit/>
            </a:bodyPr>
            <a:lstStyle/>
            <a:p>
              <a:r>
                <a:rPr lang="en-IN" sz="1600" dirty="0"/>
                <a:t>6</a:t>
              </a:r>
            </a:p>
          </p:txBody>
        </p:sp>
        <p:sp>
          <p:nvSpPr>
            <p:cNvPr id="76" name="TextBox 75">
              <a:extLst>
                <a:ext uri="{FF2B5EF4-FFF2-40B4-BE49-F238E27FC236}">
                  <a16:creationId xmlns:a16="http://schemas.microsoft.com/office/drawing/2014/main" id="{7EF20E09-BFCE-20F9-9FFD-E36B41619C40}"/>
                </a:ext>
              </a:extLst>
            </p:cNvPr>
            <p:cNvSpPr txBox="1"/>
            <p:nvPr/>
          </p:nvSpPr>
          <p:spPr>
            <a:xfrm>
              <a:off x="4511738" y="2176046"/>
              <a:ext cx="288862" cy="338554"/>
            </a:xfrm>
            <a:prstGeom prst="rect">
              <a:avLst/>
            </a:prstGeom>
            <a:noFill/>
          </p:spPr>
          <p:txBody>
            <a:bodyPr wrap="none" rtlCol="0">
              <a:spAutoFit/>
            </a:bodyPr>
            <a:lstStyle/>
            <a:p>
              <a:r>
                <a:rPr lang="en-IN" sz="1600" dirty="0"/>
                <a:t>7</a:t>
              </a:r>
            </a:p>
          </p:txBody>
        </p:sp>
        <p:sp>
          <p:nvSpPr>
            <p:cNvPr id="77" name="TextBox 76">
              <a:extLst>
                <a:ext uri="{FF2B5EF4-FFF2-40B4-BE49-F238E27FC236}">
                  <a16:creationId xmlns:a16="http://schemas.microsoft.com/office/drawing/2014/main" id="{B1F2BF92-8C76-2BEC-0332-5B6CE01E35BF}"/>
                </a:ext>
              </a:extLst>
            </p:cNvPr>
            <p:cNvSpPr txBox="1"/>
            <p:nvPr/>
          </p:nvSpPr>
          <p:spPr>
            <a:xfrm>
              <a:off x="5730938" y="2514600"/>
              <a:ext cx="288862" cy="338554"/>
            </a:xfrm>
            <a:prstGeom prst="rect">
              <a:avLst/>
            </a:prstGeom>
            <a:noFill/>
          </p:spPr>
          <p:txBody>
            <a:bodyPr wrap="none" rtlCol="0">
              <a:spAutoFit/>
            </a:bodyPr>
            <a:lstStyle/>
            <a:p>
              <a:r>
                <a:rPr lang="en-IN" sz="1600" dirty="0"/>
                <a:t>9</a:t>
              </a:r>
            </a:p>
          </p:txBody>
        </p:sp>
        <p:sp>
          <p:nvSpPr>
            <p:cNvPr id="78" name="TextBox 77">
              <a:extLst>
                <a:ext uri="{FF2B5EF4-FFF2-40B4-BE49-F238E27FC236}">
                  <a16:creationId xmlns:a16="http://schemas.microsoft.com/office/drawing/2014/main" id="{B3B37701-6A7E-BBCB-4B3F-8F961DDF8534}"/>
                </a:ext>
              </a:extLst>
            </p:cNvPr>
            <p:cNvSpPr txBox="1"/>
            <p:nvPr/>
          </p:nvSpPr>
          <p:spPr>
            <a:xfrm>
              <a:off x="5297373" y="2809187"/>
              <a:ext cx="393056" cy="338554"/>
            </a:xfrm>
            <a:prstGeom prst="rect">
              <a:avLst/>
            </a:prstGeom>
            <a:noFill/>
          </p:spPr>
          <p:txBody>
            <a:bodyPr wrap="none" rtlCol="0">
              <a:spAutoFit/>
            </a:bodyPr>
            <a:lstStyle/>
            <a:p>
              <a:r>
                <a:rPr lang="en-IN" sz="1600" dirty="0"/>
                <a:t>14</a:t>
              </a:r>
            </a:p>
          </p:txBody>
        </p:sp>
        <p:sp>
          <p:nvSpPr>
            <p:cNvPr id="79" name="TextBox 78">
              <a:extLst>
                <a:ext uri="{FF2B5EF4-FFF2-40B4-BE49-F238E27FC236}">
                  <a16:creationId xmlns:a16="http://schemas.microsoft.com/office/drawing/2014/main" id="{F9A348F3-B0C1-7C14-9B49-75BFC0B64D39}"/>
                </a:ext>
              </a:extLst>
            </p:cNvPr>
            <p:cNvSpPr txBox="1"/>
            <p:nvPr/>
          </p:nvSpPr>
          <p:spPr>
            <a:xfrm>
              <a:off x="5626744" y="3352800"/>
              <a:ext cx="393056" cy="338554"/>
            </a:xfrm>
            <a:prstGeom prst="rect">
              <a:avLst/>
            </a:prstGeom>
            <a:noFill/>
          </p:spPr>
          <p:txBody>
            <a:bodyPr wrap="none" rtlCol="0">
              <a:spAutoFit/>
            </a:bodyPr>
            <a:lstStyle/>
            <a:p>
              <a:r>
                <a:rPr lang="en-IN" sz="1600" dirty="0"/>
                <a:t>10</a:t>
              </a:r>
            </a:p>
          </p:txBody>
        </p:sp>
        <p:sp>
          <p:nvSpPr>
            <p:cNvPr id="80" name="TextBox 79">
              <a:extLst>
                <a:ext uri="{FF2B5EF4-FFF2-40B4-BE49-F238E27FC236}">
                  <a16:creationId xmlns:a16="http://schemas.microsoft.com/office/drawing/2014/main" id="{DC276535-310E-1FDE-7766-C3E402390B88}"/>
                </a:ext>
              </a:extLst>
            </p:cNvPr>
            <p:cNvSpPr txBox="1"/>
            <p:nvPr/>
          </p:nvSpPr>
          <p:spPr>
            <a:xfrm>
              <a:off x="4636144" y="3657600"/>
              <a:ext cx="288862" cy="338554"/>
            </a:xfrm>
            <a:prstGeom prst="rect">
              <a:avLst/>
            </a:prstGeom>
            <a:noFill/>
          </p:spPr>
          <p:txBody>
            <a:bodyPr wrap="none" rtlCol="0">
              <a:spAutoFit/>
            </a:bodyPr>
            <a:lstStyle/>
            <a:p>
              <a:r>
                <a:rPr lang="en-IN" sz="1600" dirty="0"/>
                <a:t>2</a:t>
              </a:r>
            </a:p>
          </p:txBody>
        </p:sp>
        <p:sp>
          <p:nvSpPr>
            <p:cNvPr id="81" name="TextBox 80">
              <a:extLst>
                <a:ext uri="{FF2B5EF4-FFF2-40B4-BE49-F238E27FC236}">
                  <a16:creationId xmlns:a16="http://schemas.microsoft.com/office/drawing/2014/main" id="{B52BA8F7-A73C-0FE0-4875-608086A267BD}"/>
                </a:ext>
              </a:extLst>
            </p:cNvPr>
            <p:cNvSpPr txBox="1"/>
            <p:nvPr/>
          </p:nvSpPr>
          <p:spPr>
            <a:xfrm>
              <a:off x="4511738" y="3014246"/>
              <a:ext cx="288862" cy="338554"/>
            </a:xfrm>
            <a:prstGeom prst="rect">
              <a:avLst/>
            </a:prstGeom>
            <a:noFill/>
          </p:spPr>
          <p:txBody>
            <a:bodyPr wrap="none" rtlCol="0">
              <a:spAutoFit/>
            </a:bodyPr>
            <a:lstStyle/>
            <a:p>
              <a:r>
                <a:rPr lang="en-IN" sz="1600" dirty="0"/>
                <a:t>4</a:t>
              </a:r>
            </a:p>
          </p:txBody>
        </p:sp>
        <p:sp>
          <p:nvSpPr>
            <p:cNvPr id="106" name="TextBox 105">
              <a:extLst>
                <a:ext uri="{FF2B5EF4-FFF2-40B4-BE49-F238E27FC236}">
                  <a16:creationId xmlns:a16="http://schemas.microsoft.com/office/drawing/2014/main" id="{2D80B73A-6C4D-F6D1-ADA1-0931453869BC}"/>
                </a:ext>
              </a:extLst>
            </p:cNvPr>
            <p:cNvSpPr txBox="1"/>
            <p:nvPr/>
          </p:nvSpPr>
          <p:spPr>
            <a:xfrm>
              <a:off x="3750320" y="2685708"/>
              <a:ext cx="288862" cy="338554"/>
            </a:xfrm>
            <a:prstGeom prst="rect">
              <a:avLst/>
            </a:prstGeom>
            <a:noFill/>
          </p:spPr>
          <p:txBody>
            <a:bodyPr wrap="none" rtlCol="0">
              <a:spAutoFit/>
            </a:bodyPr>
            <a:lstStyle/>
            <a:p>
              <a:r>
                <a:rPr lang="en-IN" sz="1600" dirty="0"/>
                <a:t>2</a:t>
              </a:r>
            </a:p>
          </p:txBody>
        </p:sp>
      </p:grpSp>
    </p:spTree>
    <p:extLst>
      <p:ext uri="{BB962C8B-B14F-4D97-AF65-F5344CB8AC3E}">
        <p14:creationId xmlns:p14="http://schemas.microsoft.com/office/powerpoint/2010/main" val="2993678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Minimum Spanning Tree</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15</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304800" y="1445731"/>
            <a:ext cx="8382000" cy="459269"/>
          </a:xfrm>
          <a:ln>
            <a:solidFill>
              <a:schemeClr val="tx1"/>
            </a:solidFill>
          </a:ln>
        </p:spPr>
        <p:txBody>
          <a:bodyPr>
            <a:normAutofit/>
          </a:bodyPr>
          <a:lstStyle/>
          <a:p>
            <a:pPr marL="285750" algn="just">
              <a:buFont typeface="Arial" panose="020B0604020202020204" pitchFamily="34" charset="0"/>
              <a:buChar char="•"/>
              <a:defRPr/>
            </a:pPr>
            <a:r>
              <a:rPr lang="en-US" sz="2200" dirty="0">
                <a:latin typeface="Times New Roman" pitchFamily="18" charset="0"/>
                <a:cs typeface="Times New Roman" pitchFamily="18" charset="0"/>
              </a:rPr>
              <a:t>Example of Minimum Spanning Tree problem – </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22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EA7D1FF5-7565-469D-B597-BFBEF586412E}"/>
              </a:ext>
            </a:extLst>
          </p:cNvPr>
          <p:cNvPicPr>
            <a:picLocks noChangeAspect="1"/>
          </p:cNvPicPr>
          <p:nvPr/>
        </p:nvPicPr>
        <p:blipFill>
          <a:blip r:embed="rId2"/>
          <a:stretch>
            <a:fillRect/>
          </a:stretch>
        </p:blipFill>
        <p:spPr>
          <a:xfrm>
            <a:off x="2362200" y="4381980"/>
            <a:ext cx="3962400" cy="1914525"/>
          </a:xfrm>
          <a:prstGeom prst="rect">
            <a:avLst/>
          </a:prstGeom>
        </p:spPr>
      </p:pic>
      <p:grpSp>
        <p:nvGrpSpPr>
          <p:cNvPr id="107" name="Group 106">
            <a:extLst>
              <a:ext uri="{FF2B5EF4-FFF2-40B4-BE49-F238E27FC236}">
                <a16:creationId xmlns:a16="http://schemas.microsoft.com/office/drawing/2014/main" id="{CE679BDB-E9BD-C1B2-A620-913C6F605397}"/>
              </a:ext>
            </a:extLst>
          </p:cNvPr>
          <p:cNvGrpSpPr/>
          <p:nvPr/>
        </p:nvGrpSpPr>
        <p:grpSpPr>
          <a:xfrm>
            <a:off x="1864904" y="2133600"/>
            <a:ext cx="4459696" cy="1905000"/>
            <a:chOff x="1864904" y="2133600"/>
            <a:chExt cx="4459696" cy="1905000"/>
          </a:xfrm>
        </p:grpSpPr>
        <p:sp>
          <p:nvSpPr>
            <p:cNvPr id="3" name="Oval 2">
              <a:extLst>
                <a:ext uri="{FF2B5EF4-FFF2-40B4-BE49-F238E27FC236}">
                  <a16:creationId xmlns:a16="http://schemas.microsoft.com/office/drawing/2014/main" id="{4D918E3E-D876-6FD4-19A4-BEF979735D0E}"/>
                </a:ext>
              </a:extLst>
            </p:cNvPr>
            <p:cNvSpPr/>
            <p:nvPr/>
          </p:nvSpPr>
          <p:spPr>
            <a:xfrm>
              <a:off x="1864904" y="2980102"/>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a:t>
              </a:r>
            </a:p>
          </p:txBody>
        </p:sp>
        <p:sp>
          <p:nvSpPr>
            <p:cNvPr id="6" name="Oval 5">
              <a:extLst>
                <a:ext uri="{FF2B5EF4-FFF2-40B4-BE49-F238E27FC236}">
                  <a16:creationId xmlns:a16="http://schemas.microsoft.com/office/drawing/2014/main" id="{F9843C1F-CC19-A779-CEE6-E1F177C0993D}"/>
                </a:ext>
              </a:extLst>
            </p:cNvPr>
            <p:cNvSpPr/>
            <p:nvPr/>
          </p:nvSpPr>
          <p:spPr>
            <a:xfrm>
              <a:off x="2726664" y="231578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a:t>
              </a:r>
            </a:p>
          </p:txBody>
        </p:sp>
        <p:sp>
          <p:nvSpPr>
            <p:cNvPr id="7" name="Oval 6">
              <a:extLst>
                <a:ext uri="{FF2B5EF4-FFF2-40B4-BE49-F238E27FC236}">
                  <a16:creationId xmlns:a16="http://schemas.microsoft.com/office/drawing/2014/main" id="{3D68AD95-4058-C99D-573D-B47BBFD5F4E7}"/>
                </a:ext>
              </a:extLst>
            </p:cNvPr>
            <p:cNvSpPr/>
            <p:nvPr/>
          </p:nvSpPr>
          <p:spPr>
            <a:xfrm>
              <a:off x="3447262" y="288728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a:t>
              </a:r>
            </a:p>
          </p:txBody>
        </p:sp>
        <p:sp>
          <p:nvSpPr>
            <p:cNvPr id="8" name="Oval 7">
              <a:extLst>
                <a:ext uri="{FF2B5EF4-FFF2-40B4-BE49-F238E27FC236}">
                  <a16:creationId xmlns:a16="http://schemas.microsoft.com/office/drawing/2014/main" id="{A85D3DC2-7F86-B7D1-8188-F5B7ECBF8DCC}"/>
                </a:ext>
              </a:extLst>
            </p:cNvPr>
            <p:cNvSpPr/>
            <p:nvPr/>
          </p:nvSpPr>
          <p:spPr>
            <a:xfrm>
              <a:off x="4101262"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a:t>
              </a:r>
            </a:p>
          </p:txBody>
        </p:sp>
        <p:sp>
          <p:nvSpPr>
            <p:cNvPr id="9" name="Oval 8">
              <a:extLst>
                <a:ext uri="{FF2B5EF4-FFF2-40B4-BE49-F238E27FC236}">
                  <a16:creationId xmlns:a16="http://schemas.microsoft.com/office/drawing/2014/main" id="{7F286BC2-6AC1-6DA6-9196-84B1A64CB800}"/>
                </a:ext>
              </a:extLst>
            </p:cNvPr>
            <p:cNvSpPr/>
            <p:nvPr/>
          </p:nvSpPr>
          <p:spPr>
            <a:xfrm>
              <a:off x="3975815" y="2300541"/>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
              </a:r>
            </a:p>
          </p:txBody>
        </p:sp>
        <p:sp>
          <p:nvSpPr>
            <p:cNvPr id="10" name="Oval 9">
              <a:extLst>
                <a:ext uri="{FF2B5EF4-FFF2-40B4-BE49-F238E27FC236}">
                  <a16:creationId xmlns:a16="http://schemas.microsoft.com/office/drawing/2014/main" id="{FA35D297-BD99-D3E2-4C40-BBBA2DA817C3}"/>
                </a:ext>
              </a:extLst>
            </p:cNvPr>
            <p:cNvSpPr/>
            <p:nvPr/>
          </p:nvSpPr>
          <p:spPr>
            <a:xfrm>
              <a:off x="5219986"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a:t>
              </a:r>
            </a:p>
          </p:txBody>
        </p:sp>
        <p:sp>
          <p:nvSpPr>
            <p:cNvPr id="11" name="Oval 10">
              <a:extLst>
                <a:ext uri="{FF2B5EF4-FFF2-40B4-BE49-F238E27FC236}">
                  <a16:creationId xmlns:a16="http://schemas.microsoft.com/office/drawing/2014/main" id="{E2BD0BE9-85E2-1B6E-2CE3-B15F5D6BE4C1}"/>
                </a:ext>
              </a:extLst>
            </p:cNvPr>
            <p:cNvSpPr/>
            <p:nvPr/>
          </p:nvSpPr>
          <p:spPr>
            <a:xfrm>
              <a:off x="5230529" y="2287933"/>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t>
              </a:r>
            </a:p>
          </p:txBody>
        </p:sp>
        <p:sp>
          <p:nvSpPr>
            <p:cNvPr id="12" name="Oval 11">
              <a:extLst>
                <a:ext uri="{FF2B5EF4-FFF2-40B4-BE49-F238E27FC236}">
                  <a16:creationId xmlns:a16="http://schemas.microsoft.com/office/drawing/2014/main" id="{0A8B2090-255B-3804-4D0E-0BED84EC1580}"/>
                </a:ext>
              </a:extLst>
            </p:cNvPr>
            <p:cNvSpPr/>
            <p:nvPr/>
          </p:nvSpPr>
          <p:spPr>
            <a:xfrm>
              <a:off x="6057420" y="2940974"/>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a:t>
              </a:r>
            </a:p>
          </p:txBody>
        </p:sp>
        <p:sp>
          <p:nvSpPr>
            <p:cNvPr id="13" name="Oval 12">
              <a:extLst>
                <a:ext uri="{FF2B5EF4-FFF2-40B4-BE49-F238E27FC236}">
                  <a16:creationId xmlns:a16="http://schemas.microsoft.com/office/drawing/2014/main" id="{944189E2-3EC8-300D-2431-F092D036F870}"/>
                </a:ext>
              </a:extLst>
            </p:cNvPr>
            <p:cNvSpPr/>
            <p:nvPr/>
          </p:nvSpPr>
          <p:spPr>
            <a:xfrm>
              <a:off x="2754486" y="3592377"/>
              <a:ext cx="267180" cy="26718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a:t>
              </a:r>
            </a:p>
          </p:txBody>
        </p:sp>
        <p:cxnSp>
          <p:nvCxnSpPr>
            <p:cNvPr id="15" name="Straight Connector 14">
              <a:extLst>
                <a:ext uri="{FF2B5EF4-FFF2-40B4-BE49-F238E27FC236}">
                  <a16:creationId xmlns:a16="http://schemas.microsoft.com/office/drawing/2014/main" id="{19C65417-C880-DFE0-9007-653E6EA70C98}"/>
                </a:ext>
              </a:extLst>
            </p:cNvPr>
            <p:cNvCxnSpPr>
              <a:cxnSpLocks/>
              <a:stCxn id="6" idx="3"/>
              <a:endCxn id="3" idx="7"/>
            </p:cNvCxnSpPr>
            <p:nvPr/>
          </p:nvCxnSpPr>
          <p:spPr>
            <a:xfrm flipH="1">
              <a:off x="2092956" y="2543839"/>
              <a:ext cx="672836" cy="4753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187CE4-3119-6DB8-7348-4AA0D649AD6A}"/>
                </a:ext>
              </a:extLst>
            </p:cNvPr>
            <p:cNvCxnSpPr>
              <a:cxnSpLocks/>
              <a:stCxn id="9" idx="2"/>
              <a:endCxn id="6" idx="6"/>
            </p:cNvCxnSpPr>
            <p:nvPr/>
          </p:nvCxnSpPr>
          <p:spPr>
            <a:xfrm flipH="1">
              <a:off x="2993844" y="2434131"/>
              <a:ext cx="981971" cy="152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1466D00-D5EB-7E7F-6A1E-410542BF730A}"/>
                </a:ext>
              </a:extLst>
            </p:cNvPr>
            <p:cNvCxnSpPr>
              <a:cxnSpLocks/>
              <a:stCxn id="6" idx="4"/>
              <a:endCxn id="13" idx="0"/>
            </p:cNvCxnSpPr>
            <p:nvPr/>
          </p:nvCxnSpPr>
          <p:spPr>
            <a:xfrm>
              <a:off x="2860254" y="2582967"/>
              <a:ext cx="27822" cy="10094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CFADF5F-E21F-AAB7-1F73-D7F686BB4547}"/>
                </a:ext>
              </a:extLst>
            </p:cNvPr>
            <p:cNvCxnSpPr>
              <a:cxnSpLocks/>
              <a:stCxn id="13" idx="1"/>
              <a:endCxn id="3" idx="5"/>
            </p:cNvCxnSpPr>
            <p:nvPr/>
          </p:nvCxnSpPr>
          <p:spPr>
            <a:xfrm flipH="1" flipV="1">
              <a:off x="2092956" y="3208154"/>
              <a:ext cx="700658" cy="4233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23727E-8B69-73AD-5A28-15EBEAF0DCEF}"/>
                </a:ext>
              </a:extLst>
            </p:cNvPr>
            <p:cNvCxnSpPr>
              <a:cxnSpLocks/>
              <a:stCxn id="9" idx="3"/>
              <a:endCxn id="7" idx="7"/>
            </p:cNvCxnSpPr>
            <p:nvPr/>
          </p:nvCxnSpPr>
          <p:spPr>
            <a:xfrm flipH="1">
              <a:off x="3675314" y="2528593"/>
              <a:ext cx="339629" cy="3978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7FC0D38-8086-9C5F-D8A3-31BB1D347ADE}"/>
                </a:ext>
              </a:extLst>
            </p:cNvPr>
            <p:cNvCxnSpPr>
              <a:cxnSpLocks/>
              <a:stCxn id="10" idx="1"/>
              <a:endCxn id="9" idx="5"/>
            </p:cNvCxnSpPr>
            <p:nvPr/>
          </p:nvCxnSpPr>
          <p:spPr>
            <a:xfrm flipH="1" flipV="1">
              <a:off x="4203867" y="2528593"/>
              <a:ext cx="1055247" cy="11029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6E37B0A-8A81-71CA-0C2B-2D8FBE3EF811}"/>
                </a:ext>
              </a:extLst>
            </p:cNvPr>
            <p:cNvCxnSpPr>
              <a:cxnSpLocks/>
              <a:stCxn id="11" idx="2"/>
              <a:endCxn id="9" idx="6"/>
            </p:cNvCxnSpPr>
            <p:nvPr/>
          </p:nvCxnSpPr>
          <p:spPr>
            <a:xfrm flipH="1">
              <a:off x="4242995" y="2421523"/>
              <a:ext cx="987534" cy="126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AAD19C-0B6D-6740-E3C8-8B4697114633}"/>
                </a:ext>
              </a:extLst>
            </p:cNvPr>
            <p:cNvCxnSpPr>
              <a:cxnSpLocks/>
              <a:stCxn id="8" idx="2"/>
              <a:endCxn id="13" idx="6"/>
            </p:cNvCxnSpPr>
            <p:nvPr/>
          </p:nvCxnSpPr>
          <p:spPr>
            <a:xfrm flipH="1">
              <a:off x="3021666" y="3725967"/>
              <a:ext cx="1079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9F8B5B8-47DF-71E6-745E-F1AE2CF08AE5}"/>
                </a:ext>
              </a:extLst>
            </p:cNvPr>
            <p:cNvCxnSpPr>
              <a:cxnSpLocks/>
              <a:stCxn id="8" idx="1"/>
              <a:endCxn id="7" idx="5"/>
            </p:cNvCxnSpPr>
            <p:nvPr/>
          </p:nvCxnSpPr>
          <p:spPr>
            <a:xfrm flipH="1" flipV="1">
              <a:off x="3675314" y="3115339"/>
              <a:ext cx="465076" cy="5161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00F34E3-0BBA-A727-4A03-406FCEBF5F61}"/>
                </a:ext>
              </a:extLst>
            </p:cNvPr>
            <p:cNvCxnSpPr>
              <a:cxnSpLocks/>
              <a:stCxn id="12" idx="3"/>
              <a:endCxn id="10" idx="7"/>
            </p:cNvCxnSpPr>
            <p:nvPr/>
          </p:nvCxnSpPr>
          <p:spPr>
            <a:xfrm flipH="1">
              <a:off x="5448038" y="3169026"/>
              <a:ext cx="648510" cy="4624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C90E1C2-2226-941A-F948-753CCD02925D}"/>
                </a:ext>
              </a:extLst>
            </p:cNvPr>
            <p:cNvCxnSpPr>
              <a:cxnSpLocks/>
              <a:stCxn id="10" idx="2"/>
              <a:endCxn id="8" idx="6"/>
            </p:cNvCxnSpPr>
            <p:nvPr/>
          </p:nvCxnSpPr>
          <p:spPr>
            <a:xfrm flipH="1">
              <a:off x="4368442" y="3725967"/>
              <a:ext cx="8515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A4A81C9-D7A1-0CE5-FA22-E5F04959BE31}"/>
                </a:ext>
              </a:extLst>
            </p:cNvPr>
            <p:cNvCxnSpPr>
              <a:cxnSpLocks/>
              <a:stCxn id="7" idx="3"/>
              <a:endCxn id="13" idx="7"/>
            </p:cNvCxnSpPr>
            <p:nvPr/>
          </p:nvCxnSpPr>
          <p:spPr>
            <a:xfrm flipH="1">
              <a:off x="2982538" y="3115339"/>
              <a:ext cx="503852" cy="5161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C9A8B11-CE50-A42E-77F0-0DC009A5AA28}"/>
                </a:ext>
              </a:extLst>
            </p:cNvPr>
            <p:cNvCxnSpPr>
              <a:cxnSpLocks/>
              <a:stCxn id="11" idx="4"/>
              <a:endCxn id="10" idx="0"/>
            </p:cNvCxnSpPr>
            <p:nvPr/>
          </p:nvCxnSpPr>
          <p:spPr>
            <a:xfrm flipH="1">
              <a:off x="5353576" y="2555113"/>
              <a:ext cx="10543" cy="10372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F21AA7F-E65F-79D3-2ABE-4E6AC38F8067}"/>
                </a:ext>
              </a:extLst>
            </p:cNvPr>
            <p:cNvCxnSpPr>
              <a:cxnSpLocks/>
              <a:stCxn id="11" idx="5"/>
              <a:endCxn id="12" idx="1"/>
            </p:cNvCxnSpPr>
            <p:nvPr/>
          </p:nvCxnSpPr>
          <p:spPr>
            <a:xfrm>
              <a:off x="5458581" y="2515985"/>
              <a:ext cx="637967" cy="4641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7C54A81-31EA-6FAB-7327-F38DF47E12D3}"/>
                </a:ext>
              </a:extLst>
            </p:cNvPr>
            <p:cNvSpPr txBox="1"/>
            <p:nvPr/>
          </p:nvSpPr>
          <p:spPr>
            <a:xfrm>
              <a:off x="2286000" y="2438400"/>
              <a:ext cx="288862" cy="338554"/>
            </a:xfrm>
            <a:prstGeom prst="rect">
              <a:avLst/>
            </a:prstGeom>
            <a:noFill/>
          </p:spPr>
          <p:txBody>
            <a:bodyPr wrap="none" rtlCol="0">
              <a:spAutoFit/>
            </a:bodyPr>
            <a:lstStyle/>
            <a:p>
              <a:r>
                <a:rPr lang="en-IN" sz="1600" dirty="0"/>
                <a:t>4</a:t>
              </a:r>
            </a:p>
          </p:txBody>
        </p:sp>
        <p:sp>
          <p:nvSpPr>
            <p:cNvPr id="70" name="TextBox 69">
              <a:extLst>
                <a:ext uri="{FF2B5EF4-FFF2-40B4-BE49-F238E27FC236}">
                  <a16:creationId xmlns:a16="http://schemas.microsoft.com/office/drawing/2014/main" id="{F16D0E57-82FA-C123-688F-5445E5F0CFD5}"/>
                </a:ext>
              </a:extLst>
            </p:cNvPr>
            <p:cNvSpPr txBox="1"/>
            <p:nvPr/>
          </p:nvSpPr>
          <p:spPr>
            <a:xfrm>
              <a:off x="2209800" y="3319046"/>
              <a:ext cx="288862" cy="338554"/>
            </a:xfrm>
            <a:prstGeom prst="rect">
              <a:avLst/>
            </a:prstGeom>
            <a:noFill/>
          </p:spPr>
          <p:txBody>
            <a:bodyPr wrap="none" rtlCol="0">
              <a:spAutoFit/>
            </a:bodyPr>
            <a:lstStyle/>
            <a:p>
              <a:r>
                <a:rPr lang="en-IN" sz="1600" dirty="0"/>
                <a:t>8</a:t>
              </a:r>
            </a:p>
          </p:txBody>
        </p:sp>
        <p:sp>
          <p:nvSpPr>
            <p:cNvPr id="71" name="TextBox 70">
              <a:extLst>
                <a:ext uri="{FF2B5EF4-FFF2-40B4-BE49-F238E27FC236}">
                  <a16:creationId xmlns:a16="http://schemas.microsoft.com/office/drawing/2014/main" id="{7EB3D889-FCAC-4AB2-03DB-A8EEF1A1D66A}"/>
                </a:ext>
              </a:extLst>
            </p:cNvPr>
            <p:cNvSpPr txBox="1"/>
            <p:nvPr/>
          </p:nvSpPr>
          <p:spPr>
            <a:xfrm>
              <a:off x="2548782" y="2971961"/>
              <a:ext cx="393056" cy="338554"/>
            </a:xfrm>
            <a:prstGeom prst="rect">
              <a:avLst/>
            </a:prstGeom>
            <a:noFill/>
          </p:spPr>
          <p:txBody>
            <a:bodyPr wrap="none" rtlCol="0">
              <a:spAutoFit/>
            </a:bodyPr>
            <a:lstStyle/>
            <a:p>
              <a:r>
                <a:rPr lang="en-IN" sz="1600" dirty="0"/>
                <a:t>11</a:t>
              </a:r>
            </a:p>
          </p:txBody>
        </p:sp>
        <p:sp>
          <p:nvSpPr>
            <p:cNvPr id="72" name="TextBox 71">
              <a:extLst>
                <a:ext uri="{FF2B5EF4-FFF2-40B4-BE49-F238E27FC236}">
                  <a16:creationId xmlns:a16="http://schemas.microsoft.com/office/drawing/2014/main" id="{1CF7FB11-8863-6479-CCBA-6E889D141030}"/>
                </a:ext>
              </a:extLst>
            </p:cNvPr>
            <p:cNvSpPr txBox="1"/>
            <p:nvPr/>
          </p:nvSpPr>
          <p:spPr>
            <a:xfrm>
              <a:off x="3264544" y="2133600"/>
              <a:ext cx="288862" cy="338554"/>
            </a:xfrm>
            <a:prstGeom prst="rect">
              <a:avLst/>
            </a:prstGeom>
            <a:noFill/>
          </p:spPr>
          <p:txBody>
            <a:bodyPr wrap="none" rtlCol="0">
              <a:spAutoFit/>
            </a:bodyPr>
            <a:lstStyle/>
            <a:p>
              <a:r>
                <a:rPr lang="en-IN" sz="1600" dirty="0"/>
                <a:t>8</a:t>
              </a:r>
            </a:p>
          </p:txBody>
        </p:sp>
        <p:sp>
          <p:nvSpPr>
            <p:cNvPr id="73" name="TextBox 72">
              <a:extLst>
                <a:ext uri="{FF2B5EF4-FFF2-40B4-BE49-F238E27FC236}">
                  <a16:creationId xmlns:a16="http://schemas.microsoft.com/office/drawing/2014/main" id="{21996755-30AF-0A0E-7AA4-8C96042E103C}"/>
                </a:ext>
              </a:extLst>
            </p:cNvPr>
            <p:cNvSpPr txBox="1"/>
            <p:nvPr/>
          </p:nvSpPr>
          <p:spPr>
            <a:xfrm>
              <a:off x="3063938" y="3124200"/>
              <a:ext cx="288862" cy="338554"/>
            </a:xfrm>
            <a:prstGeom prst="rect">
              <a:avLst/>
            </a:prstGeom>
            <a:noFill/>
          </p:spPr>
          <p:txBody>
            <a:bodyPr wrap="none" rtlCol="0">
              <a:spAutoFit/>
            </a:bodyPr>
            <a:lstStyle/>
            <a:p>
              <a:r>
                <a:rPr lang="en-IN" sz="1600" dirty="0"/>
                <a:t>7</a:t>
              </a:r>
            </a:p>
          </p:txBody>
        </p:sp>
        <p:sp>
          <p:nvSpPr>
            <p:cNvPr id="74" name="TextBox 73">
              <a:extLst>
                <a:ext uri="{FF2B5EF4-FFF2-40B4-BE49-F238E27FC236}">
                  <a16:creationId xmlns:a16="http://schemas.microsoft.com/office/drawing/2014/main" id="{D8319FC9-704E-1357-6397-0880D9382900}"/>
                </a:ext>
              </a:extLst>
            </p:cNvPr>
            <p:cNvSpPr txBox="1"/>
            <p:nvPr/>
          </p:nvSpPr>
          <p:spPr>
            <a:xfrm>
              <a:off x="3444938" y="3700046"/>
              <a:ext cx="288862" cy="338554"/>
            </a:xfrm>
            <a:prstGeom prst="rect">
              <a:avLst/>
            </a:prstGeom>
            <a:noFill/>
          </p:spPr>
          <p:txBody>
            <a:bodyPr wrap="none" rtlCol="0">
              <a:spAutoFit/>
            </a:bodyPr>
            <a:lstStyle/>
            <a:p>
              <a:r>
                <a:rPr lang="en-IN" sz="1600" dirty="0"/>
                <a:t>1</a:t>
              </a:r>
            </a:p>
          </p:txBody>
        </p:sp>
        <p:sp>
          <p:nvSpPr>
            <p:cNvPr id="75" name="TextBox 74">
              <a:extLst>
                <a:ext uri="{FF2B5EF4-FFF2-40B4-BE49-F238E27FC236}">
                  <a16:creationId xmlns:a16="http://schemas.microsoft.com/office/drawing/2014/main" id="{2C915775-05D8-47C9-54A0-3F7D65E30647}"/>
                </a:ext>
              </a:extLst>
            </p:cNvPr>
            <p:cNvSpPr txBox="1"/>
            <p:nvPr/>
          </p:nvSpPr>
          <p:spPr>
            <a:xfrm>
              <a:off x="3808946" y="3105389"/>
              <a:ext cx="288862" cy="338554"/>
            </a:xfrm>
            <a:prstGeom prst="rect">
              <a:avLst/>
            </a:prstGeom>
            <a:noFill/>
          </p:spPr>
          <p:txBody>
            <a:bodyPr wrap="none" rtlCol="0">
              <a:spAutoFit/>
            </a:bodyPr>
            <a:lstStyle/>
            <a:p>
              <a:r>
                <a:rPr lang="en-IN" sz="1600" dirty="0"/>
                <a:t>6</a:t>
              </a:r>
            </a:p>
          </p:txBody>
        </p:sp>
        <p:sp>
          <p:nvSpPr>
            <p:cNvPr id="76" name="TextBox 75">
              <a:extLst>
                <a:ext uri="{FF2B5EF4-FFF2-40B4-BE49-F238E27FC236}">
                  <a16:creationId xmlns:a16="http://schemas.microsoft.com/office/drawing/2014/main" id="{7EF20E09-BFCE-20F9-9FFD-E36B41619C40}"/>
                </a:ext>
              </a:extLst>
            </p:cNvPr>
            <p:cNvSpPr txBox="1"/>
            <p:nvPr/>
          </p:nvSpPr>
          <p:spPr>
            <a:xfrm>
              <a:off x="4511738" y="2176046"/>
              <a:ext cx="288862" cy="338554"/>
            </a:xfrm>
            <a:prstGeom prst="rect">
              <a:avLst/>
            </a:prstGeom>
            <a:noFill/>
          </p:spPr>
          <p:txBody>
            <a:bodyPr wrap="none" rtlCol="0">
              <a:spAutoFit/>
            </a:bodyPr>
            <a:lstStyle/>
            <a:p>
              <a:r>
                <a:rPr lang="en-IN" sz="1600" dirty="0"/>
                <a:t>7</a:t>
              </a:r>
            </a:p>
          </p:txBody>
        </p:sp>
        <p:sp>
          <p:nvSpPr>
            <p:cNvPr id="77" name="TextBox 76">
              <a:extLst>
                <a:ext uri="{FF2B5EF4-FFF2-40B4-BE49-F238E27FC236}">
                  <a16:creationId xmlns:a16="http://schemas.microsoft.com/office/drawing/2014/main" id="{B1F2BF92-8C76-2BEC-0332-5B6CE01E35BF}"/>
                </a:ext>
              </a:extLst>
            </p:cNvPr>
            <p:cNvSpPr txBox="1"/>
            <p:nvPr/>
          </p:nvSpPr>
          <p:spPr>
            <a:xfrm>
              <a:off x="5730938" y="2514600"/>
              <a:ext cx="288862" cy="338554"/>
            </a:xfrm>
            <a:prstGeom prst="rect">
              <a:avLst/>
            </a:prstGeom>
            <a:noFill/>
          </p:spPr>
          <p:txBody>
            <a:bodyPr wrap="none" rtlCol="0">
              <a:spAutoFit/>
            </a:bodyPr>
            <a:lstStyle/>
            <a:p>
              <a:r>
                <a:rPr lang="en-IN" sz="1600" dirty="0"/>
                <a:t>9</a:t>
              </a:r>
            </a:p>
          </p:txBody>
        </p:sp>
        <p:sp>
          <p:nvSpPr>
            <p:cNvPr id="78" name="TextBox 77">
              <a:extLst>
                <a:ext uri="{FF2B5EF4-FFF2-40B4-BE49-F238E27FC236}">
                  <a16:creationId xmlns:a16="http://schemas.microsoft.com/office/drawing/2014/main" id="{B3B37701-6A7E-BBCB-4B3F-8F961DDF8534}"/>
                </a:ext>
              </a:extLst>
            </p:cNvPr>
            <p:cNvSpPr txBox="1"/>
            <p:nvPr/>
          </p:nvSpPr>
          <p:spPr>
            <a:xfrm>
              <a:off x="5297373" y="2809187"/>
              <a:ext cx="393056" cy="338554"/>
            </a:xfrm>
            <a:prstGeom prst="rect">
              <a:avLst/>
            </a:prstGeom>
            <a:noFill/>
          </p:spPr>
          <p:txBody>
            <a:bodyPr wrap="none" rtlCol="0">
              <a:spAutoFit/>
            </a:bodyPr>
            <a:lstStyle/>
            <a:p>
              <a:r>
                <a:rPr lang="en-IN" sz="1600" dirty="0"/>
                <a:t>14</a:t>
              </a:r>
            </a:p>
          </p:txBody>
        </p:sp>
        <p:sp>
          <p:nvSpPr>
            <p:cNvPr id="79" name="TextBox 78">
              <a:extLst>
                <a:ext uri="{FF2B5EF4-FFF2-40B4-BE49-F238E27FC236}">
                  <a16:creationId xmlns:a16="http://schemas.microsoft.com/office/drawing/2014/main" id="{F9A348F3-B0C1-7C14-9B49-75BFC0B64D39}"/>
                </a:ext>
              </a:extLst>
            </p:cNvPr>
            <p:cNvSpPr txBox="1"/>
            <p:nvPr/>
          </p:nvSpPr>
          <p:spPr>
            <a:xfrm>
              <a:off x="5626744" y="3352800"/>
              <a:ext cx="393056" cy="338554"/>
            </a:xfrm>
            <a:prstGeom prst="rect">
              <a:avLst/>
            </a:prstGeom>
            <a:noFill/>
          </p:spPr>
          <p:txBody>
            <a:bodyPr wrap="none" rtlCol="0">
              <a:spAutoFit/>
            </a:bodyPr>
            <a:lstStyle/>
            <a:p>
              <a:r>
                <a:rPr lang="en-IN" sz="1600" dirty="0"/>
                <a:t>10</a:t>
              </a:r>
            </a:p>
          </p:txBody>
        </p:sp>
        <p:sp>
          <p:nvSpPr>
            <p:cNvPr id="80" name="TextBox 79">
              <a:extLst>
                <a:ext uri="{FF2B5EF4-FFF2-40B4-BE49-F238E27FC236}">
                  <a16:creationId xmlns:a16="http://schemas.microsoft.com/office/drawing/2014/main" id="{DC276535-310E-1FDE-7766-C3E402390B88}"/>
                </a:ext>
              </a:extLst>
            </p:cNvPr>
            <p:cNvSpPr txBox="1"/>
            <p:nvPr/>
          </p:nvSpPr>
          <p:spPr>
            <a:xfrm>
              <a:off x="4636144" y="3657600"/>
              <a:ext cx="288862" cy="338554"/>
            </a:xfrm>
            <a:prstGeom prst="rect">
              <a:avLst/>
            </a:prstGeom>
            <a:noFill/>
          </p:spPr>
          <p:txBody>
            <a:bodyPr wrap="none" rtlCol="0">
              <a:spAutoFit/>
            </a:bodyPr>
            <a:lstStyle/>
            <a:p>
              <a:r>
                <a:rPr lang="en-IN" sz="1600" dirty="0"/>
                <a:t>2</a:t>
              </a:r>
            </a:p>
          </p:txBody>
        </p:sp>
        <p:sp>
          <p:nvSpPr>
            <p:cNvPr id="81" name="TextBox 80">
              <a:extLst>
                <a:ext uri="{FF2B5EF4-FFF2-40B4-BE49-F238E27FC236}">
                  <a16:creationId xmlns:a16="http://schemas.microsoft.com/office/drawing/2014/main" id="{B52BA8F7-A73C-0FE0-4875-608086A267BD}"/>
                </a:ext>
              </a:extLst>
            </p:cNvPr>
            <p:cNvSpPr txBox="1"/>
            <p:nvPr/>
          </p:nvSpPr>
          <p:spPr>
            <a:xfrm>
              <a:off x="4511738" y="3014246"/>
              <a:ext cx="288862" cy="338554"/>
            </a:xfrm>
            <a:prstGeom prst="rect">
              <a:avLst/>
            </a:prstGeom>
            <a:noFill/>
          </p:spPr>
          <p:txBody>
            <a:bodyPr wrap="none" rtlCol="0">
              <a:spAutoFit/>
            </a:bodyPr>
            <a:lstStyle/>
            <a:p>
              <a:r>
                <a:rPr lang="en-IN" sz="1600" dirty="0"/>
                <a:t>4</a:t>
              </a:r>
            </a:p>
          </p:txBody>
        </p:sp>
        <p:sp>
          <p:nvSpPr>
            <p:cNvPr id="106" name="TextBox 105">
              <a:extLst>
                <a:ext uri="{FF2B5EF4-FFF2-40B4-BE49-F238E27FC236}">
                  <a16:creationId xmlns:a16="http://schemas.microsoft.com/office/drawing/2014/main" id="{2D80B73A-6C4D-F6D1-ADA1-0931453869BC}"/>
                </a:ext>
              </a:extLst>
            </p:cNvPr>
            <p:cNvSpPr txBox="1"/>
            <p:nvPr/>
          </p:nvSpPr>
          <p:spPr>
            <a:xfrm>
              <a:off x="3750320" y="2685708"/>
              <a:ext cx="288862" cy="338554"/>
            </a:xfrm>
            <a:prstGeom prst="rect">
              <a:avLst/>
            </a:prstGeom>
            <a:noFill/>
          </p:spPr>
          <p:txBody>
            <a:bodyPr wrap="none" rtlCol="0">
              <a:spAutoFit/>
            </a:bodyPr>
            <a:lstStyle/>
            <a:p>
              <a:r>
                <a:rPr lang="en-IN" sz="1600" dirty="0"/>
                <a:t>2</a:t>
              </a:r>
            </a:p>
          </p:txBody>
        </p:sp>
      </p:grpSp>
    </p:spTree>
    <p:extLst>
      <p:ext uri="{BB962C8B-B14F-4D97-AF65-F5344CB8AC3E}">
        <p14:creationId xmlns:p14="http://schemas.microsoft.com/office/powerpoint/2010/main" val="368309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MST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16</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304800" y="1445731"/>
            <a:ext cx="8382000" cy="2364269"/>
          </a:xfrm>
          <a:ln>
            <a:solidFill>
              <a:schemeClr val="tx1"/>
            </a:solidFill>
          </a:ln>
        </p:spPr>
        <p:txBody>
          <a:bodyPr>
            <a:noAutofit/>
          </a:bodyPr>
          <a:lstStyle/>
          <a:p>
            <a:pPr marL="285750" algn="just">
              <a:buFont typeface="Arial" panose="020B0604020202020204" pitchFamily="34" charset="0"/>
              <a:buChar char="•"/>
              <a:defRPr/>
            </a:pPr>
            <a:r>
              <a:rPr lang="en-US" sz="1800" dirty="0">
                <a:latin typeface="Times New Roman" pitchFamily="18" charset="0"/>
                <a:cs typeface="Times New Roman" pitchFamily="18" charset="0"/>
              </a:rPr>
              <a:t>Generic method that each Algorithm follows –</a:t>
            </a:r>
          </a:p>
          <a:p>
            <a:pPr marL="285750" algn="just">
              <a:buFont typeface="Arial" panose="020B0604020202020204" pitchFamily="34" charset="0"/>
              <a:buChar char="•"/>
              <a:defRPr/>
            </a:pPr>
            <a:r>
              <a:rPr lang="en-US" sz="1800" dirty="0">
                <a:latin typeface="Times New Roman" pitchFamily="18" charset="0"/>
                <a:cs typeface="Times New Roman" pitchFamily="18" charset="0"/>
              </a:rPr>
              <a:t>Let A be set of Edges.</a:t>
            </a:r>
          </a:p>
          <a:p>
            <a:pPr marL="285750" algn="just">
              <a:buFont typeface="Arial" panose="020B0604020202020204" pitchFamily="34" charset="0"/>
              <a:buChar char="•"/>
              <a:defRPr/>
            </a:pPr>
            <a:r>
              <a:rPr lang="en-US" sz="1800" dirty="0">
                <a:latin typeface="Times New Roman" pitchFamily="18" charset="0"/>
                <a:cs typeface="Times New Roman" pitchFamily="18" charset="0"/>
              </a:rPr>
              <a:t>Prior to each iteration, A is a subset of some minimum spanning Tree T.</a:t>
            </a:r>
          </a:p>
          <a:p>
            <a:pPr marL="285750" algn="just">
              <a:buFont typeface="Arial" panose="020B0604020202020204" pitchFamily="34" charset="0"/>
              <a:buChar char="•"/>
              <a:defRPr/>
            </a:pPr>
            <a:r>
              <a:rPr lang="en-US" sz="1800" dirty="0">
                <a:latin typeface="Times New Roman" pitchFamily="18" charset="0"/>
                <a:cs typeface="Times New Roman" pitchFamily="18" charset="0"/>
              </a:rPr>
              <a:t>Initially A is empty. </a:t>
            </a:r>
          </a:p>
          <a:p>
            <a:pPr marL="285750" algn="just">
              <a:buFont typeface="Arial" panose="020B0604020202020204" pitchFamily="34" charset="0"/>
              <a:buChar char="•"/>
              <a:defRPr/>
            </a:pPr>
            <a:r>
              <a:rPr lang="en-US" sz="1800" dirty="0">
                <a:latin typeface="Times New Roman" pitchFamily="18" charset="0"/>
                <a:cs typeface="Times New Roman" pitchFamily="18" charset="0"/>
              </a:rPr>
              <a:t>We add first edge to A which would be the first edge in MST. </a:t>
            </a:r>
          </a:p>
          <a:p>
            <a:pPr marL="285750" algn="just">
              <a:buFont typeface="Arial" panose="020B0604020202020204" pitchFamily="34" charset="0"/>
              <a:buChar char="•"/>
              <a:defRPr/>
            </a:pPr>
            <a:r>
              <a:rPr lang="en-US" sz="1800" dirty="0">
                <a:latin typeface="Times New Roman" pitchFamily="18" charset="0"/>
                <a:cs typeface="Times New Roman" pitchFamily="18" charset="0"/>
              </a:rPr>
              <a:t>We keep adding and edge to A while maintaining that A always is subset of MST</a:t>
            </a:r>
          </a:p>
          <a:p>
            <a:pPr marL="285750" algn="just">
              <a:buFont typeface="Arial" panose="020B0604020202020204" pitchFamily="34" charset="0"/>
              <a:buChar char="•"/>
              <a:defRPr/>
            </a:pPr>
            <a:r>
              <a:rPr lang="en-US" sz="1800" dirty="0">
                <a:latin typeface="Times New Roman" pitchFamily="18" charset="0"/>
                <a:cs typeface="Times New Roman" pitchFamily="18" charset="0"/>
              </a:rPr>
              <a:t>Call this as </a:t>
            </a:r>
            <a:r>
              <a:rPr lang="en-US" sz="1800" i="1" dirty="0">
                <a:latin typeface="Times New Roman" pitchFamily="18" charset="0"/>
                <a:cs typeface="Times New Roman" pitchFamily="18" charset="0"/>
              </a:rPr>
              <a:t>Safe Edge</a:t>
            </a: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744D72A0-B28E-4153-9AAA-C056B3A3F1BB}"/>
              </a:ext>
            </a:extLst>
          </p:cNvPr>
          <p:cNvPicPr>
            <a:picLocks noChangeAspect="1"/>
          </p:cNvPicPr>
          <p:nvPr/>
        </p:nvPicPr>
        <p:blipFill>
          <a:blip r:embed="rId2"/>
          <a:stretch>
            <a:fillRect/>
          </a:stretch>
        </p:blipFill>
        <p:spPr>
          <a:xfrm>
            <a:off x="304800" y="3953846"/>
            <a:ext cx="4352925" cy="1933575"/>
          </a:xfrm>
          <a:prstGeom prst="rect">
            <a:avLst/>
          </a:prstGeom>
          <a:ln>
            <a:solidFill>
              <a:schemeClr val="tx1"/>
            </a:solidFill>
          </a:ln>
        </p:spPr>
      </p:pic>
      <p:sp>
        <p:nvSpPr>
          <p:cNvPr id="6" name="Rectangle 3">
            <a:extLst>
              <a:ext uri="{FF2B5EF4-FFF2-40B4-BE49-F238E27FC236}">
                <a16:creationId xmlns:a16="http://schemas.microsoft.com/office/drawing/2014/main" id="{AA7198CB-9F5E-4B60-A4CB-5457EDBD581F}"/>
              </a:ext>
            </a:extLst>
          </p:cNvPr>
          <p:cNvSpPr txBox="1">
            <a:spLocks noChangeArrowheads="1"/>
          </p:cNvSpPr>
          <p:nvPr/>
        </p:nvSpPr>
        <p:spPr>
          <a:xfrm>
            <a:off x="4800600" y="3932236"/>
            <a:ext cx="3886200" cy="2364269"/>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Tricky part is to find safe edge in Line 3</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This safe edge is there in T and not in A</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On completion of iteration this safe edge gets added to A.</a:t>
            </a:r>
          </a:p>
          <a:p>
            <a:pPr marL="285750" indent="-285750" algn="just">
              <a:buFont typeface="Arial" pitchFamily="34" charset="0"/>
              <a:buChar char="•"/>
              <a:defRPr/>
            </a:pP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214495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MST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17</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152400" y="1495497"/>
            <a:ext cx="6400800" cy="2085903"/>
          </a:xfrm>
          <a:ln>
            <a:solidFill>
              <a:schemeClr val="tx1"/>
            </a:solidFill>
          </a:ln>
        </p:spPr>
        <p:txBody>
          <a:bodyPr>
            <a:noAutofit/>
          </a:bodyPr>
          <a:lstStyle/>
          <a:p>
            <a:pPr marL="285750" algn="just">
              <a:buFont typeface="Arial" panose="020B0604020202020204" pitchFamily="34" charset="0"/>
              <a:buChar char="•"/>
              <a:defRPr/>
            </a:pPr>
            <a:r>
              <a:rPr lang="en-US" sz="1800" b="1" dirty="0">
                <a:latin typeface="Times New Roman" pitchFamily="18" charset="0"/>
                <a:cs typeface="Times New Roman" pitchFamily="18" charset="0"/>
              </a:rPr>
              <a:t>Cut</a:t>
            </a:r>
            <a:r>
              <a:rPr lang="en-US" sz="1800" dirty="0">
                <a:latin typeface="Times New Roman" pitchFamily="18" charset="0"/>
                <a:cs typeface="Times New Roman" pitchFamily="18" charset="0"/>
              </a:rPr>
              <a:t> (S, V-S) of an undirected graph G = (V,E) is partition of V</a:t>
            </a:r>
          </a:p>
          <a:p>
            <a:pPr marL="285750" algn="just">
              <a:buFont typeface="Arial" panose="020B0604020202020204" pitchFamily="34" charset="0"/>
              <a:buChar char="•"/>
              <a:defRPr/>
            </a:pPr>
            <a:r>
              <a:rPr lang="en-US" sz="1800" dirty="0">
                <a:latin typeface="Times New Roman" pitchFamily="18" charset="0"/>
                <a:cs typeface="Times New Roman" pitchFamily="18" charset="0"/>
              </a:rPr>
              <a:t>Edge (</a:t>
            </a:r>
            <a:r>
              <a:rPr lang="en-US" sz="1800" dirty="0" err="1">
                <a:latin typeface="Times New Roman" pitchFamily="18" charset="0"/>
                <a:cs typeface="Times New Roman" pitchFamily="18" charset="0"/>
              </a:rPr>
              <a:t>u,v</a:t>
            </a: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crosses</a:t>
            </a: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cut</a:t>
            </a:r>
            <a:r>
              <a:rPr lang="en-US" sz="1800" dirty="0">
                <a:latin typeface="Times New Roman" pitchFamily="18" charset="0"/>
                <a:cs typeface="Times New Roman" pitchFamily="18" charset="0"/>
              </a:rPr>
              <a:t> (S, V-S) if one endpoint is in S and other in V-S</a:t>
            </a:r>
          </a:p>
          <a:p>
            <a:pPr marL="285750" algn="just">
              <a:buFont typeface="Arial" panose="020B0604020202020204" pitchFamily="34" charset="0"/>
              <a:buChar char="•"/>
              <a:defRPr/>
            </a:pPr>
            <a:r>
              <a:rPr lang="en-US" sz="1800" dirty="0">
                <a:latin typeface="Times New Roman" pitchFamily="18" charset="0"/>
                <a:cs typeface="Times New Roman" pitchFamily="18" charset="0"/>
              </a:rPr>
              <a:t>A </a:t>
            </a:r>
            <a:r>
              <a:rPr lang="en-US" sz="1800" b="1" dirty="0">
                <a:latin typeface="Times New Roman" pitchFamily="18" charset="0"/>
                <a:cs typeface="Times New Roman" pitchFamily="18" charset="0"/>
              </a:rPr>
              <a:t>Cut</a:t>
            </a:r>
            <a:r>
              <a:rPr lang="en-US" sz="1800" dirty="0">
                <a:latin typeface="Times New Roman" pitchFamily="18" charset="0"/>
                <a:cs typeface="Times New Roman" pitchFamily="18" charset="0"/>
              </a:rPr>
              <a:t> </a:t>
            </a:r>
            <a:r>
              <a:rPr lang="en-US" sz="1800" b="1" dirty="0">
                <a:latin typeface="Times New Roman" pitchFamily="18" charset="0"/>
                <a:cs typeface="Times New Roman" pitchFamily="18" charset="0"/>
              </a:rPr>
              <a:t>respects</a:t>
            </a:r>
            <a:r>
              <a:rPr lang="en-US" sz="1800" dirty="0">
                <a:latin typeface="Times New Roman" pitchFamily="18" charset="0"/>
                <a:cs typeface="Times New Roman" pitchFamily="18" charset="0"/>
              </a:rPr>
              <a:t> a set A if no edge in A crosses the cut.</a:t>
            </a:r>
          </a:p>
          <a:p>
            <a:pPr marL="285750" algn="just">
              <a:buFont typeface="Arial" panose="020B0604020202020204" pitchFamily="34" charset="0"/>
              <a:buChar char="•"/>
              <a:defRPr/>
            </a:pPr>
            <a:r>
              <a:rPr lang="en-US" sz="1800" dirty="0">
                <a:latin typeface="Times New Roman" pitchFamily="18" charset="0"/>
                <a:cs typeface="Times New Roman" pitchFamily="18" charset="0"/>
              </a:rPr>
              <a:t>An edge is a </a:t>
            </a:r>
            <a:r>
              <a:rPr lang="en-US" sz="1800" b="1" dirty="0">
                <a:latin typeface="Times New Roman" pitchFamily="18" charset="0"/>
                <a:cs typeface="Times New Roman" pitchFamily="18" charset="0"/>
              </a:rPr>
              <a:t>light edge </a:t>
            </a:r>
            <a:r>
              <a:rPr lang="en-US" sz="1800" dirty="0">
                <a:latin typeface="Times New Roman" pitchFamily="18" charset="0"/>
                <a:cs typeface="Times New Roman" pitchFamily="18" charset="0"/>
              </a:rPr>
              <a:t>if its weight in minimum of any edge crossing the </a:t>
            </a:r>
            <a:r>
              <a:rPr lang="en-US" sz="1800" b="1" dirty="0">
                <a:latin typeface="Times New Roman" pitchFamily="18" charset="0"/>
                <a:cs typeface="Times New Roman" pitchFamily="18" charset="0"/>
              </a:rPr>
              <a:t>Cut</a:t>
            </a:r>
            <a:r>
              <a:rPr lang="en-US" sz="1800" dirty="0">
                <a:latin typeface="Times New Roman" pitchFamily="18" charset="0"/>
                <a:cs typeface="Times New Roman" pitchFamily="18" charset="0"/>
              </a:rPr>
              <a:t>. </a:t>
            </a: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F3AC3D68-B99A-400D-ABCE-70E7A9CBBE2F}"/>
              </a:ext>
            </a:extLst>
          </p:cNvPr>
          <p:cNvPicPr>
            <a:picLocks noChangeAspect="1"/>
          </p:cNvPicPr>
          <p:nvPr/>
        </p:nvPicPr>
        <p:blipFill>
          <a:blip r:embed="rId2"/>
          <a:stretch>
            <a:fillRect/>
          </a:stretch>
        </p:blipFill>
        <p:spPr>
          <a:xfrm>
            <a:off x="445040" y="3810001"/>
            <a:ext cx="5591175" cy="1990725"/>
          </a:xfrm>
          <a:prstGeom prst="rect">
            <a:avLst/>
          </a:prstGeom>
          <a:ln>
            <a:solidFill>
              <a:schemeClr val="tx1"/>
            </a:solidFill>
          </a:ln>
        </p:spPr>
      </p:pic>
      <p:pic>
        <p:nvPicPr>
          <p:cNvPr id="7" name="Picture 6">
            <a:extLst>
              <a:ext uri="{FF2B5EF4-FFF2-40B4-BE49-F238E27FC236}">
                <a16:creationId xmlns:a16="http://schemas.microsoft.com/office/drawing/2014/main" id="{1A281EC0-C94E-4A47-AA40-563641F86C98}"/>
              </a:ext>
            </a:extLst>
          </p:cNvPr>
          <p:cNvPicPr>
            <a:picLocks noChangeAspect="1"/>
          </p:cNvPicPr>
          <p:nvPr/>
        </p:nvPicPr>
        <p:blipFill>
          <a:blip r:embed="rId3"/>
          <a:stretch>
            <a:fillRect/>
          </a:stretch>
        </p:blipFill>
        <p:spPr>
          <a:xfrm>
            <a:off x="6686550" y="1529544"/>
            <a:ext cx="2038350" cy="4076700"/>
          </a:xfrm>
          <a:prstGeom prst="rect">
            <a:avLst/>
          </a:prstGeom>
          <a:ln>
            <a:solidFill>
              <a:schemeClr val="tx1"/>
            </a:solidFill>
          </a:ln>
        </p:spPr>
      </p:pic>
    </p:spTree>
    <p:extLst>
      <p:ext uri="{BB962C8B-B14F-4D97-AF65-F5344CB8AC3E}">
        <p14:creationId xmlns:p14="http://schemas.microsoft.com/office/powerpoint/2010/main" val="3638643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18</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152400" y="1495497"/>
            <a:ext cx="8610600" cy="2085903"/>
          </a:xfrm>
          <a:ln>
            <a:solidFill>
              <a:schemeClr val="tx1"/>
            </a:solidFill>
          </a:ln>
        </p:spPr>
        <p:txBody>
          <a:bodyPr>
            <a:noAutofit/>
          </a:bodyPr>
          <a:lstStyle/>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Based on Generic-MST</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The Set A is a forest whose vertices are all those of the Given Graph</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The safe edge added to A is always a least-weight edge in the Graph that connects two distinct components</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u,v</a:t>
            </a:r>
            <a:r>
              <a:rPr lang="en-US" sz="1600" dirty="0">
                <a:latin typeface="Times New Roman" pitchFamily="18" charset="0"/>
                <a:cs typeface="Times New Roman" pitchFamily="18" charset="0"/>
              </a:rPr>
              <a:t>) is a safe edge if it is least weight and connects to trees C1 and C2</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Algorithm maintains a disjoint-set data structure to maintain disjoints sets of elements</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FIND-SET(u) returns the set that contains u. </a:t>
            </a: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83222E71-E727-4E73-BF55-F1DE5E7A6C0D}"/>
              </a:ext>
            </a:extLst>
          </p:cNvPr>
          <p:cNvPicPr>
            <a:picLocks noChangeAspect="1"/>
          </p:cNvPicPr>
          <p:nvPr/>
        </p:nvPicPr>
        <p:blipFill>
          <a:blip r:embed="rId2"/>
          <a:stretch>
            <a:fillRect/>
          </a:stretch>
        </p:blipFill>
        <p:spPr>
          <a:xfrm>
            <a:off x="2720491" y="3659907"/>
            <a:ext cx="6023054" cy="2636598"/>
          </a:xfrm>
          <a:prstGeom prst="rect">
            <a:avLst/>
          </a:prstGeom>
          <a:ln>
            <a:solidFill>
              <a:schemeClr val="tx1"/>
            </a:solidFill>
          </a:ln>
        </p:spPr>
      </p:pic>
    </p:spTree>
    <p:extLst>
      <p:ext uri="{BB962C8B-B14F-4D97-AF65-F5344CB8AC3E}">
        <p14:creationId xmlns:p14="http://schemas.microsoft.com/office/powerpoint/2010/main" val="1155069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19</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152399" y="1495497"/>
            <a:ext cx="8467725" cy="1933503"/>
          </a:xfrm>
          <a:ln>
            <a:solidFill>
              <a:schemeClr val="tx1"/>
            </a:solidFill>
          </a:ln>
        </p:spPr>
        <p:txBody>
          <a:bodyPr>
            <a:noAutofit/>
          </a:bodyPr>
          <a:lstStyle/>
          <a:p>
            <a:pPr marL="285750" algn="just">
              <a:buFont typeface="Arial" panose="020B0604020202020204" pitchFamily="34" charset="0"/>
              <a:buChar char="•"/>
              <a:defRPr/>
            </a:pPr>
            <a:r>
              <a:rPr lang="en-US" sz="1600" dirty="0">
                <a:latin typeface="Times New Roman" pitchFamily="18" charset="0"/>
                <a:cs typeface="Times New Roman" pitchFamily="18" charset="0"/>
              </a:rPr>
              <a:t>Initially A is set to NIL</a:t>
            </a:r>
          </a:p>
          <a:p>
            <a:pPr marL="285750" algn="just">
              <a:buFont typeface="Arial" panose="020B0604020202020204" pitchFamily="34" charset="0"/>
              <a:buChar char="•"/>
              <a:defRPr/>
            </a:pPr>
            <a:r>
              <a:rPr lang="en-US" sz="1600" dirty="0">
                <a:latin typeface="Times New Roman" pitchFamily="18" charset="0"/>
                <a:cs typeface="Times New Roman" pitchFamily="18" charset="0"/>
              </a:rPr>
              <a:t>Line 1-3. Create a forest with one Vertex in each forest. For every Vertex in the Graph</a:t>
            </a:r>
          </a:p>
          <a:p>
            <a:pPr marL="285750" algn="just">
              <a:buFont typeface="Arial" panose="020B0604020202020204" pitchFamily="34" charset="0"/>
              <a:buChar char="•"/>
              <a:defRPr/>
            </a:pPr>
            <a:r>
              <a:rPr lang="en-US" sz="1600" dirty="0">
                <a:latin typeface="Times New Roman" pitchFamily="18" charset="0"/>
                <a:cs typeface="Times New Roman" pitchFamily="18" charset="0"/>
              </a:rPr>
              <a:t>Line 5-9</a:t>
            </a:r>
          </a:p>
          <a:p>
            <a:pPr marL="685800" lvl="1" algn="just">
              <a:buFont typeface="Arial" panose="020B0604020202020204" pitchFamily="34" charset="0"/>
              <a:buChar char="•"/>
              <a:defRPr/>
            </a:pPr>
            <a:r>
              <a:rPr lang="en-US" dirty="0">
                <a:latin typeface="Times New Roman" pitchFamily="18" charset="0"/>
                <a:cs typeface="Times New Roman" pitchFamily="18" charset="0"/>
              </a:rPr>
              <a:t>Take min edge and find if the end points of this edge are in same forest</a:t>
            </a:r>
          </a:p>
          <a:p>
            <a:pPr marL="685800" lvl="1" algn="just">
              <a:buFont typeface="Arial" panose="020B0604020202020204" pitchFamily="34" charset="0"/>
              <a:buChar char="•"/>
              <a:defRPr/>
            </a:pPr>
            <a:r>
              <a:rPr lang="en-US" dirty="0">
                <a:latin typeface="Times New Roman" pitchFamily="18" charset="0"/>
                <a:cs typeface="Times New Roman" pitchFamily="18" charset="0"/>
              </a:rPr>
              <a:t>If yes, ignore this edge</a:t>
            </a:r>
          </a:p>
          <a:p>
            <a:pPr marL="685800" lvl="1" algn="just">
              <a:buFont typeface="Arial" panose="020B0604020202020204" pitchFamily="34" charset="0"/>
              <a:buChar char="•"/>
              <a:defRPr/>
            </a:pPr>
            <a:r>
              <a:rPr lang="en-US" dirty="0">
                <a:latin typeface="Times New Roman" pitchFamily="18" charset="0"/>
                <a:cs typeface="Times New Roman" pitchFamily="18" charset="0"/>
              </a:rPr>
              <a:t>Else, Add this edge to A (Growing MST) and </a:t>
            </a:r>
            <a:r>
              <a:rPr lang="en-US" sz="1600" dirty="0">
                <a:latin typeface="Times New Roman" pitchFamily="18" charset="0"/>
                <a:cs typeface="Times New Roman" pitchFamily="18" charset="0"/>
              </a:rPr>
              <a:t>also merge the forests of u and v</a:t>
            </a:r>
          </a:p>
          <a:p>
            <a:pPr marL="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8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EB4B1016-AF02-48F0-A853-9554C1D112D2}"/>
              </a:ext>
            </a:extLst>
          </p:cNvPr>
          <p:cNvPicPr>
            <a:picLocks noChangeAspect="1"/>
          </p:cNvPicPr>
          <p:nvPr/>
        </p:nvPicPr>
        <p:blipFill>
          <a:blip r:embed="rId2"/>
          <a:stretch>
            <a:fillRect/>
          </a:stretch>
        </p:blipFill>
        <p:spPr>
          <a:xfrm>
            <a:off x="157263" y="4357616"/>
            <a:ext cx="3119337" cy="1545024"/>
          </a:xfrm>
          <a:prstGeom prst="rect">
            <a:avLst/>
          </a:prstGeom>
          <a:ln>
            <a:solidFill>
              <a:schemeClr val="tx1"/>
            </a:solidFill>
          </a:ln>
        </p:spPr>
      </p:pic>
      <p:pic>
        <p:nvPicPr>
          <p:cNvPr id="6" name="Picture 5">
            <a:extLst>
              <a:ext uri="{FF2B5EF4-FFF2-40B4-BE49-F238E27FC236}">
                <a16:creationId xmlns:a16="http://schemas.microsoft.com/office/drawing/2014/main" id="{76068963-F971-4C11-9FC8-B3CB58FEB3B5}"/>
              </a:ext>
            </a:extLst>
          </p:cNvPr>
          <p:cNvPicPr>
            <a:picLocks noChangeAspect="1"/>
          </p:cNvPicPr>
          <p:nvPr/>
        </p:nvPicPr>
        <p:blipFill>
          <a:blip r:embed="rId3"/>
          <a:stretch>
            <a:fillRect/>
          </a:stretch>
        </p:blipFill>
        <p:spPr>
          <a:xfrm>
            <a:off x="3495676" y="4357616"/>
            <a:ext cx="3126834" cy="1545024"/>
          </a:xfrm>
          <a:prstGeom prst="rect">
            <a:avLst/>
          </a:prstGeom>
          <a:ln>
            <a:solidFill>
              <a:schemeClr val="tx1"/>
            </a:solidFill>
          </a:ln>
        </p:spPr>
      </p:pic>
      <p:sp>
        <p:nvSpPr>
          <p:cNvPr id="7" name="Rectangle 3">
            <a:extLst>
              <a:ext uri="{FF2B5EF4-FFF2-40B4-BE49-F238E27FC236}">
                <a16:creationId xmlns:a16="http://schemas.microsoft.com/office/drawing/2014/main" id="{C1D6E953-C529-4E21-9520-150BEADD83C3}"/>
              </a:ext>
            </a:extLst>
          </p:cNvPr>
          <p:cNvSpPr txBox="1">
            <a:spLocks noChangeArrowheads="1"/>
          </p:cNvSpPr>
          <p:nvPr/>
        </p:nvSpPr>
        <p:spPr>
          <a:xfrm>
            <a:off x="159595" y="3505200"/>
            <a:ext cx="2812206"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e,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8" name="Rectangle 3">
            <a:extLst>
              <a:ext uri="{FF2B5EF4-FFF2-40B4-BE49-F238E27FC236}">
                <a16:creationId xmlns:a16="http://schemas.microsoft.com/office/drawing/2014/main" id="{D8FC75B2-9028-43EF-A35C-CC35E193C7B3}"/>
              </a:ext>
            </a:extLst>
          </p:cNvPr>
          <p:cNvSpPr txBox="1">
            <a:spLocks noChangeArrowheads="1"/>
          </p:cNvSpPr>
          <p:nvPr/>
        </p:nvSpPr>
        <p:spPr>
          <a:xfrm>
            <a:off x="149765" y="3931408"/>
            <a:ext cx="3126835"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e,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5D670301-D99D-4BF7-9642-D161C1B3AD40}"/>
              </a:ext>
            </a:extLst>
          </p:cNvPr>
          <p:cNvPicPr>
            <a:picLocks noChangeAspect="1"/>
          </p:cNvPicPr>
          <p:nvPr/>
        </p:nvPicPr>
        <p:blipFill>
          <a:blip r:embed="rId4"/>
          <a:stretch>
            <a:fillRect/>
          </a:stretch>
        </p:blipFill>
        <p:spPr>
          <a:xfrm>
            <a:off x="6959067" y="3637889"/>
            <a:ext cx="1114425" cy="2743200"/>
          </a:xfrm>
          <a:prstGeom prst="rect">
            <a:avLst/>
          </a:prstGeom>
        </p:spPr>
      </p:pic>
      <p:sp>
        <p:nvSpPr>
          <p:cNvPr id="10" name="Rectangle 3">
            <a:extLst>
              <a:ext uri="{FF2B5EF4-FFF2-40B4-BE49-F238E27FC236}">
                <a16:creationId xmlns:a16="http://schemas.microsoft.com/office/drawing/2014/main" id="{80D2AC99-2053-416A-AFA2-F58182E3291F}"/>
              </a:ext>
            </a:extLst>
          </p:cNvPr>
          <p:cNvSpPr txBox="1">
            <a:spLocks noChangeArrowheads="1"/>
          </p:cNvSpPr>
          <p:nvPr/>
        </p:nvSpPr>
        <p:spPr>
          <a:xfrm>
            <a:off x="3467662" y="3931407"/>
            <a:ext cx="2966236"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d, e, f, (g, h), (c,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4195827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20</a:t>
            </a:fld>
            <a:endParaRPr lang="en-US" dirty="0"/>
          </a:p>
        </p:txBody>
      </p:sp>
      <p:pic>
        <p:nvPicPr>
          <p:cNvPr id="8" name="Picture 7">
            <a:extLst>
              <a:ext uri="{FF2B5EF4-FFF2-40B4-BE49-F238E27FC236}">
                <a16:creationId xmlns:a16="http://schemas.microsoft.com/office/drawing/2014/main" id="{3D737061-1C66-4CB6-B69C-4CAED7040623}"/>
              </a:ext>
            </a:extLst>
          </p:cNvPr>
          <p:cNvPicPr>
            <a:picLocks noChangeAspect="1"/>
          </p:cNvPicPr>
          <p:nvPr/>
        </p:nvPicPr>
        <p:blipFill>
          <a:blip r:embed="rId2"/>
          <a:stretch>
            <a:fillRect/>
          </a:stretch>
        </p:blipFill>
        <p:spPr>
          <a:xfrm>
            <a:off x="234163" y="1828800"/>
            <a:ext cx="3392645" cy="1752599"/>
          </a:xfrm>
          <a:prstGeom prst="rect">
            <a:avLst/>
          </a:prstGeom>
          <a:ln>
            <a:solidFill>
              <a:schemeClr val="tx1"/>
            </a:solidFill>
          </a:ln>
        </p:spPr>
      </p:pic>
      <p:pic>
        <p:nvPicPr>
          <p:cNvPr id="9" name="Picture 8">
            <a:extLst>
              <a:ext uri="{FF2B5EF4-FFF2-40B4-BE49-F238E27FC236}">
                <a16:creationId xmlns:a16="http://schemas.microsoft.com/office/drawing/2014/main" id="{DE388F28-FE14-46D6-BA2B-7E838053DADB}"/>
              </a:ext>
            </a:extLst>
          </p:cNvPr>
          <p:cNvPicPr>
            <a:picLocks noChangeAspect="1"/>
          </p:cNvPicPr>
          <p:nvPr/>
        </p:nvPicPr>
        <p:blipFill>
          <a:blip r:embed="rId3"/>
          <a:stretch>
            <a:fillRect/>
          </a:stretch>
        </p:blipFill>
        <p:spPr>
          <a:xfrm>
            <a:off x="3886200" y="1858638"/>
            <a:ext cx="3471828" cy="1722761"/>
          </a:xfrm>
          <a:prstGeom prst="rect">
            <a:avLst/>
          </a:prstGeom>
          <a:ln>
            <a:solidFill>
              <a:schemeClr val="tx1"/>
            </a:solidFill>
          </a:ln>
        </p:spPr>
      </p:pic>
      <p:pic>
        <p:nvPicPr>
          <p:cNvPr id="10" name="Picture 9">
            <a:extLst>
              <a:ext uri="{FF2B5EF4-FFF2-40B4-BE49-F238E27FC236}">
                <a16:creationId xmlns:a16="http://schemas.microsoft.com/office/drawing/2014/main" id="{3F89B95C-9885-4F9A-90CF-D9CFCA455FC8}"/>
              </a:ext>
            </a:extLst>
          </p:cNvPr>
          <p:cNvPicPr>
            <a:picLocks noChangeAspect="1"/>
          </p:cNvPicPr>
          <p:nvPr/>
        </p:nvPicPr>
        <p:blipFill>
          <a:blip r:embed="rId4"/>
          <a:stretch>
            <a:fillRect/>
          </a:stretch>
        </p:blipFill>
        <p:spPr>
          <a:xfrm>
            <a:off x="225078" y="4576988"/>
            <a:ext cx="3401730" cy="1631526"/>
          </a:xfrm>
          <a:prstGeom prst="rect">
            <a:avLst/>
          </a:prstGeom>
          <a:ln>
            <a:solidFill>
              <a:schemeClr val="tx1"/>
            </a:solidFill>
          </a:ln>
        </p:spPr>
      </p:pic>
      <p:pic>
        <p:nvPicPr>
          <p:cNvPr id="11" name="Picture 10">
            <a:extLst>
              <a:ext uri="{FF2B5EF4-FFF2-40B4-BE49-F238E27FC236}">
                <a16:creationId xmlns:a16="http://schemas.microsoft.com/office/drawing/2014/main" id="{61ABE34B-F957-46C0-9558-2118B777F35E}"/>
              </a:ext>
            </a:extLst>
          </p:cNvPr>
          <p:cNvPicPr>
            <a:picLocks noChangeAspect="1"/>
          </p:cNvPicPr>
          <p:nvPr/>
        </p:nvPicPr>
        <p:blipFill>
          <a:blip r:embed="rId5"/>
          <a:stretch>
            <a:fillRect/>
          </a:stretch>
        </p:blipFill>
        <p:spPr>
          <a:xfrm>
            <a:off x="3901693" y="4576988"/>
            <a:ext cx="3471828" cy="1679131"/>
          </a:xfrm>
          <a:prstGeom prst="rect">
            <a:avLst/>
          </a:prstGeom>
          <a:ln>
            <a:solidFill>
              <a:schemeClr val="tx1"/>
            </a:solidFill>
          </a:ln>
        </p:spPr>
      </p:pic>
      <p:sp>
        <p:nvSpPr>
          <p:cNvPr id="13" name="Rectangle 3">
            <a:extLst>
              <a:ext uri="{FF2B5EF4-FFF2-40B4-BE49-F238E27FC236}">
                <a16:creationId xmlns:a16="http://schemas.microsoft.com/office/drawing/2014/main" id="{747AD6E0-B4F9-44B6-B5E6-D9648B26B1B4}"/>
              </a:ext>
            </a:extLst>
          </p:cNvPr>
          <p:cNvSpPr txBox="1">
            <a:spLocks noChangeArrowheads="1"/>
          </p:cNvSpPr>
          <p:nvPr/>
        </p:nvSpPr>
        <p:spPr>
          <a:xfrm>
            <a:off x="234163" y="1410608"/>
            <a:ext cx="3487321"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d, e, (f, g, h), (c,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4" name="Rectangle 3">
            <a:extLst>
              <a:ext uri="{FF2B5EF4-FFF2-40B4-BE49-F238E27FC236}">
                <a16:creationId xmlns:a16="http://schemas.microsoft.com/office/drawing/2014/main" id="{8C87C1C7-5201-4967-A7F3-B6D9EB08C81A}"/>
              </a:ext>
            </a:extLst>
          </p:cNvPr>
          <p:cNvSpPr txBox="1">
            <a:spLocks noChangeArrowheads="1"/>
          </p:cNvSpPr>
          <p:nvPr/>
        </p:nvSpPr>
        <p:spPr>
          <a:xfrm>
            <a:off x="3886200" y="1398443"/>
            <a:ext cx="3401730"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d, e, (f, g, h), (c,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6" name="Rectangle 3">
            <a:extLst>
              <a:ext uri="{FF2B5EF4-FFF2-40B4-BE49-F238E27FC236}">
                <a16:creationId xmlns:a16="http://schemas.microsoft.com/office/drawing/2014/main" id="{0D1E9949-8D88-40FF-9338-34D1ED00E09B}"/>
              </a:ext>
            </a:extLst>
          </p:cNvPr>
          <p:cNvSpPr txBox="1">
            <a:spLocks noChangeArrowheads="1"/>
          </p:cNvSpPr>
          <p:nvPr/>
        </p:nvSpPr>
        <p:spPr>
          <a:xfrm>
            <a:off x="225078" y="4126670"/>
            <a:ext cx="3401730"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d, e, (c,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E339D08B-3232-4BB8-BA7C-9BAD0449AFFA}"/>
              </a:ext>
            </a:extLst>
          </p:cNvPr>
          <p:cNvPicPr>
            <a:picLocks noChangeAspect="1"/>
          </p:cNvPicPr>
          <p:nvPr/>
        </p:nvPicPr>
        <p:blipFill>
          <a:blip r:embed="rId6"/>
          <a:stretch>
            <a:fillRect/>
          </a:stretch>
        </p:blipFill>
        <p:spPr>
          <a:xfrm>
            <a:off x="7627050" y="1450619"/>
            <a:ext cx="970059" cy="2359382"/>
          </a:xfrm>
          <a:prstGeom prst="rect">
            <a:avLst/>
          </a:prstGeom>
        </p:spPr>
      </p:pic>
      <p:pic>
        <p:nvPicPr>
          <p:cNvPr id="7" name="Picture 6">
            <a:extLst>
              <a:ext uri="{FF2B5EF4-FFF2-40B4-BE49-F238E27FC236}">
                <a16:creationId xmlns:a16="http://schemas.microsoft.com/office/drawing/2014/main" id="{761429D0-8F1D-47DC-9BCB-EA6335B978AC}"/>
              </a:ext>
            </a:extLst>
          </p:cNvPr>
          <p:cNvPicPr>
            <a:picLocks noChangeAspect="1"/>
          </p:cNvPicPr>
          <p:nvPr/>
        </p:nvPicPr>
        <p:blipFill>
          <a:blip r:embed="rId7"/>
          <a:stretch>
            <a:fillRect/>
          </a:stretch>
        </p:blipFill>
        <p:spPr>
          <a:xfrm>
            <a:off x="7543800" y="3974054"/>
            <a:ext cx="942898" cy="2252045"/>
          </a:xfrm>
          <a:prstGeom prst="rect">
            <a:avLst/>
          </a:prstGeom>
        </p:spPr>
      </p:pic>
      <p:sp>
        <p:nvSpPr>
          <p:cNvPr id="15" name="Rectangle 3">
            <a:extLst>
              <a:ext uri="{FF2B5EF4-FFF2-40B4-BE49-F238E27FC236}">
                <a16:creationId xmlns:a16="http://schemas.microsoft.com/office/drawing/2014/main" id="{1C702F39-3B25-4797-BE89-9881380A51DD}"/>
              </a:ext>
            </a:extLst>
          </p:cNvPr>
          <p:cNvSpPr txBox="1">
            <a:spLocks noChangeArrowheads="1"/>
          </p:cNvSpPr>
          <p:nvPr/>
        </p:nvSpPr>
        <p:spPr>
          <a:xfrm>
            <a:off x="3889147" y="4126669"/>
            <a:ext cx="3468881"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d, e, (c,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257815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21</a:t>
            </a:fld>
            <a:endParaRPr lang="en-US" dirty="0"/>
          </a:p>
        </p:txBody>
      </p:sp>
      <p:pic>
        <p:nvPicPr>
          <p:cNvPr id="3" name="Picture 2">
            <a:extLst>
              <a:ext uri="{FF2B5EF4-FFF2-40B4-BE49-F238E27FC236}">
                <a16:creationId xmlns:a16="http://schemas.microsoft.com/office/drawing/2014/main" id="{16551C96-8664-4A17-BDA5-2D94A97BB597}"/>
              </a:ext>
            </a:extLst>
          </p:cNvPr>
          <p:cNvPicPr>
            <a:picLocks noChangeAspect="1"/>
          </p:cNvPicPr>
          <p:nvPr/>
        </p:nvPicPr>
        <p:blipFill>
          <a:blip r:embed="rId2"/>
          <a:stretch>
            <a:fillRect/>
          </a:stretch>
        </p:blipFill>
        <p:spPr>
          <a:xfrm>
            <a:off x="158262" y="1859312"/>
            <a:ext cx="3575538" cy="1842453"/>
          </a:xfrm>
          <a:prstGeom prst="rect">
            <a:avLst/>
          </a:prstGeom>
          <a:ln>
            <a:solidFill>
              <a:schemeClr val="tx1"/>
            </a:solidFill>
          </a:ln>
        </p:spPr>
      </p:pic>
      <p:pic>
        <p:nvPicPr>
          <p:cNvPr id="5" name="Picture 4">
            <a:extLst>
              <a:ext uri="{FF2B5EF4-FFF2-40B4-BE49-F238E27FC236}">
                <a16:creationId xmlns:a16="http://schemas.microsoft.com/office/drawing/2014/main" id="{45F6522F-C54A-4475-ACF3-7914B36E51D9}"/>
              </a:ext>
            </a:extLst>
          </p:cNvPr>
          <p:cNvPicPr>
            <a:picLocks noChangeAspect="1"/>
          </p:cNvPicPr>
          <p:nvPr/>
        </p:nvPicPr>
        <p:blipFill>
          <a:blip r:embed="rId3"/>
          <a:stretch>
            <a:fillRect/>
          </a:stretch>
        </p:blipFill>
        <p:spPr>
          <a:xfrm>
            <a:off x="3968261" y="1859312"/>
            <a:ext cx="3567660" cy="1842453"/>
          </a:xfrm>
          <a:prstGeom prst="rect">
            <a:avLst/>
          </a:prstGeom>
          <a:ln>
            <a:solidFill>
              <a:schemeClr val="tx1"/>
            </a:solidFill>
          </a:ln>
        </p:spPr>
      </p:pic>
      <p:pic>
        <p:nvPicPr>
          <p:cNvPr id="6" name="Picture 5">
            <a:extLst>
              <a:ext uri="{FF2B5EF4-FFF2-40B4-BE49-F238E27FC236}">
                <a16:creationId xmlns:a16="http://schemas.microsoft.com/office/drawing/2014/main" id="{1526BA33-0F5C-41B6-BC39-F70E36DCD108}"/>
              </a:ext>
            </a:extLst>
          </p:cNvPr>
          <p:cNvPicPr>
            <a:picLocks noChangeAspect="1"/>
          </p:cNvPicPr>
          <p:nvPr/>
        </p:nvPicPr>
        <p:blipFill>
          <a:blip r:embed="rId4"/>
          <a:stretch>
            <a:fillRect/>
          </a:stretch>
        </p:blipFill>
        <p:spPr>
          <a:xfrm>
            <a:off x="152401" y="4495801"/>
            <a:ext cx="3575538" cy="1881862"/>
          </a:xfrm>
          <a:prstGeom prst="rect">
            <a:avLst/>
          </a:prstGeom>
          <a:ln>
            <a:solidFill>
              <a:schemeClr val="tx1"/>
            </a:solidFill>
          </a:ln>
        </p:spPr>
      </p:pic>
      <p:pic>
        <p:nvPicPr>
          <p:cNvPr id="7" name="Picture 6">
            <a:extLst>
              <a:ext uri="{FF2B5EF4-FFF2-40B4-BE49-F238E27FC236}">
                <a16:creationId xmlns:a16="http://schemas.microsoft.com/office/drawing/2014/main" id="{63E25186-171A-4BE6-8A84-8E2870A57B17}"/>
              </a:ext>
            </a:extLst>
          </p:cNvPr>
          <p:cNvPicPr>
            <a:picLocks noChangeAspect="1"/>
          </p:cNvPicPr>
          <p:nvPr/>
        </p:nvPicPr>
        <p:blipFill>
          <a:blip r:embed="rId5"/>
          <a:stretch>
            <a:fillRect/>
          </a:stretch>
        </p:blipFill>
        <p:spPr>
          <a:xfrm>
            <a:off x="3962401" y="4507834"/>
            <a:ext cx="3567660" cy="1792166"/>
          </a:xfrm>
          <a:prstGeom prst="rect">
            <a:avLst/>
          </a:prstGeom>
          <a:ln>
            <a:solidFill>
              <a:schemeClr val="tx1"/>
            </a:solidFill>
          </a:ln>
        </p:spPr>
      </p:pic>
      <p:sp>
        <p:nvSpPr>
          <p:cNvPr id="11" name="Rectangle 3">
            <a:extLst>
              <a:ext uri="{FF2B5EF4-FFF2-40B4-BE49-F238E27FC236}">
                <a16:creationId xmlns:a16="http://schemas.microsoft.com/office/drawing/2014/main" id="{A403F1C7-B229-4AE4-A25F-1EBD188C6324}"/>
              </a:ext>
            </a:extLst>
          </p:cNvPr>
          <p:cNvSpPr txBox="1">
            <a:spLocks noChangeArrowheads="1"/>
          </p:cNvSpPr>
          <p:nvPr/>
        </p:nvSpPr>
        <p:spPr>
          <a:xfrm>
            <a:off x="152401" y="1429411"/>
            <a:ext cx="3575538"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e,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2" name="Rectangle 3">
            <a:extLst>
              <a:ext uri="{FF2B5EF4-FFF2-40B4-BE49-F238E27FC236}">
                <a16:creationId xmlns:a16="http://schemas.microsoft.com/office/drawing/2014/main" id="{0C661988-8F81-4DED-A301-1A64D61C4763}"/>
              </a:ext>
            </a:extLst>
          </p:cNvPr>
          <p:cNvSpPr txBox="1">
            <a:spLocks noChangeArrowheads="1"/>
          </p:cNvSpPr>
          <p:nvPr/>
        </p:nvSpPr>
        <p:spPr>
          <a:xfrm>
            <a:off x="3958461" y="1444162"/>
            <a:ext cx="3575538"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e,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3" name="Rectangle 3">
            <a:extLst>
              <a:ext uri="{FF2B5EF4-FFF2-40B4-BE49-F238E27FC236}">
                <a16:creationId xmlns:a16="http://schemas.microsoft.com/office/drawing/2014/main" id="{D59B50F1-9CA3-4DD2-8B45-208FE92241DE}"/>
              </a:ext>
            </a:extLst>
          </p:cNvPr>
          <p:cNvSpPr txBox="1">
            <a:spLocks noChangeArrowheads="1"/>
          </p:cNvSpPr>
          <p:nvPr/>
        </p:nvSpPr>
        <p:spPr>
          <a:xfrm>
            <a:off x="134816" y="4028969"/>
            <a:ext cx="3567660"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23F715B2-401A-48D0-9CE8-B837FDFF7B20}"/>
              </a:ext>
            </a:extLst>
          </p:cNvPr>
          <p:cNvPicPr>
            <a:picLocks noChangeAspect="1"/>
          </p:cNvPicPr>
          <p:nvPr/>
        </p:nvPicPr>
        <p:blipFill>
          <a:blip r:embed="rId6"/>
          <a:stretch>
            <a:fillRect/>
          </a:stretch>
        </p:blipFill>
        <p:spPr>
          <a:xfrm>
            <a:off x="7620001" y="1404176"/>
            <a:ext cx="946066" cy="2297590"/>
          </a:xfrm>
          <a:prstGeom prst="rect">
            <a:avLst/>
          </a:prstGeom>
        </p:spPr>
      </p:pic>
      <p:pic>
        <p:nvPicPr>
          <p:cNvPr id="15" name="Picture 14">
            <a:extLst>
              <a:ext uri="{FF2B5EF4-FFF2-40B4-BE49-F238E27FC236}">
                <a16:creationId xmlns:a16="http://schemas.microsoft.com/office/drawing/2014/main" id="{1D195D22-86A7-4E68-BBB4-68CBEDE4E856}"/>
              </a:ext>
            </a:extLst>
          </p:cNvPr>
          <p:cNvPicPr>
            <a:picLocks noChangeAspect="1"/>
          </p:cNvPicPr>
          <p:nvPr/>
        </p:nvPicPr>
        <p:blipFill>
          <a:blip r:embed="rId7"/>
          <a:stretch>
            <a:fillRect/>
          </a:stretch>
        </p:blipFill>
        <p:spPr>
          <a:xfrm>
            <a:off x="7620001" y="4032317"/>
            <a:ext cx="946066" cy="2309042"/>
          </a:xfrm>
          <a:prstGeom prst="rect">
            <a:avLst/>
          </a:prstGeom>
        </p:spPr>
      </p:pic>
      <p:sp>
        <p:nvSpPr>
          <p:cNvPr id="16" name="Rectangle 3">
            <a:extLst>
              <a:ext uri="{FF2B5EF4-FFF2-40B4-BE49-F238E27FC236}">
                <a16:creationId xmlns:a16="http://schemas.microsoft.com/office/drawing/2014/main" id="{B82E2966-023E-4E32-8DE0-6798C738FE03}"/>
              </a:ext>
            </a:extLst>
          </p:cNvPr>
          <p:cNvSpPr txBox="1">
            <a:spLocks noChangeArrowheads="1"/>
          </p:cNvSpPr>
          <p:nvPr/>
        </p:nvSpPr>
        <p:spPr>
          <a:xfrm>
            <a:off x="3936023" y="4022749"/>
            <a:ext cx="3567660"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2590056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22</a:t>
            </a:fld>
            <a:endParaRPr lang="en-US" dirty="0"/>
          </a:p>
        </p:txBody>
      </p:sp>
      <p:pic>
        <p:nvPicPr>
          <p:cNvPr id="8" name="Picture 7">
            <a:extLst>
              <a:ext uri="{FF2B5EF4-FFF2-40B4-BE49-F238E27FC236}">
                <a16:creationId xmlns:a16="http://schemas.microsoft.com/office/drawing/2014/main" id="{70C66DFA-02D7-4BD8-A879-80FF58BC7550}"/>
              </a:ext>
            </a:extLst>
          </p:cNvPr>
          <p:cNvPicPr>
            <a:picLocks noChangeAspect="1"/>
          </p:cNvPicPr>
          <p:nvPr/>
        </p:nvPicPr>
        <p:blipFill>
          <a:blip r:embed="rId2"/>
          <a:stretch>
            <a:fillRect/>
          </a:stretch>
        </p:blipFill>
        <p:spPr>
          <a:xfrm>
            <a:off x="252919" y="1905000"/>
            <a:ext cx="3633281" cy="1756939"/>
          </a:xfrm>
          <a:prstGeom prst="rect">
            <a:avLst/>
          </a:prstGeom>
          <a:ln>
            <a:solidFill>
              <a:schemeClr val="tx1"/>
            </a:solidFill>
          </a:ln>
        </p:spPr>
      </p:pic>
      <p:pic>
        <p:nvPicPr>
          <p:cNvPr id="9" name="Picture 8">
            <a:extLst>
              <a:ext uri="{FF2B5EF4-FFF2-40B4-BE49-F238E27FC236}">
                <a16:creationId xmlns:a16="http://schemas.microsoft.com/office/drawing/2014/main" id="{DDF76212-8FAA-4F31-8663-A81F9B78BEBF}"/>
              </a:ext>
            </a:extLst>
          </p:cNvPr>
          <p:cNvPicPr>
            <a:picLocks noChangeAspect="1"/>
          </p:cNvPicPr>
          <p:nvPr/>
        </p:nvPicPr>
        <p:blipFill>
          <a:blip r:embed="rId3"/>
          <a:stretch>
            <a:fillRect/>
          </a:stretch>
        </p:blipFill>
        <p:spPr>
          <a:xfrm>
            <a:off x="4107294" y="1905000"/>
            <a:ext cx="3513878" cy="1756939"/>
          </a:xfrm>
          <a:prstGeom prst="rect">
            <a:avLst/>
          </a:prstGeom>
          <a:ln>
            <a:solidFill>
              <a:schemeClr val="tx1"/>
            </a:solidFill>
          </a:ln>
        </p:spPr>
      </p:pic>
      <p:pic>
        <p:nvPicPr>
          <p:cNvPr id="10" name="Picture 9">
            <a:extLst>
              <a:ext uri="{FF2B5EF4-FFF2-40B4-BE49-F238E27FC236}">
                <a16:creationId xmlns:a16="http://schemas.microsoft.com/office/drawing/2014/main" id="{2CCF8430-2BEC-431C-BB1E-9079CA9BB346}"/>
              </a:ext>
            </a:extLst>
          </p:cNvPr>
          <p:cNvPicPr>
            <a:picLocks noChangeAspect="1"/>
          </p:cNvPicPr>
          <p:nvPr/>
        </p:nvPicPr>
        <p:blipFill>
          <a:blip r:embed="rId4"/>
          <a:stretch>
            <a:fillRect/>
          </a:stretch>
        </p:blipFill>
        <p:spPr>
          <a:xfrm>
            <a:off x="275617" y="4419600"/>
            <a:ext cx="3610583" cy="1762914"/>
          </a:xfrm>
          <a:prstGeom prst="rect">
            <a:avLst/>
          </a:prstGeom>
          <a:ln>
            <a:solidFill>
              <a:schemeClr val="tx1"/>
            </a:solidFill>
          </a:ln>
        </p:spPr>
      </p:pic>
      <p:pic>
        <p:nvPicPr>
          <p:cNvPr id="11" name="Picture 10">
            <a:extLst>
              <a:ext uri="{FF2B5EF4-FFF2-40B4-BE49-F238E27FC236}">
                <a16:creationId xmlns:a16="http://schemas.microsoft.com/office/drawing/2014/main" id="{C96548ED-2340-46E5-B82C-966B460D5233}"/>
              </a:ext>
            </a:extLst>
          </p:cNvPr>
          <p:cNvPicPr>
            <a:picLocks noChangeAspect="1"/>
          </p:cNvPicPr>
          <p:nvPr/>
        </p:nvPicPr>
        <p:blipFill>
          <a:blip r:embed="rId5"/>
          <a:stretch>
            <a:fillRect/>
          </a:stretch>
        </p:blipFill>
        <p:spPr>
          <a:xfrm>
            <a:off x="4133790" y="4419600"/>
            <a:ext cx="3461429" cy="1762914"/>
          </a:xfrm>
          <a:prstGeom prst="rect">
            <a:avLst/>
          </a:prstGeom>
          <a:ln>
            <a:solidFill>
              <a:schemeClr val="tx1"/>
            </a:solidFill>
          </a:ln>
        </p:spPr>
      </p:pic>
      <p:sp>
        <p:nvSpPr>
          <p:cNvPr id="12" name="Rectangle 3">
            <a:extLst>
              <a:ext uri="{FF2B5EF4-FFF2-40B4-BE49-F238E27FC236}">
                <a16:creationId xmlns:a16="http://schemas.microsoft.com/office/drawing/2014/main" id="{14BD0255-01E4-45A4-9F12-421EDACECEAB}"/>
              </a:ext>
            </a:extLst>
          </p:cNvPr>
          <p:cNvSpPr txBox="1">
            <a:spLocks noChangeArrowheads="1"/>
          </p:cNvSpPr>
          <p:nvPr/>
        </p:nvSpPr>
        <p:spPr>
          <a:xfrm>
            <a:off x="252919" y="1451333"/>
            <a:ext cx="3633281"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3" name="Rectangle 3">
            <a:extLst>
              <a:ext uri="{FF2B5EF4-FFF2-40B4-BE49-F238E27FC236}">
                <a16:creationId xmlns:a16="http://schemas.microsoft.com/office/drawing/2014/main" id="{04A98174-4B56-4DB5-98C1-883E860EB298}"/>
              </a:ext>
            </a:extLst>
          </p:cNvPr>
          <p:cNvSpPr txBox="1">
            <a:spLocks noChangeArrowheads="1"/>
          </p:cNvSpPr>
          <p:nvPr/>
        </p:nvSpPr>
        <p:spPr>
          <a:xfrm>
            <a:off x="4104363" y="1477629"/>
            <a:ext cx="3513879"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4" name="Rectangle 3">
            <a:extLst>
              <a:ext uri="{FF2B5EF4-FFF2-40B4-BE49-F238E27FC236}">
                <a16:creationId xmlns:a16="http://schemas.microsoft.com/office/drawing/2014/main" id="{01B8EC40-CA44-461C-BB40-FD20A8321D1D}"/>
              </a:ext>
            </a:extLst>
          </p:cNvPr>
          <p:cNvSpPr txBox="1">
            <a:spLocks noChangeArrowheads="1"/>
          </p:cNvSpPr>
          <p:nvPr/>
        </p:nvSpPr>
        <p:spPr>
          <a:xfrm>
            <a:off x="4104363" y="4020658"/>
            <a:ext cx="3513879"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sp>
        <p:nvSpPr>
          <p:cNvPr id="15" name="Rectangle 3">
            <a:extLst>
              <a:ext uri="{FF2B5EF4-FFF2-40B4-BE49-F238E27FC236}">
                <a16:creationId xmlns:a16="http://schemas.microsoft.com/office/drawing/2014/main" id="{BDAFA50A-9AC2-4984-AD03-E8B1153D84E6}"/>
              </a:ext>
            </a:extLst>
          </p:cNvPr>
          <p:cNvSpPr txBox="1">
            <a:spLocks noChangeArrowheads="1"/>
          </p:cNvSpPr>
          <p:nvPr/>
        </p:nvSpPr>
        <p:spPr>
          <a:xfrm>
            <a:off x="252919" y="4010579"/>
            <a:ext cx="3633282" cy="332821"/>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defRPr/>
            </a:pPr>
            <a:r>
              <a:rPr lang="en-US" sz="1600" dirty="0">
                <a:latin typeface="Times New Roman" pitchFamily="18" charset="0"/>
                <a:cs typeface="Times New Roman" pitchFamily="18" charset="0"/>
              </a:rPr>
              <a:t>Set = {(a, b, c, d, f, g, h, </a:t>
            </a:r>
            <a:r>
              <a:rPr lang="en-US" sz="1600" dirty="0" err="1">
                <a:latin typeface="Times New Roman" pitchFamily="18" charset="0"/>
                <a:cs typeface="Times New Roman" pitchFamily="18" charset="0"/>
              </a:rPr>
              <a:t>i</a:t>
            </a:r>
            <a:r>
              <a:rPr lang="en-US" sz="1600" dirty="0">
                <a:latin typeface="Times New Roman" pitchFamily="18" charset="0"/>
                <a:cs typeface="Times New Roman" pitchFamily="18" charset="0"/>
              </a:rPr>
              <a:t>, e)}</a:t>
            </a:r>
            <a:endParaRPr lang="en-US" sz="18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a:p>
            <a:pPr marL="285750" indent="-285750" algn="just">
              <a:buFont typeface="Arial" pitchFamily="34" charset="0"/>
              <a:buChar char="•"/>
              <a:defRPr/>
            </a:pPr>
            <a:endParaRPr lang="en-US" sz="18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873B3A32-779B-416C-9579-106229A2EDA5}"/>
              </a:ext>
            </a:extLst>
          </p:cNvPr>
          <p:cNvPicPr>
            <a:picLocks noChangeAspect="1"/>
          </p:cNvPicPr>
          <p:nvPr/>
        </p:nvPicPr>
        <p:blipFill>
          <a:blip r:embed="rId6"/>
          <a:stretch>
            <a:fillRect/>
          </a:stretch>
        </p:blipFill>
        <p:spPr>
          <a:xfrm>
            <a:off x="7742952" y="1477629"/>
            <a:ext cx="932237" cy="2256171"/>
          </a:xfrm>
          <a:prstGeom prst="rect">
            <a:avLst/>
          </a:prstGeom>
        </p:spPr>
      </p:pic>
      <p:pic>
        <p:nvPicPr>
          <p:cNvPr id="7" name="Picture 6">
            <a:extLst>
              <a:ext uri="{FF2B5EF4-FFF2-40B4-BE49-F238E27FC236}">
                <a16:creationId xmlns:a16="http://schemas.microsoft.com/office/drawing/2014/main" id="{CC718CA4-A20E-4B2C-97D5-535A4707D1E5}"/>
              </a:ext>
            </a:extLst>
          </p:cNvPr>
          <p:cNvPicPr>
            <a:picLocks noChangeAspect="1"/>
          </p:cNvPicPr>
          <p:nvPr/>
        </p:nvPicPr>
        <p:blipFill>
          <a:blip r:embed="rId7"/>
          <a:stretch>
            <a:fillRect/>
          </a:stretch>
        </p:blipFill>
        <p:spPr>
          <a:xfrm>
            <a:off x="7703402" y="3984959"/>
            <a:ext cx="939430" cy="2256172"/>
          </a:xfrm>
          <a:prstGeom prst="rect">
            <a:avLst/>
          </a:prstGeom>
        </p:spPr>
      </p:pic>
    </p:spTree>
    <p:extLst>
      <p:ext uri="{BB962C8B-B14F-4D97-AF65-F5344CB8AC3E}">
        <p14:creationId xmlns:p14="http://schemas.microsoft.com/office/powerpoint/2010/main" val="1319374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Kruskal’s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23</a:t>
            </a:fld>
            <a:endParaRPr lang="en-US" dirty="0"/>
          </a:p>
        </p:txBody>
      </p:sp>
      <p:sp>
        <p:nvSpPr>
          <p:cNvPr id="12" name="Rectangle 3">
            <a:extLst>
              <a:ext uri="{FF2B5EF4-FFF2-40B4-BE49-F238E27FC236}">
                <a16:creationId xmlns:a16="http://schemas.microsoft.com/office/drawing/2014/main" id="{7DAA2D4B-A2CC-4F5C-99DC-036F41C6A3C6}"/>
              </a:ext>
            </a:extLst>
          </p:cNvPr>
          <p:cNvSpPr>
            <a:spLocks noGrp="1" noChangeArrowheads="1"/>
          </p:cNvSpPr>
          <p:nvPr>
            <p:ph idx="1"/>
          </p:nvPr>
        </p:nvSpPr>
        <p:spPr>
          <a:xfrm>
            <a:off x="278861" y="1405325"/>
            <a:ext cx="8443216" cy="2972276"/>
          </a:xfrm>
          <a:ln>
            <a:solidFill>
              <a:schemeClr val="tx1"/>
            </a:solidFill>
          </a:ln>
        </p:spPr>
        <p:txBody>
          <a:bodyPr>
            <a:noAutofit/>
          </a:bodyPr>
          <a:lstStyle/>
          <a:p>
            <a:pPr marL="285750" algn="just">
              <a:buFont typeface="Arial" panose="020B0604020202020204" pitchFamily="34" charset="0"/>
              <a:buChar char="•"/>
              <a:defRPr/>
            </a:pPr>
            <a:r>
              <a:rPr lang="en-US" sz="1400" dirty="0">
                <a:latin typeface="Times New Roman" pitchFamily="18" charset="0"/>
                <a:cs typeface="Times New Roman" pitchFamily="18" charset="0"/>
              </a:rPr>
              <a:t>Running time</a:t>
            </a:r>
          </a:p>
          <a:p>
            <a:pPr marL="285750" algn="just">
              <a:buFont typeface="Arial" panose="020B0604020202020204" pitchFamily="34" charset="0"/>
              <a:buChar char="•"/>
              <a:defRPr/>
            </a:pPr>
            <a:r>
              <a:rPr lang="en-US" sz="1400" dirty="0">
                <a:latin typeface="Times New Roman" pitchFamily="18" charset="0"/>
                <a:cs typeface="Times New Roman" pitchFamily="18" charset="0"/>
              </a:rPr>
              <a:t>Line 1 – O(1)</a:t>
            </a:r>
          </a:p>
          <a:p>
            <a:pPr marL="285750" algn="just">
              <a:buFont typeface="Arial" panose="020B0604020202020204" pitchFamily="34" charset="0"/>
              <a:buChar char="•"/>
              <a:defRPr/>
            </a:pPr>
            <a:r>
              <a:rPr lang="en-US" sz="1400" dirty="0">
                <a:latin typeface="Times New Roman" pitchFamily="18" charset="0"/>
                <a:cs typeface="Times New Roman" pitchFamily="18" charset="0"/>
              </a:rPr>
              <a:t>Line 4 – Sorting Edges – E*log E</a:t>
            </a:r>
          </a:p>
          <a:p>
            <a:pPr marL="285750" algn="just">
              <a:buFont typeface="Arial" panose="020B0604020202020204" pitchFamily="34" charset="0"/>
              <a:buChar char="•"/>
              <a:defRPr/>
            </a:pPr>
            <a:r>
              <a:rPr lang="en-US" sz="1400" dirty="0">
                <a:latin typeface="Times New Roman" pitchFamily="18" charset="0"/>
                <a:cs typeface="Times New Roman" pitchFamily="18" charset="0"/>
              </a:rPr>
              <a:t>Line 2-3 O(V)*MAKE-SET Operations</a:t>
            </a:r>
          </a:p>
          <a:p>
            <a:pPr marL="285750" algn="just">
              <a:buFont typeface="Arial" panose="020B0604020202020204" pitchFamily="34" charset="0"/>
              <a:buChar char="•"/>
              <a:defRPr/>
            </a:pPr>
            <a:r>
              <a:rPr lang="en-US" sz="1400" dirty="0">
                <a:latin typeface="Times New Roman" pitchFamily="18" charset="0"/>
                <a:cs typeface="Times New Roman" pitchFamily="18" charset="0"/>
              </a:rPr>
              <a:t>Line 5-8 O(E)*(FIND-SET and UNION) Operations</a:t>
            </a:r>
          </a:p>
          <a:p>
            <a:pPr marL="285750" algn="just">
              <a:buFont typeface="Arial" panose="020B0604020202020204" pitchFamily="34" charset="0"/>
              <a:buChar char="•"/>
              <a:defRPr/>
            </a:pPr>
            <a:r>
              <a:rPr lang="en-US" sz="1400" dirty="0">
                <a:latin typeface="Times New Roman" pitchFamily="18" charset="0"/>
                <a:cs typeface="Times New Roman" pitchFamily="18" charset="0"/>
              </a:rPr>
              <a:t>Together MAKE-SET, FIND-SET, UNION takes </a:t>
            </a:r>
            <a:r>
              <a:rPr lang="el-GR" sz="1400" dirty="0">
                <a:latin typeface="Times New Roman" pitchFamily="18" charset="0"/>
                <a:cs typeface="Times New Roman" pitchFamily="18" charset="0"/>
              </a:rPr>
              <a:t>α</a:t>
            </a:r>
            <a:r>
              <a:rPr lang="en-US" sz="1400" dirty="0">
                <a:latin typeface="Times New Roman" pitchFamily="18" charset="0"/>
                <a:cs typeface="Times New Roman" pitchFamily="18" charset="0"/>
              </a:rPr>
              <a:t>(V)</a:t>
            </a:r>
          </a:p>
          <a:p>
            <a:pPr marL="285750" algn="just">
              <a:buFont typeface="Arial" panose="020B0604020202020204" pitchFamily="34" charset="0"/>
              <a:buChar char="•"/>
              <a:defRPr/>
            </a:pPr>
            <a:r>
              <a:rPr lang="en-US" sz="1400" dirty="0">
                <a:latin typeface="Times New Roman" pitchFamily="18" charset="0"/>
                <a:cs typeface="Times New Roman" pitchFamily="18" charset="0"/>
              </a:rPr>
              <a:t>Hence the algorithm takes O((V+E)*</a:t>
            </a:r>
            <a:r>
              <a:rPr lang="el-GR" sz="1400" dirty="0">
                <a:latin typeface="Times New Roman" pitchFamily="18" charset="0"/>
                <a:cs typeface="Times New Roman" pitchFamily="18" charset="0"/>
              </a:rPr>
              <a:t> α</a:t>
            </a:r>
            <a:r>
              <a:rPr lang="en-US" sz="1400" dirty="0">
                <a:latin typeface="Times New Roman" pitchFamily="18" charset="0"/>
                <a:cs typeface="Times New Roman" pitchFamily="18" charset="0"/>
              </a:rPr>
              <a:t>(V))</a:t>
            </a:r>
          </a:p>
          <a:p>
            <a:pPr marL="285750" algn="just">
              <a:buFont typeface="Arial" panose="020B0604020202020204" pitchFamily="34" charset="0"/>
              <a:buChar char="•"/>
              <a:defRPr/>
            </a:pPr>
            <a:r>
              <a:rPr lang="en-US" sz="1400" dirty="0">
                <a:latin typeface="Times New Roman" pitchFamily="18" charset="0"/>
                <a:cs typeface="Times New Roman" pitchFamily="18" charset="0"/>
              </a:rPr>
              <a:t>= O((E)*</a:t>
            </a:r>
            <a:r>
              <a:rPr lang="el-GR" sz="1400" dirty="0">
                <a:latin typeface="Times New Roman" pitchFamily="18" charset="0"/>
                <a:cs typeface="Times New Roman" pitchFamily="18" charset="0"/>
              </a:rPr>
              <a:t> α</a:t>
            </a:r>
            <a:r>
              <a:rPr lang="en-US" sz="1400" dirty="0">
                <a:latin typeface="Times New Roman" pitchFamily="18" charset="0"/>
                <a:cs typeface="Times New Roman" pitchFamily="18" charset="0"/>
              </a:rPr>
              <a:t>(V))        Since |E| ≥ |V| - 1</a:t>
            </a:r>
          </a:p>
          <a:p>
            <a:pPr marL="285750" algn="just">
              <a:buFont typeface="Arial" panose="020B0604020202020204" pitchFamily="34" charset="0"/>
              <a:buChar char="•"/>
              <a:defRPr/>
            </a:pPr>
            <a:r>
              <a:rPr lang="en-US" sz="1400" dirty="0">
                <a:latin typeface="Times New Roman" pitchFamily="18" charset="0"/>
                <a:cs typeface="Times New Roman" pitchFamily="18" charset="0"/>
              </a:rPr>
              <a:t>= O((E)*</a:t>
            </a:r>
            <a:r>
              <a:rPr lang="el-GR" sz="1400" dirty="0">
                <a:latin typeface="Times New Roman" pitchFamily="18" charset="0"/>
                <a:cs typeface="Times New Roman" pitchFamily="18" charset="0"/>
              </a:rPr>
              <a:t> α</a:t>
            </a:r>
            <a:r>
              <a:rPr lang="en-US" sz="1400" dirty="0">
                <a:latin typeface="Times New Roman" pitchFamily="18" charset="0"/>
                <a:cs typeface="Times New Roman" pitchFamily="18" charset="0"/>
              </a:rPr>
              <a:t>(V))        Since </a:t>
            </a:r>
            <a:r>
              <a:rPr lang="el-GR" sz="1400" dirty="0">
                <a:latin typeface="Times New Roman" pitchFamily="18" charset="0"/>
                <a:cs typeface="Times New Roman" pitchFamily="18" charset="0"/>
              </a:rPr>
              <a:t>α</a:t>
            </a:r>
            <a:r>
              <a:rPr lang="en-US" sz="1400" dirty="0">
                <a:latin typeface="Times New Roman" pitchFamily="18" charset="0"/>
                <a:cs typeface="Times New Roman" pitchFamily="18" charset="0"/>
              </a:rPr>
              <a:t>(|V|) = O(log V) = O(Log E)</a:t>
            </a:r>
          </a:p>
          <a:p>
            <a:pPr marL="285750" algn="just">
              <a:buFont typeface="Arial" panose="020B0604020202020204" pitchFamily="34" charset="0"/>
              <a:buChar char="•"/>
              <a:defRPr/>
            </a:pPr>
            <a:r>
              <a:rPr lang="en-US" sz="1400" dirty="0">
                <a:latin typeface="Times New Roman" pitchFamily="18" charset="0"/>
                <a:cs typeface="Times New Roman" pitchFamily="18" charset="0"/>
              </a:rPr>
              <a:t>= O(E*</a:t>
            </a:r>
            <a:r>
              <a:rPr lang="el-GR" sz="1400" dirty="0">
                <a:latin typeface="Times New Roman" pitchFamily="18" charset="0"/>
                <a:cs typeface="Times New Roman" pitchFamily="18" charset="0"/>
              </a:rPr>
              <a:t> </a:t>
            </a:r>
            <a:r>
              <a:rPr lang="en-US" sz="1400" dirty="0">
                <a:latin typeface="Times New Roman" pitchFamily="18" charset="0"/>
                <a:cs typeface="Times New Roman" pitchFamily="18" charset="0"/>
              </a:rPr>
              <a:t>Log E)</a:t>
            </a:r>
          </a:p>
          <a:p>
            <a:pPr marL="285750" algn="just">
              <a:buFont typeface="Arial" panose="020B0604020202020204" pitchFamily="34" charset="0"/>
              <a:buChar char="•"/>
              <a:defRPr/>
            </a:pPr>
            <a:r>
              <a:rPr lang="en-US" sz="1400" dirty="0">
                <a:latin typeface="Times New Roman" pitchFamily="18" charset="0"/>
                <a:cs typeface="Times New Roman" pitchFamily="18" charset="0"/>
              </a:rPr>
              <a:t>= O(E*</a:t>
            </a:r>
            <a:r>
              <a:rPr lang="el-GR" sz="1400" dirty="0">
                <a:latin typeface="Times New Roman" pitchFamily="18" charset="0"/>
                <a:cs typeface="Times New Roman" pitchFamily="18" charset="0"/>
              </a:rPr>
              <a:t> </a:t>
            </a:r>
            <a:r>
              <a:rPr lang="en-US" sz="1400" dirty="0">
                <a:latin typeface="Times New Roman" pitchFamily="18" charset="0"/>
                <a:cs typeface="Times New Roman" pitchFamily="18" charset="0"/>
              </a:rPr>
              <a:t>Log V)        Since |E| &lt; |V|</a:t>
            </a:r>
            <a:r>
              <a:rPr lang="en-US" sz="1400" baseline="30000" dirty="0">
                <a:latin typeface="Times New Roman" pitchFamily="18" charset="0"/>
                <a:cs typeface="Times New Roman" pitchFamily="18" charset="0"/>
              </a:rPr>
              <a:t>2  </a:t>
            </a:r>
            <a:r>
              <a:rPr lang="en-US" sz="1400" dirty="0">
                <a:latin typeface="Times New Roman" pitchFamily="18" charset="0"/>
                <a:cs typeface="Times New Roman" pitchFamily="18" charset="0"/>
              </a:rPr>
              <a:t>=&gt; log |E| = O(log V)</a:t>
            </a:r>
          </a:p>
          <a:p>
            <a:pPr marL="285750" algn="just">
              <a:buFont typeface="Arial" panose="020B0604020202020204" pitchFamily="34" charset="0"/>
              <a:buChar char="•"/>
              <a:defRPr/>
            </a:pPr>
            <a:endParaRPr lang="en-US" sz="14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4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sz="1400" dirty="0">
              <a:latin typeface="Times New Roman" pitchFamily="18" charset="0"/>
              <a:cs typeface="Times New Roman" pitchFamily="18" charset="0"/>
            </a:endParaRPr>
          </a:p>
          <a:p>
            <a:pPr marL="285750" algn="just">
              <a:buFont typeface="Arial" panose="020B0604020202020204" pitchFamily="34" charset="0"/>
              <a:buChar char="•"/>
              <a:defRPr/>
            </a:pPr>
            <a:endParaRPr lang="en-US" sz="14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4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4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4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DA55E14A-DFF6-4BDC-AAAE-133A5406AFDF}"/>
              </a:ext>
            </a:extLst>
          </p:cNvPr>
          <p:cNvPicPr>
            <a:picLocks noChangeAspect="1"/>
          </p:cNvPicPr>
          <p:nvPr/>
        </p:nvPicPr>
        <p:blipFill>
          <a:blip r:embed="rId2"/>
          <a:stretch>
            <a:fillRect/>
          </a:stretch>
        </p:blipFill>
        <p:spPr>
          <a:xfrm>
            <a:off x="3921477" y="4401941"/>
            <a:ext cx="4800600" cy="2101467"/>
          </a:xfrm>
          <a:prstGeom prst="rect">
            <a:avLst/>
          </a:prstGeom>
          <a:ln>
            <a:solidFill>
              <a:schemeClr val="tx1"/>
            </a:solidFill>
          </a:ln>
        </p:spPr>
      </p:pic>
    </p:spTree>
    <p:extLst>
      <p:ext uri="{BB962C8B-B14F-4D97-AF65-F5344CB8AC3E}">
        <p14:creationId xmlns:p14="http://schemas.microsoft.com/office/powerpoint/2010/main" val="530778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24</a:t>
            </a:fld>
            <a:endParaRPr lang="en-US" dirty="0"/>
          </a:p>
        </p:txBody>
      </p:sp>
      <p:sp>
        <p:nvSpPr>
          <p:cNvPr id="41" name="Rectangle 3">
            <a:extLst>
              <a:ext uri="{FF2B5EF4-FFF2-40B4-BE49-F238E27FC236}">
                <a16:creationId xmlns:a16="http://schemas.microsoft.com/office/drawing/2014/main" id="{34B6D0E2-DF9F-4622-91BE-DD0B5BADD08E}"/>
              </a:ext>
            </a:extLst>
          </p:cNvPr>
          <p:cNvSpPr>
            <a:spLocks noGrp="1" noChangeArrowheads="1"/>
          </p:cNvSpPr>
          <p:nvPr>
            <p:ph idx="1"/>
          </p:nvPr>
        </p:nvSpPr>
        <p:spPr>
          <a:xfrm>
            <a:off x="152400" y="1495497"/>
            <a:ext cx="4876800" cy="3990903"/>
          </a:xfrm>
          <a:ln>
            <a:solidFill>
              <a:schemeClr val="tx1"/>
            </a:solidFill>
          </a:ln>
        </p:spPr>
        <p:txBody>
          <a:bodyPr>
            <a:noAutofit/>
          </a:bodyPr>
          <a:lstStyle/>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Based on Generic-MST</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Greedy algorithm</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Edges in A always form a single Tree</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Tree starts from arbitrary root vertex r and grows until the tree spans all the vertices in V</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Each iteration adds a safe edge to A</a:t>
            </a:r>
          </a:p>
          <a:p>
            <a:pPr marL="274320" indent="-274320" algn="just">
              <a:buFont typeface="Arial" panose="020B0604020202020204" pitchFamily="34" charset="0"/>
              <a:buChar char="•"/>
              <a:defRPr/>
            </a:pPr>
            <a:endParaRPr lang="en-US" sz="16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0A55EE0F-189C-4457-9956-B4008CC45FA1}"/>
              </a:ext>
            </a:extLst>
          </p:cNvPr>
          <p:cNvPicPr>
            <a:picLocks noChangeAspect="1"/>
          </p:cNvPicPr>
          <p:nvPr/>
        </p:nvPicPr>
        <p:blipFill>
          <a:blip r:embed="rId2"/>
          <a:stretch>
            <a:fillRect/>
          </a:stretch>
        </p:blipFill>
        <p:spPr>
          <a:xfrm>
            <a:off x="5182840" y="1495497"/>
            <a:ext cx="3808760" cy="3258875"/>
          </a:xfrm>
          <a:prstGeom prst="rect">
            <a:avLst/>
          </a:prstGeom>
          <a:ln>
            <a:solidFill>
              <a:schemeClr val="tx1"/>
            </a:solidFill>
          </a:ln>
        </p:spPr>
      </p:pic>
    </p:spTree>
    <p:extLst>
      <p:ext uri="{BB962C8B-B14F-4D97-AF65-F5344CB8AC3E}">
        <p14:creationId xmlns:p14="http://schemas.microsoft.com/office/powerpoint/2010/main" val="3086937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25</a:t>
            </a:fld>
            <a:endParaRPr lang="en-US" dirty="0"/>
          </a:p>
        </p:txBody>
      </p:sp>
      <p:pic>
        <p:nvPicPr>
          <p:cNvPr id="3" name="Picture 2">
            <a:extLst>
              <a:ext uri="{FF2B5EF4-FFF2-40B4-BE49-F238E27FC236}">
                <a16:creationId xmlns:a16="http://schemas.microsoft.com/office/drawing/2014/main" id="{0A55EE0F-189C-4457-9956-B4008CC45FA1}"/>
              </a:ext>
            </a:extLst>
          </p:cNvPr>
          <p:cNvPicPr>
            <a:picLocks noChangeAspect="1"/>
          </p:cNvPicPr>
          <p:nvPr/>
        </p:nvPicPr>
        <p:blipFill>
          <a:blip r:embed="rId2"/>
          <a:stretch>
            <a:fillRect/>
          </a:stretch>
        </p:blipFill>
        <p:spPr>
          <a:xfrm>
            <a:off x="6019800" y="4334422"/>
            <a:ext cx="2514600" cy="2151558"/>
          </a:xfrm>
          <a:prstGeom prst="rect">
            <a:avLst/>
          </a:prstGeom>
          <a:ln>
            <a:solidFill>
              <a:schemeClr val="tx1"/>
            </a:solidFill>
          </a:ln>
        </p:spPr>
      </p:pic>
      <p:sp>
        <p:nvSpPr>
          <p:cNvPr id="6" name="Rectangle 3">
            <a:extLst>
              <a:ext uri="{FF2B5EF4-FFF2-40B4-BE49-F238E27FC236}">
                <a16:creationId xmlns:a16="http://schemas.microsoft.com/office/drawing/2014/main" id="{E322CB10-E7F5-4762-91E4-707C9C19CCDC}"/>
              </a:ext>
            </a:extLst>
          </p:cNvPr>
          <p:cNvSpPr txBox="1">
            <a:spLocks noChangeArrowheads="1"/>
          </p:cNvSpPr>
          <p:nvPr/>
        </p:nvSpPr>
        <p:spPr>
          <a:xfrm>
            <a:off x="152400" y="1447799"/>
            <a:ext cx="8382000" cy="2863499"/>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G – Graph, w – Weight, r –root Vertex</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Set </a:t>
            </a:r>
            <a:r>
              <a:rPr lang="en-US" sz="1600" dirty="0" err="1">
                <a:latin typeface="Times New Roman" pitchFamily="18" charset="0"/>
                <a:cs typeface="Times New Roman" pitchFamily="18" charset="0"/>
              </a:rPr>
              <a:t>v.key</a:t>
            </a:r>
            <a:r>
              <a:rPr lang="en-US" sz="1600" dirty="0">
                <a:latin typeface="Times New Roman" pitchFamily="18" charset="0"/>
                <a:cs typeface="Times New Roman" pitchFamily="18" charset="0"/>
              </a:rPr>
              <a:t> (distance from root) for all nodes to infinity</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Set parent of all nodes to NIL</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Q is min priority Queue of all nodes in Graph based on key value. Initially key for Nodes is infinity, so the order does not matter.</a:t>
            </a:r>
          </a:p>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Pull an element from the Queue. Look at all its adjacent nodes. If the adjacent node is still in the queue and edge value is less than adjacent node key, then update the key value of adjacent node</a:t>
            </a:r>
          </a:p>
          <a:p>
            <a:pPr marL="674370" lvl="1" indent="-274320" algn="just">
              <a:buFont typeface="Arial" panose="020B0604020202020204" pitchFamily="34" charset="0"/>
              <a:buChar char="•"/>
              <a:defRPr/>
            </a:pPr>
            <a:r>
              <a:rPr lang="en-US" dirty="0">
                <a:latin typeface="Times New Roman" pitchFamily="18" charset="0"/>
                <a:cs typeface="Times New Roman" pitchFamily="18" charset="0"/>
              </a:rPr>
              <a:t>Adjacent node still remains in the queue</a:t>
            </a:r>
          </a:p>
          <a:p>
            <a:pPr marL="674370" lvl="1" indent="-274320" algn="just">
              <a:buFont typeface="Arial" panose="020B0604020202020204" pitchFamily="34" charset="0"/>
              <a:buChar char="•"/>
              <a:defRPr/>
            </a:pPr>
            <a:r>
              <a:rPr lang="en-US" dirty="0">
                <a:latin typeface="Times New Roman" pitchFamily="18" charset="0"/>
                <a:cs typeface="Times New Roman" pitchFamily="18" charset="0"/>
              </a:rPr>
              <a:t>After key value is updated, the min-queue order is updated so that min-queue is remains a min-queue.</a:t>
            </a:r>
            <a:endParaRPr lang="en-US" sz="1600" dirty="0">
              <a:latin typeface="Times New Roman" pitchFamily="18" charset="0"/>
              <a:cs typeface="Times New Roman" pitchFamily="18" charset="0"/>
            </a:endParaRPr>
          </a:p>
          <a:p>
            <a:pPr marL="285750" indent="-285750" algn="just">
              <a:buFont typeface="Arial" pitchFamily="34" charset="0"/>
              <a:buChar char="•"/>
              <a:defRPr/>
            </a:pP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4118691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26</a:t>
            </a:fld>
            <a:endParaRPr lang="en-US" dirty="0"/>
          </a:p>
        </p:txBody>
      </p:sp>
      <p:pic>
        <p:nvPicPr>
          <p:cNvPr id="7" name="Picture 6">
            <a:extLst>
              <a:ext uri="{FF2B5EF4-FFF2-40B4-BE49-F238E27FC236}">
                <a16:creationId xmlns:a16="http://schemas.microsoft.com/office/drawing/2014/main" id="{DD63F2D5-9925-405A-B2E8-0965B7737C1C}"/>
              </a:ext>
            </a:extLst>
          </p:cNvPr>
          <p:cNvPicPr>
            <a:picLocks noChangeAspect="1"/>
          </p:cNvPicPr>
          <p:nvPr/>
        </p:nvPicPr>
        <p:blipFill>
          <a:blip r:embed="rId2"/>
          <a:stretch>
            <a:fillRect/>
          </a:stretch>
        </p:blipFill>
        <p:spPr>
          <a:xfrm>
            <a:off x="5257800" y="1702684"/>
            <a:ext cx="2514600" cy="2095500"/>
          </a:xfrm>
          <a:prstGeom prst="rect">
            <a:avLst/>
          </a:prstGeom>
        </p:spPr>
      </p:pic>
      <p:pic>
        <p:nvPicPr>
          <p:cNvPr id="8" name="Picture 7">
            <a:extLst>
              <a:ext uri="{FF2B5EF4-FFF2-40B4-BE49-F238E27FC236}">
                <a16:creationId xmlns:a16="http://schemas.microsoft.com/office/drawing/2014/main" id="{77D92C64-0C3A-473B-91B7-A73491ECA9F9}"/>
              </a:ext>
            </a:extLst>
          </p:cNvPr>
          <p:cNvPicPr>
            <a:picLocks noChangeAspect="1"/>
          </p:cNvPicPr>
          <p:nvPr/>
        </p:nvPicPr>
        <p:blipFill>
          <a:blip r:embed="rId3"/>
          <a:stretch>
            <a:fillRect/>
          </a:stretch>
        </p:blipFill>
        <p:spPr>
          <a:xfrm>
            <a:off x="523875" y="4161318"/>
            <a:ext cx="4048125" cy="1952625"/>
          </a:xfrm>
          <a:prstGeom prst="rect">
            <a:avLst/>
          </a:prstGeom>
          <a:ln>
            <a:solidFill>
              <a:schemeClr val="tx1"/>
            </a:solidFill>
          </a:ln>
        </p:spPr>
      </p:pic>
      <p:pic>
        <p:nvPicPr>
          <p:cNvPr id="10" name="Picture 9">
            <a:extLst>
              <a:ext uri="{FF2B5EF4-FFF2-40B4-BE49-F238E27FC236}">
                <a16:creationId xmlns:a16="http://schemas.microsoft.com/office/drawing/2014/main" id="{BDCC6052-B27B-454A-A52A-C28B421B2069}"/>
              </a:ext>
            </a:extLst>
          </p:cNvPr>
          <p:cNvPicPr>
            <a:picLocks noChangeAspect="1"/>
          </p:cNvPicPr>
          <p:nvPr/>
        </p:nvPicPr>
        <p:blipFill>
          <a:blip r:embed="rId4"/>
          <a:stretch>
            <a:fillRect/>
          </a:stretch>
        </p:blipFill>
        <p:spPr>
          <a:xfrm>
            <a:off x="5257800" y="4099405"/>
            <a:ext cx="2505075" cy="2076450"/>
          </a:xfrm>
          <a:prstGeom prst="rect">
            <a:avLst/>
          </a:prstGeom>
        </p:spPr>
      </p:pic>
      <p:sp>
        <p:nvSpPr>
          <p:cNvPr id="11" name="Rectangle 3">
            <a:extLst>
              <a:ext uri="{FF2B5EF4-FFF2-40B4-BE49-F238E27FC236}">
                <a16:creationId xmlns:a16="http://schemas.microsoft.com/office/drawing/2014/main" id="{4EBAC32E-9B36-4322-8779-180E1AFD1584}"/>
              </a:ext>
            </a:extLst>
          </p:cNvPr>
          <p:cNvSpPr txBox="1">
            <a:spLocks noChangeArrowheads="1"/>
          </p:cNvSpPr>
          <p:nvPr/>
        </p:nvSpPr>
        <p:spPr>
          <a:xfrm>
            <a:off x="401903" y="1702683"/>
            <a:ext cx="4627297" cy="993999"/>
          </a:xfrm>
          <a:prstGeom prst="rect">
            <a:avLst/>
          </a:prstGeom>
          <a:ln>
            <a:solidFill>
              <a:schemeClr val="tx1"/>
            </a:solidFill>
          </a:ln>
        </p:spPr>
        <p:txBody>
          <a:bodyPr vert="horz" lIns="91440" tIns="45720" rIns="91440" bIns="45720" rtlCol="0">
            <a:no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4320" indent="-274320" algn="just">
              <a:buFont typeface="Arial" panose="020B0604020202020204" pitchFamily="34" charset="0"/>
              <a:buChar char="•"/>
              <a:defRPr/>
            </a:pPr>
            <a:r>
              <a:rPr lang="en-US" sz="1600" dirty="0">
                <a:latin typeface="Times New Roman" pitchFamily="18" charset="0"/>
                <a:cs typeface="Times New Roman" pitchFamily="18" charset="0"/>
              </a:rPr>
              <a:t>Light Edge that crosses (V-Q, Q) to A  </a:t>
            </a:r>
          </a:p>
          <a:p>
            <a:pPr marL="285750" indent="-285750" algn="just">
              <a:buFont typeface="Arial" pitchFamily="34" charset="0"/>
              <a:buChar char="•"/>
              <a:defRPr/>
            </a:pP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1054251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27</a:t>
            </a:fld>
            <a:endParaRPr lang="en-US" dirty="0"/>
          </a:p>
        </p:txBody>
      </p:sp>
      <p:pic>
        <p:nvPicPr>
          <p:cNvPr id="3" name="Picture 2">
            <a:extLst>
              <a:ext uri="{FF2B5EF4-FFF2-40B4-BE49-F238E27FC236}">
                <a16:creationId xmlns:a16="http://schemas.microsoft.com/office/drawing/2014/main" id="{7995267F-9986-40B0-9FE1-8D347A285B98}"/>
              </a:ext>
            </a:extLst>
          </p:cNvPr>
          <p:cNvPicPr>
            <a:picLocks noChangeAspect="1"/>
          </p:cNvPicPr>
          <p:nvPr/>
        </p:nvPicPr>
        <p:blipFill>
          <a:blip r:embed="rId2"/>
          <a:stretch>
            <a:fillRect/>
          </a:stretch>
        </p:blipFill>
        <p:spPr>
          <a:xfrm>
            <a:off x="671512" y="4072245"/>
            <a:ext cx="4076700" cy="1924050"/>
          </a:xfrm>
          <a:prstGeom prst="rect">
            <a:avLst/>
          </a:prstGeom>
          <a:ln>
            <a:solidFill>
              <a:schemeClr val="tx1"/>
            </a:solidFill>
          </a:ln>
        </p:spPr>
      </p:pic>
      <p:pic>
        <p:nvPicPr>
          <p:cNvPr id="6" name="Picture 5">
            <a:extLst>
              <a:ext uri="{FF2B5EF4-FFF2-40B4-BE49-F238E27FC236}">
                <a16:creationId xmlns:a16="http://schemas.microsoft.com/office/drawing/2014/main" id="{CB377891-3E30-45B0-8DEF-8DE1CAEEF000}"/>
              </a:ext>
            </a:extLst>
          </p:cNvPr>
          <p:cNvPicPr>
            <a:picLocks noChangeAspect="1"/>
          </p:cNvPicPr>
          <p:nvPr/>
        </p:nvPicPr>
        <p:blipFill>
          <a:blip r:embed="rId3"/>
          <a:stretch>
            <a:fillRect/>
          </a:stretch>
        </p:blipFill>
        <p:spPr>
          <a:xfrm>
            <a:off x="5135090" y="1676400"/>
            <a:ext cx="2524125" cy="2019300"/>
          </a:xfrm>
          <a:prstGeom prst="rect">
            <a:avLst/>
          </a:prstGeom>
        </p:spPr>
      </p:pic>
      <p:pic>
        <p:nvPicPr>
          <p:cNvPr id="10" name="Picture 9">
            <a:extLst>
              <a:ext uri="{FF2B5EF4-FFF2-40B4-BE49-F238E27FC236}">
                <a16:creationId xmlns:a16="http://schemas.microsoft.com/office/drawing/2014/main" id="{BD36B9B7-FF8D-40DF-81DA-F5ADB70F6CB3}"/>
              </a:ext>
            </a:extLst>
          </p:cNvPr>
          <p:cNvPicPr>
            <a:picLocks noChangeAspect="1"/>
          </p:cNvPicPr>
          <p:nvPr/>
        </p:nvPicPr>
        <p:blipFill>
          <a:blip r:embed="rId4"/>
          <a:stretch>
            <a:fillRect/>
          </a:stretch>
        </p:blipFill>
        <p:spPr>
          <a:xfrm>
            <a:off x="5144615" y="3986520"/>
            <a:ext cx="2514600" cy="2009775"/>
          </a:xfrm>
          <a:prstGeom prst="rect">
            <a:avLst/>
          </a:prstGeom>
        </p:spPr>
      </p:pic>
      <p:pic>
        <p:nvPicPr>
          <p:cNvPr id="11" name="Picture 10">
            <a:extLst>
              <a:ext uri="{FF2B5EF4-FFF2-40B4-BE49-F238E27FC236}">
                <a16:creationId xmlns:a16="http://schemas.microsoft.com/office/drawing/2014/main" id="{DC8404B4-5843-4F03-8AEA-21418F9C1168}"/>
              </a:ext>
            </a:extLst>
          </p:cNvPr>
          <p:cNvPicPr>
            <a:picLocks noChangeAspect="1"/>
          </p:cNvPicPr>
          <p:nvPr/>
        </p:nvPicPr>
        <p:blipFill>
          <a:blip r:embed="rId5"/>
          <a:stretch>
            <a:fillRect/>
          </a:stretch>
        </p:blipFill>
        <p:spPr>
          <a:xfrm>
            <a:off x="685800" y="1710736"/>
            <a:ext cx="4048125" cy="1981200"/>
          </a:xfrm>
          <a:prstGeom prst="rect">
            <a:avLst/>
          </a:prstGeom>
          <a:ln>
            <a:solidFill>
              <a:schemeClr val="tx1"/>
            </a:solidFill>
          </a:ln>
        </p:spPr>
      </p:pic>
    </p:spTree>
    <p:extLst>
      <p:ext uri="{BB962C8B-B14F-4D97-AF65-F5344CB8AC3E}">
        <p14:creationId xmlns:p14="http://schemas.microsoft.com/office/powerpoint/2010/main" val="3661015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28</a:t>
            </a:fld>
            <a:endParaRPr lang="en-US" dirty="0"/>
          </a:p>
        </p:txBody>
      </p:sp>
      <p:pic>
        <p:nvPicPr>
          <p:cNvPr id="3" name="Picture 2">
            <a:extLst>
              <a:ext uri="{FF2B5EF4-FFF2-40B4-BE49-F238E27FC236}">
                <a16:creationId xmlns:a16="http://schemas.microsoft.com/office/drawing/2014/main" id="{C8D82EE3-ECF3-4A5A-809E-6120E5027751}"/>
              </a:ext>
            </a:extLst>
          </p:cNvPr>
          <p:cNvPicPr>
            <a:picLocks noChangeAspect="1"/>
          </p:cNvPicPr>
          <p:nvPr/>
        </p:nvPicPr>
        <p:blipFill>
          <a:blip r:embed="rId2"/>
          <a:stretch>
            <a:fillRect/>
          </a:stretch>
        </p:blipFill>
        <p:spPr>
          <a:xfrm>
            <a:off x="272374" y="3980343"/>
            <a:ext cx="4715803" cy="2133600"/>
          </a:xfrm>
          <a:prstGeom prst="rect">
            <a:avLst/>
          </a:prstGeom>
          <a:ln>
            <a:solidFill>
              <a:schemeClr val="tx1"/>
            </a:solidFill>
          </a:ln>
        </p:spPr>
      </p:pic>
      <p:pic>
        <p:nvPicPr>
          <p:cNvPr id="6" name="Picture 5">
            <a:extLst>
              <a:ext uri="{FF2B5EF4-FFF2-40B4-BE49-F238E27FC236}">
                <a16:creationId xmlns:a16="http://schemas.microsoft.com/office/drawing/2014/main" id="{27941B7A-09D1-4C72-8614-3A1FE51CB311}"/>
              </a:ext>
            </a:extLst>
          </p:cNvPr>
          <p:cNvPicPr>
            <a:picLocks noChangeAspect="1"/>
          </p:cNvPicPr>
          <p:nvPr/>
        </p:nvPicPr>
        <p:blipFill>
          <a:blip r:embed="rId3"/>
          <a:stretch>
            <a:fillRect/>
          </a:stretch>
        </p:blipFill>
        <p:spPr>
          <a:xfrm>
            <a:off x="5334000" y="1642509"/>
            <a:ext cx="2514600" cy="1990725"/>
          </a:xfrm>
          <a:prstGeom prst="rect">
            <a:avLst/>
          </a:prstGeom>
        </p:spPr>
      </p:pic>
      <p:pic>
        <p:nvPicPr>
          <p:cNvPr id="10" name="Picture 9">
            <a:extLst>
              <a:ext uri="{FF2B5EF4-FFF2-40B4-BE49-F238E27FC236}">
                <a16:creationId xmlns:a16="http://schemas.microsoft.com/office/drawing/2014/main" id="{20F24BC6-408B-478C-8091-0699BE77C94C}"/>
              </a:ext>
            </a:extLst>
          </p:cNvPr>
          <p:cNvPicPr>
            <a:picLocks noChangeAspect="1"/>
          </p:cNvPicPr>
          <p:nvPr/>
        </p:nvPicPr>
        <p:blipFill>
          <a:blip r:embed="rId4"/>
          <a:stretch>
            <a:fillRect/>
          </a:stretch>
        </p:blipFill>
        <p:spPr>
          <a:xfrm>
            <a:off x="5334000" y="3956024"/>
            <a:ext cx="2533650" cy="2028825"/>
          </a:xfrm>
          <a:prstGeom prst="rect">
            <a:avLst/>
          </a:prstGeom>
        </p:spPr>
      </p:pic>
      <p:pic>
        <p:nvPicPr>
          <p:cNvPr id="11" name="Picture 10">
            <a:extLst>
              <a:ext uri="{FF2B5EF4-FFF2-40B4-BE49-F238E27FC236}">
                <a16:creationId xmlns:a16="http://schemas.microsoft.com/office/drawing/2014/main" id="{6C38E7A9-F78B-41BB-8385-63E685C5F233}"/>
              </a:ext>
            </a:extLst>
          </p:cNvPr>
          <p:cNvPicPr>
            <a:picLocks noChangeAspect="1"/>
          </p:cNvPicPr>
          <p:nvPr/>
        </p:nvPicPr>
        <p:blipFill>
          <a:blip r:embed="rId5"/>
          <a:stretch>
            <a:fillRect/>
          </a:stretch>
        </p:blipFill>
        <p:spPr>
          <a:xfrm>
            <a:off x="390525" y="1661559"/>
            <a:ext cx="4181475" cy="1952625"/>
          </a:xfrm>
          <a:prstGeom prst="rect">
            <a:avLst/>
          </a:prstGeom>
          <a:ln>
            <a:solidFill>
              <a:schemeClr val="tx1"/>
            </a:solidFill>
          </a:ln>
        </p:spPr>
      </p:pic>
    </p:spTree>
    <p:extLst>
      <p:ext uri="{BB962C8B-B14F-4D97-AF65-F5344CB8AC3E}">
        <p14:creationId xmlns:p14="http://schemas.microsoft.com/office/powerpoint/2010/main" val="1715937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29</a:t>
            </a:fld>
            <a:endParaRPr lang="en-US" dirty="0"/>
          </a:p>
        </p:txBody>
      </p:sp>
      <p:pic>
        <p:nvPicPr>
          <p:cNvPr id="3" name="Picture 2">
            <a:extLst>
              <a:ext uri="{FF2B5EF4-FFF2-40B4-BE49-F238E27FC236}">
                <a16:creationId xmlns:a16="http://schemas.microsoft.com/office/drawing/2014/main" id="{CF566104-C630-48BB-AB3E-806DD88FBE52}"/>
              </a:ext>
            </a:extLst>
          </p:cNvPr>
          <p:cNvPicPr>
            <a:picLocks noChangeAspect="1"/>
          </p:cNvPicPr>
          <p:nvPr/>
        </p:nvPicPr>
        <p:blipFill>
          <a:blip r:embed="rId2"/>
          <a:stretch>
            <a:fillRect/>
          </a:stretch>
        </p:blipFill>
        <p:spPr>
          <a:xfrm>
            <a:off x="304800" y="3978443"/>
            <a:ext cx="4523473" cy="2135500"/>
          </a:xfrm>
          <a:prstGeom prst="rect">
            <a:avLst/>
          </a:prstGeom>
          <a:ln>
            <a:solidFill>
              <a:schemeClr val="tx1"/>
            </a:solidFill>
          </a:ln>
        </p:spPr>
      </p:pic>
      <p:pic>
        <p:nvPicPr>
          <p:cNvPr id="7" name="Picture 6">
            <a:extLst>
              <a:ext uri="{FF2B5EF4-FFF2-40B4-BE49-F238E27FC236}">
                <a16:creationId xmlns:a16="http://schemas.microsoft.com/office/drawing/2014/main" id="{21C23A88-6EFE-40E8-81DA-2D3103AD0FEE}"/>
              </a:ext>
            </a:extLst>
          </p:cNvPr>
          <p:cNvPicPr>
            <a:picLocks noChangeAspect="1"/>
          </p:cNvPicPr>
          <p:nvPr/>
        </p:nvPicPr>
        <p:blipFill>
          <a:blip r:embed="rId3"/>
          <a:stretch>
            <a:fillRect/>
          </a:stretch>
        </p:blipFill>
        <p:spPr>
          <a:xfrm>
            <a:off x="5587467" y="1485605"/>
            <a:ext cx="2743200" cy="2165684"/>
          </a:xfrm>
          <a:prstGeom prst="rect">
            <a:avLst/>
          </a:prstGeom>
        </p:spPr>
      </p:pic>
      <p:pic>
        <p:nvPicPr>
          <p:cNvPr id="8" name="Picture 7">
            <a:extLst>
              <a:ext uri="{FF2B5EF4-FFF2-40B4-BE49-F238E27FC236}">
                <a16:creationId xmlns:a16="http://schemas.microsoft.com/office/drawing/2014/main" id="{70B3CEFE-951C-4AB1-B553-7AF1DC0E87CC}"/>
              </a:ext>
            </a:extLst>
          </p:cNvPr>
          <p:cNvPicPr>
            <a:picLocks noChangeAspect="1"/>
          </p:cNvPicPr>
          <p:nvPr/>
        </p:nvPicPr>
        <p:blipFill>
          <a:blip r:embed="rId4"/>
          <a:stretch>
            <a:fillRect/>
          </a:stretch>
        </p:blipFill>
        <p:spPr>
          <a:xfrm>
            <a:off x="5587467" y="3938266"/>
            <a:ext cx="2533650" cy="2000250"/>
          </a:xfrm>
          <a:prstGeom prst="rect">
            <a:avLst/>
          </a:prstGeom>
        </p:spPr>
      </p:pic>
      <p:pic>
        <p:nvPicPr>
          <p:cNvPr id="9" name="Picture 8">
            <a:extLst>
              <a:ext uri="{FF2B5EF4-FFF2-40B4-BE49-F238E27FC236}">
                <a16:creationId xmlns:a16="http://schemas.microsoft.com/office/drawing/2014/main" id="{3E6737F2-0046-4DCB-A5B9-18D348CE2396}"/>
              </a:ext>
            </a:extLst>
          </p:cNvPr>
          <p:cNvPicPr>
            <a:picLocks noChangeAspect="1"/>
          </p:cNvPicPr>
          <p:nvPr/>
        </p:nvPicPr>
        <p:blipFill>
          <a:blip r:embed="rId5"/>
          <a:stretch>
            <a:fillRect/>
          </a:stretch>
        </p:blipFill>
        <p:spPr>
          <a:xfrm>
            <a:off x="304800" y="1489524"/>
            <a:ext cx="4689522" cy="2186993"/>
          </a:xfrm>
          <a:prstGeom prst="rect">
            <a:avLst/>
          </a:prstGeom>
          <a:ln>
            <a:solidFill>
              <a:schemeClr val="tx1"/>
            </a:solidFill>
          </a:ln>
        </p:spPr>
      </p:pic>
    </p:spTree>
    <p:extLst>
      <p:ext uri="{BB962C8B-B14F-4D97-AF65-F5344CB8AC3E}">
        <p14:creationId xmlns:p14="http://schemas.microsoft.com/office/powerpoint/2010/main" val="1163851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30</a:t>
            </a:fld>
            <a:endParaRPr lang="en-US" dirty="0"/>
          </a:p>
        </p:txBody>
      </p:sp>
      <p:pic>
        <p:nvPicPr>
          <p:cNvPr id="3" name="Picture 2">
            <a:extLst>
              <a:ext uri="{FF2B5EF4-FFF2-40B4-BE49-F238E27FC236}">
                <a16:creationId xmlns:a16="http://schemas.microsoft.com/office/drawing/2014/main" id="{4283CFC8-2B31-4117-AF20-70783CB04800}"/>
              </a:ext>
            </a:extLst>
          </p:cNvPr>
          <p:cNvPicPr>
            <a:picLocks noChangeAspect="1"/>
          </p:cNvPicPr>
          <p:nvPr/>
        </p:nvPicPr>
        <p:blipFill>
          <a:blip r:embed="rId2"/>
          <a:stretch>
            <a:fillRect/>
          </a:stretch>
        </p:blipFill>
        <p:spPr>
          <a:xfrm>
            <a:off x="528536" y="3886200"/>
            <a:ext cx="4445511" cy="1927068"/>
          </a:xfrm>
          <a:prstGeom prst="rect">
            <a:avLst/>
          </a:prstGeom>
          <a:ln>
            <a:solidFill>
              <a:schemeClr val="tx1"/>
            </a:solidFill>
          </a:ln>
        </p:spPr>
      </p:pic>
      <p:pic>
        <p:nvPicPr>
          <p:cNvPr id="5" name="Picture 4">
            <a:extLst>
              <a:ext uri="{FF2B5EF4-FFF2-40B4-BE49-F238E27FC236}">
                <a16:creationId xmlns:a16="http://schemas.microsoft.com/office/drawing/2014/main" id="{0A36AAE3-74C1-4870-BA3B-13E2810C68E7}"/>
              </a:ext>
            </a:extLst>
          </p:cNvPr>
          <p:cNvPicPr>
            <a:picLocks noChangeAspect="1"/>
          </p:cNvPicPr>
          <p:nvPr/>
        </p:nvPicPr>
        <p:blipFill>
          <a:blip r:embed="rId3"/>
          <a:stretch>
            <a:fillRect/>
          </a:stretch>
        </p:blipFill>
        <p:spPr>
          <a:xfrm>
            <a:off x="514623" y="1447800"/>
            <a:ext cx="4459424" cy="2135499"/>
          </a:xfrm>
          <a:prstGeom prst="rect">
            <a:avLst/>
          </a:prstGeom>
          <a:ln>
            <a:solidFill>
              <a:schemeClr val="tx1"/>
            </a:solidFill>
          </a:ln>
        </p:spPr>
      </p:pic>
      <p:pic>
        <p:nvPicPr>
          <p:cNvPr id="9" name="Picture 8">
            <a:extLst>
              <a:ext uri="{FF2B5EF4-FFF2-40B4-BE49-F238E27FC236}">
                <a16:creationId xmlns:a16="http://schemas.microsoft.com/office/drawing/2014/main" id="{9F40F38F-52C5-4389-AFAC-288540234A3D}"/>
              </a:ext>
            </a:extLst>
          </p:cNvPr>
          <p:cNvPicPr>
            <a:picLocks noChangeAspect="1"/>
          </p:cNvPicPr>
          <p:nvPr/>
        </p:nvPicPr>
        <p:blipFill>
          <a:blip r:embed="rId4"/>
          <a:stretch>
            <a:fillRect/>
          </a:stretch>
        </p:blipFill>
        <p:spPr>
          <a:xfrm>
            <a:off x="5282667" y="1447800"/>
            <a:ext cx="2743200" cy="2148666"/>
          </a:xfrm>
          <a:prstGeom prst="rect">
            <a:avLst/>
          </a:prstGeom>
        </p:spPr>
      </p:pic>
      <p:pic>
        <p:nvPicPr>
          <p:cNvPr id="10" name="Picture 9">
            <a:extLst>
              <a:ext uri="{FF2B5EF4-FFF2-40B4-BE49-F238E27FC236}">
                <a16:creationId xmlns:a16="http://schemas.microsoft.com/office/drawing/2014/main" id="{14D1E963-1EE1-442C-99E0-405C244B6C77}"/>
              </a:ext>
            </a:extLst>
          </p:cNvPr>
          <p:cNvPicPr>
            <a:picLocks noChangeAspect="1"/>
          </p:cNvPicPr>
          <p:nvPr/>
        </p:nvPicPr>
        <p:blipFill>
          <a:blip r:embed="rId5"/>
          <a:stretch>
            <a:fillRect/>
          </a:stretch>
        </p:blipFill>
        <p:spPr>
          <a:xfrm>
            <a:off x="5319956" y="3812877"/>
            <a:ext cx="2705911" cy="2128245"/>
          </a:xfrm>
          <a:prstGeom prst="rect">
            <a:avLst/>
          </a:prstGeom>
        </p:spPr>
      </p:pic>
    </p:spTree>
    <p:extLst>
      <p:ext uri="{BB962C8B-B14F-4D97-AF65-F5344CB8AC3E}">
        <p14:creationId xmlns:p14="http://schemas.microsoft.com/office/powerpoint/2010/main" val="248386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latin typeface="Times New Roman" pitchFamily="18" charset="0"/>
                <a:cs typeface="Times New Roman" pitchFamily="18" charset="0"/>
              </a:rPr>
              <a:t>Prism’s Algorithm</a:t>
            </a:r>
            <a:endParaRPr lang="en-US" sz="3200" dirty="0"/>
          </a:p>
        </p:txBody>
      </p:sp>
      <p:sp>
        <p:nvSpPr>
          <p:cNvPr id="2" name="Slide Number Placeholder 1">
            <a:extLst>
              <a:ext uri="{FF2B5EF4-FFF2-40B4-BE49-F238E27FC236}">
                <a16:creationId xmlns:a16="http://schemas.microsoft.com/office/drawing/2014/main" id="{8C8E1AD4-5D04-4004-81C7-4F76CC99FFAE}"/>
              </a:ext>
            </a:extLst>
          </p:cNvPr>
          <p:cNvSpPr>
            <a:spLocks noGrp="1"/>
          </p:cNvSpPr>
          <p:nvPr>
            <p:ph type="sldNum" sz="quarter" idx="14"/>
          </p:nvPr>
        </p:nvSpPr>
        <p:spPr/>
        <p:txBody>
          <a:bodyPr/>
          <a:lstStyle/>
          <a:p>
            <a:fld id="{BC8D7E44-7D4F-4942-A8C9-2DF6BF8399E8}" type="slidenum">
              <a:rPr lang="en-US" smtClean="0"/>
              <a:pPr/>
              <a:t>31</a:t>
            </a:fld>
            <a:endParaRPr lang="en-US" dirty="0"/>
          </a:p>
        </p:txBody>
      </p:sp>
      <p:sp>
        <p:nvSpPr>
          <p:cNvPr id="12" name="Rectangle 3">
            <a:extLst>
              <a:ext uri="{FF2B5EF4-FFF2-40B4-BE49-F238E27FC236}">
                <a16:creationId xmlns:a16="http://schemas.microsoft.com/office/drawing/2014/main" id="{7DAA2D4B-A2CC-4F5C-99DC-036F41C6A3C6}"/>
              </a:ext>
            </a:extLst>
          </p:cNvPr>
          <p:cNvSpPr>
            <a:spLocks noGrp="1" noChangeArrowheads="1"/>
          </p:cNvSpPr>
          <p:nvPr>
            <p:ph idx="1"/>
          </p:nvPr>
        </p:nvSpPr>
        <p:spPr>
          <a:xfrm>
            <a:off x="278861" y="1405324"/>
            <a:ext cx="5588539" cy="4614475"/>
          </a:xfrm>
          <a:ln>
            <a:solidFill>
              <a:schemeClr val="tx1"/>
            </a:solidFill>
          </a:ln>
        </p:spPr>
        <p:txBody>
          <a:bodyPr>
            <a:noAutofit/>
          </a:bodyPr>
          <a:lstStyle/>
          <a:p>
            <a:pPr marL="285750" algn="just">
              <a:buFont typeface="Arial" panose="020B0604020202020204" pitchFamily="34" charset="0"/>
              <a:buChar char="•"/>
              <a:defRPr/>
            </a:pPr>
            <a:r>
              <a:rPr lang="en-US" sz="1600" dirty="0">
                <a:latin typeface="Times New Roman" pitchFamily="18" charset="0"/>
                <a:cs typeface="Times New Roman" pitchFamily="18" charset="0"/>
              </a:rPr>
              <a:t>Running time</a:t>
            </a:r>
          </a:p>
          <a:p>
            <a:pPr marL="285750" algn="just">
              <a:buFont typeface="Arial" panose="020B0604020202020204" pitchFamily="34" charset="0"/>
              <a:buChar char="•"/>
              <a:defRPr/>
            </a:pPr>
            <a:r>
              <a:rPr lang="en-US" sz="1600" dirty="0">
                <a:latin typeface="Times New Roman" pitchFamily="18" charset="0"/>
                <a:cs typeface="Times New Roman" pitchFamily="18" charset="0"/>
              </a:rPr>
              <a:t>Line 1-3 – O(V)</a:t>
            </a:r>
          </a:p>
          <a:p>
            <a:pPr marL="285750" algn="just">
              <a:buFont typeface="Arial" panose="020B0604020202020204" pitchFamily="34" charset="0"/>
              <a:buChar char="•"/>
              <a:defRPr/>
            </a:pPr>
            <a:r>
              <a:rPr lang="en-US" sz="1600" dirty="0">
                <a:latin typeface="Times New Roman" pitchFamily="18" charset="0"/>
                <a:cs typeface="Times New Roman" pitchFamily="18" charset="0"/>
              </a:rPr>
              <a:t>Line 4 – O(1)</a:t>
            </a:r>
          </a:p>
          <a:p>
            <a:pPr marL="285750" algn="just">
              <a:buFont typeface="Arial" panose="020B0604020202020204" pitchFamily="34" charset="0"/>
              <a:buChar char="•"/>
              <a:defRPr/>
            </a:pPr>
            <a:r>
              <a:rPr lang="en-US" sz="1600" dirty="0">
                <a:latin typeface="Times New Roman" pitchFamily="18" charset="0"/>
                <a:cs typeface="Times New Roman" pitchFamily="18" charset="0"/>
              </a:rPr>
              <a:t>Line 5 – Building a min-Heap - O(V)</a:t>
            </a:r>
          </a:p>
          <a:p>
            <a:pPr marL="285750" algn="just">
              <a:buFont typeface="Arial" panose="020B0604020202020204" pitchFamily="34" charset="0"/>
              <a:buChar char="•"/>
              <a:defRPr/>
            </a:pPr>
            <a:r>
              <a:rPr lang="en-US" sz="1600" dirty="0">
                <a:latin typeface="Times New Roman" pitchFamily="18" charset="0"/>
                <a:cs typeface="Times New Roman" pitchFamily="18" charset="0"/>
              </a:rPr>
              <a:t>While loop executes |V| times</a:t>
            </a:r>
          </a:p>
          <a:p>
            <a:pPr marL="685800" lvl="1" algn="just">
              <a:buFont typeface="Arial" panose="020B0604020202020204" pitchFamily="34" charset="0"/>
              <a:buChar char="•"/>
              <a:defRPr/>
            </a:pPr>
            <a:r>
              <a:rPr lang="en-US" dirty="0">
                <a:latin typeface="Times New Roman" pitchFamily="18" charset="0"/>
                <a:cs typeface="Times New Roman" pitchFamily="18" charset="0"/>
              </a:rPr>
              <a:t>Line 7 – Extract operation takes O(log V) </a:t>
            </a:r>
          </a:p>
          <a:p>
            <a:pPr marL="685800" lvl="1" algn="just">
              <a:buFont typeface="Arial" panose="020B0604020202020204" pitchFamily="34" charset="0"/>
              <a:buChar char="•"/>
              <a:defRPr/>
            </a:pPr>
            <a:r>
              <a:rPr lang="en-US" dirty="0">
                <a:latin typeface="Times New Roman" pitchFamily="18" charset="0"/>
                <a:cs typeface="Times New Roman" pitchFamily="18" charset="0"/>
              </a:rPr>
              <a:t>Hence overall Extract Operation takes (Vlog V)</a:t>
            </a:r>
          </a:p>
          <a:p>
            <a:pPr marL="285750" algn="just">
              <a:buFont typeface="Arial" panose="020B0604020202020204" pitchFamily="34" charset="0"/>
              <a:buChar char="•"/>
              <a:defRPr/>
            </a:pPr>
            <a:r>
              <a:rPr lang="en-US" sz="1600" dirty="0">
                <a:latin typeface="Times New Roman" pitchFamily="18" charset="0"/>
                <a:cs typeface="Times New Roman" pitchFamily="18" charset="0"/>
              </a:rPr>
              <a:t>For Loop – O(E) times</a:t>
            </a:r>
          </a:p>
          <a:p>
            <a:pPr marL="685800" lvl="1" algn="just">
              <a:buFont typeface="Arial" panose="020B0604020202020204" pitchFamily="34" charset="0"/>
              <a:buChar char="•"/>
              <a:defRPr/>
            </a:pPr>
            <a:r>
              <a:rPr lang="en-US" dirty="0">
                <a:latin typeface="Times New Roman" pitchFamily="18" charset="0"/>
                <a:cs typeface="Times New Roman" pitchFamily="18" charset="0"/>
              </a:rPr>
              <a:t>Line 9. Comparisons can be made in constant time</a:t>
            </a:r>
          </a:p>
          <a:p>
            <a:pPr marL="685800" lvl="1" algn="just">
              <a:buFont typeface="Arial" panose="020B0604020202020204" pitchFamily="34" charset="0"/>
              <a:buChar char="•"/>
              <a:defRPr/>
            </a:pPr>
            <a:r>
              <a:rPr lang="en-US" dirty="0">
                <a:latin typeface="Times New Roman" pitchFamily="18" charset="0"/>
                <a:cs typeface="Times New Roman" pitchFamily="18" charset="0"/>
              </a:rPr>
              <a:t>Line 11 – Assignment and maintain min-heap – O(log V)</a:t>
            </a:r>
          </a:p>
          <a:p>
            <a:pPr marL="685800" lvl="1" algn="just">
              <a:buFont typeface="Arial" panose="020B0604020202020204" pitchFamily="34" charset="0"/>
              <a:buChar char="•"/>
              <a:defRPr/>
            </a:pPr>
            <a:r>
              <a:rPr lang="en-US" dirty="0">
                <a:latin typeface="Times New Roman" pitchFamily="18" charset="0"/>
                <a:cs typeface="Times New Roman" pitchFamily="18" charset="0"/>
              </a:rPr>
              <a:t>Hence line 8-11 take Overall O(E log V)</a:t>
            </a:r>
          </a:p>
          <a:p>
            <a:pPr marL="285750" algn="just">
              <a:buFont typeface="Arial" panose="020B0604020202020204" pitchFamily="34" charset="0"/>
              <a:buChar char="•"/>
              <a:defRPr/>
            </a:pPr>
            <a:r>
              <a:rPr lang="en-US" sz="1600" dirty="0">
                <a:latin typeface="Times New Roman" pitchFamily="18" charset="0"/>
                <a:cs typeface="Times New Roman" pitchFamily="18" charset="0"/>
              </a:rPr>
              <a:t>Overall complexity O(V log V + E Log V) = O(E log V)</a:t>
            </a:r>
          </a:p>
          <a:p>
            <a:pPr marL="685800" lvl="1" algn="just">
              <a:buFont typeface="Arial" panose="020B0604020202020204" pitchFamily="34" charset="0"/>
              <a:buChar char="•"/>
              <a:defRPr/>
            </a:pPr>
            <a:r>
              <a:rPr lang="en-US" dirty="0">
                <a:latin typeface="Times New Roman" pitchFamily="18" charset="0"/>
                <a:cs typeface="Times New Roman" pitchFamily="18" charset="0"/>
              </a:rPr>
              <a:t>Same as Kruskal’s algorithm</a:t>
            </a:r>
          </a:p>
          <a:p>
            <a:pPr marL="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685800" lvl="1" algn="just">
              <a:buFont typeface="Arial" panose="020B0604020202020204" pitchFamily="34" charset="0"/>
              <a:buChar char="•"/>
              <a:defRPr/>
            </a:pPr>
            <a:endParaRPr lang="en-US" dirty="0">
              <a:latin typeface="Times New Roman" pitchFamily="18" charset="0"/>
              <a:cs typeface="Times New Roman" pitchFamily="18" charset="0"/>
            </a:endParaRPr>
          </a:p>
          <a:p>
            <a:pPr marL="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a:p>
            <a:pPr marL="285750" indent="-285750" algn="just">
              <a:buFont typeface="Arial" panose="020B0604020202020204" pitchFamily="34" charset="0"/>
              <a:buChar char="•"/>
              <a:defRPr/>
            </a:pPr>
            <a:endParaRPr lang="en-US" sz="16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DE7761F6-A4B6-41C2-884B-6CE543C30689}"/>
              </a:ext>
            </a:extLst>
          </p:cNvPr>
          <p:cNvPicPr>
            <a:picLocks noChangeAspect="1"/>
          </p:cNvPicPr>
          <p:nvPr/>
        </p:nvPicPr>
        <p:blipFill>
          <a:blip r:embed="rId2"/>
          <a:stretch>
            <a:fillRect/>
          </a:stretch>
        </p:blipFill>
        <p:spPr>
          <a:xfrm>
            <a:off x="5965655" y="1405324"/>
            <a:ext cx="2899484" cy="2480875"/>
          </a:xfrm>
          <a:prstGeom prst="rect">
            <a:avLst/>
          </a:prstGeom>
          <a:ln>
            <a:solidFill>
              <a:schemeClr val="tx1"/>
            </a:solidFill>
          </a:ln>
        </p:spPr>
      </p:pic>
    </p:spTree>
    <p:extLst>
      <p:ext uri="{BB962C8B-B14F-4D97-AF65-F5344CB8AC3E}">
        <p14:creationId xmlns:p14="http://schemas.microsoft.com/office/powerpoint/2010/main" val="1259279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57A838-7C21-47D6-AC06-ACF0DAE44A9F}"/>
</file>

<file path=customXml/itemProps2.xml><?xml version="1.0" encoding="utf-8"?>
<ds:datastoreItem xmlns:ds="http://schemas.openxmlformats.org/officeDocument/2006/customXml" ds:itemID="{B966F5B5-E084-4D82-835B-0435550A8308}"/>
</file>

<file path=customXml/itemProps3.xml><?xml version="1.0" encoding="utf-8"?>
<ds:datastoreItem xmlns:ds="http://schemas.openxmlformats.org/officeDocument/2006/customXml" ds:itemID="{7EA8F6CD-CB8C-4FBE-B3D9-AEB9B62A2EE4}"/>
</file>

<file path=docProps/app.xml><?xml version="1.0" encoding="utf-8"?>
<Properties xmlns="http://schemas.openxmlformats.org/officeDocument/2006/extended-properties" xmlns:vt="http://schemas.openxmlformats.org/officeDocument/2006/docPropsVTypes">
  <Template/>
  <TotalTime>11416</TotalTime>
  <Words>2078</Words>
  <Application>Microsoft Office PowerPoint</Application>
  <PresentationFormat>On-screen Show (4:3)</PresentationFormat>
  <Paragraphs>439</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Arial MT</vt:lpstr>
      <vt:lpstr>Calibri</vt:lpstr>
      <vt:lpstr>Cambria Math</vt:lpstr>
      <vt:lpstr>Times New Roman</vt:lpstr>
      <vt:lpstr>Wingdings</vt:lpstr>
      <vt:lpstr>Office Theme</vt:lpstr>
      <vt:lpstr>Data Structures and Algorithms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Harish Aggarwal</cp:lastModifiedBy>
  <cp:revision>739</cp:revision>
  <dcterms:created xsi:type="dcterms:W3CDTF">2011-09-14T09:42:05Z</dcterms:created>
  <dcterms:modified xsi:type="dcterms:W3CDTF">2025-10-03T15:46:48Z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