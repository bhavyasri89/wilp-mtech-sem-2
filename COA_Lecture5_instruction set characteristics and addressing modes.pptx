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7.xml" ContentType="application/vnd.openxmlformats-officedocument.presentationml.slide+xml"/>
  <Override PartName="/ppt/slides/slide56.xml" ContentType="application/vnd.openxmlformats-officedocument.presentationml.slide+xml"/>
  <Override PartName="/ppt/slides/slide5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55.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3.xml" ContentType="application/vnd.openxmlformats-officedocument.presentationml.slide+xml"/>
  <Override PartName="/ppt/slides/slide41.xml" ContentType="application/vnd.openxmlformats-officedocument.presentationml.slide+xml"/>
  <Override PartName="/ppt/slides/slide44.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notesSlides/notesSlide20.xml" ContentType="application/vnd.openxmlformats-officedocument.presentationml.notesSlide+xml"/>
  <Override PartName="/ppt/notesSlides/notesSlide15.xml" ContentType="application/vnd.openxmlformats-officedocument.presentationml.notesSlide+xml"/>
  <Override PartName="/ppt/notesSlides/notesSlide21.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29.xml" ContentType="application/vnd.openxmlformats-officedocument.presentationml.notesSlide+xml"/>
  <Override PartName="/ppt/notesSlides/notesSlide34.xml" ContentType="application/vnd.openxmlformats-officedocument.presentationml.notesSlide+xml"/>
  <Override PartName="/ppt/notesSlides/notesSlide25.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338" r:id="rId2"/>
    <p:sldId id="344" r:id="rId3"/>
    <p:sldId id="346" r:id="rId4"/>
    <p:sldId id="347" r:id="rId5"/>
    <p:sldId id="348" r:id="rId6"/>
    <p:sldId id="349" r:id="rId7"/>
    <p:sldId id="350" r:id="rId8"/>
    <p:sldId id="351" r:id="rId9"/>
    <p:sldId id="352" r:id="rId10"/>
    <p:sldId id="353" r:id="rId11"/>
    <p:sldId id="354" r:id="rId12"/>
    <p:sldId id="355" r:id="rId13"/>
    <p:sldId id="356" r:id="rId14"/>
    <p:sldId id="385" r:id="rId15"/>
    <p:sldId id="357" r:id="rId16"/>
    <p:sldId id="358" r:id="rId17"/>
    <p:sldId id="360" r:id="rId18"/>
    <p:sldId id="390" r:id="rId19"/>
    <p:sldId id="361" r:id="rId20"/>
    <p:sldId id="362" r:id="rId21"/>
    <p:sldId id="386" r:id="rId22"/>
    <p:sldId id="387" r:id="rId23"/>
    <p:sldId id="363" r:id="rId24"/>
    <p:sldId id="388" r:id="rId25"/>
    <p:sldId id="389" r:id="rId26"/>
    <p:sldId id="365" r:id="rId27"/>
    <p:sldId id="366" r:id="rId28"/>
    <p:sldId id="367" r:id="rId29"/>
    <p:sldId id="368" r:id="rId30"/>
    <p:sldId id="369" r:id="rId31"/>
    <p:sldId id="370" r:id="rId32"/>
    <p:sldId id="371" r:id="rId33"/>
    <p:sldId id="372" r:id="rId34"/>
    <p:sldId id="373" r:id="rId35"/>
    <p:sldId id="374" r:id="rId36"/>
    <p:sldId id="375" r:id="rId37"/>
    <p:sldId id="376" r:id="rId38"/>
    <p:sldId id="377" r:id="rId39"/>
    <p:sldId id="391" r:id="rId40"/>
    <p:sldId id="392" r:id="rId41"/>
    <p:sldId id="393" r:id="rId42"/>
    <p:sldId id="394" r:id="rId43"/>
    <p:sldId id="395" r:id="rId44"/>
    <p:sldId id="396" r:id="rId45"/>
    <p:sldId id="397" r:id="rId46"/>
    <p:sldId id="398" r:id="rId47"/>
    <p:sldId id="399" r:id="rId48"/>
    <p:sldId id="400" r:id="rId49"/>
    <p:sldId id="401" r:id="rId50"/>
    <p:sldId id="402" r:id="rId51"/>
    <p:sldId id="403" r:id="rId52"/>
    <p:sldId id="404" r:id="rId53"/>
    <p:sldId id="405" r:id="rId54"/>
    <p:sldId id="406" r:id="rId55"/>
    <p:sldId id="407" r:id="rId56"/>
    <p:sldId id="408" r:id="rId57"/>
    <p:sldId id="409" r:id="rId58"/>
    <p:sldId id="410" r:id="rId5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CC"/>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35" autoAdjust="0"/>
    <p:restoredTop sz="79004" autoAdjust="0"/>
  </p:normalViewPr>
  <p:slideViewPr>
    <p:cSldViewPr>
      <p:cViewPr varScale="1">
        <p:scale>
          <a:sx n="57" d="100"/>
          <a:sy n="57" d="100"/>
        </p:scale>
        <p:origin x="-1950"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Calibri" pitchFamily="34" charset="0"/>
              </a:defRPr>
            </a:lvl1pPr>
          </a:lstStyle>
          <a:p>
            <a:pPr>
              <a:defRPr/>
            </a:pPr>
            <a:endParaRPr lang="en-US"/>
          </a:p>
        </p:txBody>
      </p:sp>
      <p:sp>
        <p:nvSpPr>
          <p:cNvPr id="317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Calibri" pitchFamily="34" charset="0"/>
              </a:defRPr>
            </a:lvl1pPr>
          </a:lstStyle>
          <a:p>
            <a:pPr>
              <a:defRPr/>
            </a:pPr>
            <a:fld id="{2DF9A82A-F9F7-4C19-8534-93A5CF4CB4C1}" type="datetimeFigureOut">
              <a:rPr lang="en-US"/>
              <a:pPr>
                <a:defRPr/>
              </a:pPr>
              <a:t>4/5/2017</a:t>
            </a:fld>
            <a:endParaRPr lang="en-US"/>
          </a:p>
        </p:txBody>
      </p:sp>
      <p:sp>
        <p:nvSpPr>
          <p:cNvPr id="307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Calibri" pitchFamily="34" charset="0"/>
              </a:defRPr>
            </a:lvl1pPr>
          </a:lstStyle>
          <a:p>
            <a:pPr>
              <a:defRPr/>
            </a:pPr>
            <a:endParaRPr lang="en-US"/>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Calibri" pitchFamily="34" charset="0"/>
              </a:defRPr>
            </a:lvl1pPr>
          </a:lstStyle>
          <a:p>
            <a:pPr>
              <a:defRPr/>
            </a:pPr>
            <a:fld id="{EDF4BDCA-EF58-4CAB-BEE6-B3D323E408F4}" type="slidenum">
              <a:rPr lang="en-US"/>
              <a:pPr>
                <a:defRPr/>
              </a:pPr>
              <a:t>‹#›</a:t>
            </a:fld>
            <a:endParaRPr lang="en-US"/>
          </a:p>
        </p:txBody>
      </p:sp>
    </p:spTree>
    <p:extLst>
      <p:ext uri="{BB962C8B-B14F-4D97-AF65-F5344CB8AC3E}">
        <p14:creationId xmlns:p14="http://schemas.microsoft.com/office/powerpoint/2010/main" val="41945386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BC9D2F-5FCE-4B4F-80E6-E39EED6BD8E1}" type="slidenum">
              <a:rPr lang="en-IN" smtClean="0"/>
              <a:pPr/>
              <a:t>1</a:t>
            </a:fld>
            <a:endParaRPr lang="en-IN"/>
          </a:p>
        </p:txBody>
      </p:sp>
    </p:spTree>
    <p:extLst>
      <p:ext uri="{BB962C8B-B14F-4D97-AF65-F5344CB8AC3E}">
        <p14:creationId xmlns:p14="http://schemas.microsoft.com/office/powerpoint/2010/main" val="1705606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DF4BDCA-EF58-4CAB-BEE6-B3D323E408F4}" type="slidenum">
              <a:rPr lang="en-US" smtClean="0"/>
              <a:pPr>
                <a:defRPr/>
              </a:pPr>
              <a:t>2</a:t>
            </a:fld>
            <a:endParaRPr lang="en-US"/>
          </a:p>
        </p:txBody>
      </p:sp>
    </p:spTree>
    <p:extLst>
      <p:ext uri="{BB962C8B-B14F-4D97-AF65-F5344CB8AC3E}">
        <p14:creationId xmlns:p14="http://schemas.microsoft.com/office/powerpoint/2010/main" val="2871994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2</a:t>
            </a:r>
          </a:p>
        </p:txBody>
      </p:sp>
      <p:sp>
        <p:nvSpPr>
          <p:cNvPr id="717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4" name="Rectangle 6"/>
          <p:cNvSpPr>
            <a:spLocks noGrp="1" noRot="1" noChangeAspect="1" noChangeArrowheads="1" noTextEdit="1"/>
          </p:cNvSpPr>
          <p:nvPr>
            <p:ph type="sldImg"/>
          </p:nvPr>
        </p:nvSpPr>
        <p:spPr>
          <a:xfrm>
            <a:off x="1150938" y="692150"/>
            <a:ext cx="4556125" cy="3416300"/>
          </a:xfrm>
          <a:ln cap="flat"/>
        </p:spPr>
      </p:sp>
      <p:sp>
        <p:nvSpPr>
          <p:cNvPr id="7175"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1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3</a:t>
            </a:r>
          </a:p>
        </p:txBody>
      </p:sp>
      <p:sp>
        <p:nvSpPr>
          <p:cNvPr id="922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2" name="Rectangle 6"/>
          <p:cNvSpPr>
            <a:spLocks noGrp="1" noRot="1" noChangeAspect="1" noChangeArrowheads="1" noTextEdit="1"/>
          </p:cNvSpPr>
          <p:nvPr>
            <p:ph type="sldImg"/>
          </p:nvPr>
        </p:nvSpPr>
        <p:spPr>
          <a:xfrm>
            <a:off x="1150938" y="692150"/>
            <a:ext cx="4556125" cy="3416300"/>
          </a:xfrm>
          <a:ln cap="flat"/>
        </p:spPr>
      </p:sp>
      <p:sp>
        <p:nvSpPr>
          <p:cNvPr id="9223" name="Rectangle 7"/>
          <p:cNvSpPr>
            <a:spLocks noGrp="1" noChangeArrowheads="1"/>
          </p:cNvSpPr>
          <p:nvPr>
            <p:ph type="body" idx="1"/>
          </p:nvPr>
        </p:nvSpPr>
        <p:spPr>
          <a:ln/>
        </p:spPr>
        <p:txBody>
          <a:bodyPr/>
          <a:lstStyle/>
          <a:p>
            <a:r>
              <a:rPr lang="en-US" sz="1200" b="1" i="0" u="none" strike="noStrike" kern="1200" baseline="0" dirty="0" smtClean="0">
                <a:solidFill>
                  <a:schemeClr val="tx1"/>
                </a:solidFill>
                <a:latin typeface="Calibri" pitchFamily="34" charset="0"/>
                <a:ea typeface="+mn-ea"/>
                <a:cs typeface="+mn-cs"/>
              </a:rPr>
              <a:t>Operation code: </a:t>
            </a:r>
            <a:r>
              <a:rPr lang="en-US" sz="1200" b="0" i="0" u="none" strike="noStrike" kern="1200" baseline="0" dirty="0" smtClean="0">
                <a:solidFill>
                  <a:schemeClr val="tx1"/>
                </a:solidFill>
                <a:latin typeface="Calibri" pitchFamily="34" charset="0"/>
                <a:ea typeface="+mn-ea"/>
                <a:cs typeface="+mn-cs"/>
              </a:rPr>
              <a:t>Specifies the operation to be performed (e.g., ADD, I/O).</a:t>
            </a:r>
          </a:p>
          <a:p>
            <a:r>
              <a:rPr lang="en-US" sz="1200" b="0" i="0" u="none" strike="noStrike" kern="1200" baseline="0" dirty="0" smtClean="0">
                <a:solidFill>
                  <a:schemeClr val="tx1"/>
                </a:solidFill>
                <a:latin typeface="Calibri" pitchFamily="34" charset="0"/>
                <a:ea typeface="+mn-ea"/>
                <a:cs typeface="+mn-cs"/>
              </a:rPr>
              <a:t>The operation is specified by a binary code, known as the operation code,</a:t>
            </a:r>
          </a:p>
          <a:p>
            <a:r>
              <a:rPr lang="en-US" sz="1200" b="0" i="0" u="none" strike="noStrike" kern="1200" baseline="0" dirty="0" smtClean="0">
                <a:solidFill>
                  <a:schemeClr val="tx1"/>
                </a:solidFill>
                <a:latin typeface="Calibri" pitchFamily="34" charset="0"/>
                <a:ea typeface="+mn-ea"/>
                <a:cs typeface="+mn-cs"/>
              </a:rPr>
              <a:t>or </a:t>
            </a:r>
            <a:r>
              <a:rPr lang="en-US" sz="1200" b="1" i="0" u="none" strike="noStrike" kern="1200" baseline="0" dirty="0" smtClean="0">
                <a:solidFill>
                  <a:schemeClr val="tx1"/>
                </a:solidFill>
                <a:latin typeface="Calibri" pitchFamily="34" charset="0"/>
                <a:ea typeface="+mn-ea"/>
                <a:cs typeface="+mn-cs"/>
              </a:rPr>
              <a:t>opcode</a:t>
            </a:r>
            <a:r>
              <a:rPr lang="en-US" sz="1200" b="0" i="0" u="none" strike="noStrike" kern="1200" baseline="0" dirty="0" smtClean="0">
                <a:solidFill>
                  <a:schemeClr val="tx1"/>
                </a:solidFill>
                <a:latin typeface="Calibri" pitchFamily="34" charset="0"/>
                <a:ea typeface="+mn-ea"/>
                <a:cs typeface="+mn-cs"/>
              </a:rPr>
              <a:t>.</a:t>
            </a:r>
          </a:p>
          <a:p>
            <a:r>
              <a:rPr lang="en-US" sz="1200" b="0" i="0" u="none" strike="noStrike" kern="1200" baseline="0" dirty="0" smtClean="0">
                <a:solidFill>
                  <a:schemeClr val="tx1"/>
                </a:solidFill>
                <a:latin typeface="Calibri" pitchFamily="34" charset="0"/>
                <a:ea typeface="+mn-ea"/>
                <a:cs typeface="+mn-cs"/>
              </a:rPr>
              <a:t>• </a:t>
            </a:r>
            <a:r>
              <a:rPr lang="en-US" sz="1200" b="1" i="0" u="none" strike="noStrike" kern="1200" baseline="0" dirty="0" smtClean="0">
                <a:solidFill>
                  <a:schemeClr val="tx1"/>
                </a:solidFill>
                <a:latin typeface="Calibri" pitchFamily="34" charset="0"/>
                <a:ea typeface="+mn-ea"/>
                <a:cs typeface="+mn-cs"/>
              </a:rPr>
              <a:t>Source operand reference: </a:t>
            </a:r>
            <a:r>
              <a:rPr lang="en-US" sz="1200" b="0" i="0" u="none" strike="noStrike" kern="1200" baseline="0" dirty="0" smtClean="0">
                <a:solidFill>
                  <a:schemeClr val="tx1"/>
                </a:solidFill>
                <a:latin typeface="Calibri" pitchFamily="34" charset="0"/>
                <a:ea typeface="+mn-ea"/>
                <a:cs typeface="+mn-cs"/>
              </a:rPr>
              <a:t>The operation may involve one or more source</a:t>
            </a:r>
          </a:p>
          <a:p>
            <a:r>
              <a:rPr lang="en-US" sz="1200" b="0" i="0" u="none" strike="noStrike" kern="1200" baseline="0" dirty="0" smtClean="0">
                <a:solidFill>
                  <a:schemeClr val="tx1"/>
                </a:solidFill>
                <a:latin typeface="Calibri" pitchFamily="34" charset="0"/>
                <a:ea typeface="+mn-ea"/>
                <a:cs typeface="+mn-cs"/>
              </a:rPr>
              <a:t>operands, that is, operands that are inputs for the operation.</a:t>
            </a:r>
          </a:p>
          <a:p>
            <a:r>
              <a:rPr lang="en-US" sz="1200" b="0" i="0" u="none" strike="noStrike" kern="1200" baseline="0" dirty="0" smtClean="0">
                <a:solidFill>
                  <a:schemeClr val="tx1"/>
                </a:solidFill>
                <a:latin typeface="Calibri" pitchFamily="34" charset="0"/>
                <a:ea typeface="+mn-ea"/>
                <a:cs typeface="+mn-cs"/>
              </a:rPr>
              <a:t>• </a:t>
            </a:r>
            <a:r>
              <a:rPr lang="en-US" sz="1200" b="1" i="0" u="none" strike="noStrike" kern="1200" baseline="0" dirty="0" smtClean="0">
                <a:solidFill>
                  <a:schemeClr val="tx1"/>
                </a:solidFill>
                <a:latin typeface="Calibri" pitchFamily="34" charset="0"/>
                <a:ea typeface="+mn-ea"/>
                <a:cs typeface="+mn-cs"/>
              </a:rPr>
              <a:t>Result operand reference: </a:t>
            </a:r>
            <a:r>
              <a:rPr lang="en-US" sz="1200" b="0" i="0" u="none" strike="noStrike" kern="1200" baseline="0" dirty="0" smtClean="0">
                <a:solidFill>
                  <a:schemeClr val="tx1"/>
                </a:solidFill>
                <a:latin typeface="Calibri" pitchFamily="34" charset="0"/>
                <a:ea typeface="+mn-ea"/>
                <a:cs typeface="+mn-cs"/>
              </a:rPr>
              <a:t>The operation may produce a result.</a:t>
            </a:r>
          </a:p>
          <a:p>
            <a:r>
              <a:rPr lang="en-US" sz="1200" b="0" i="0" u="none" strike="noStrike" kern="1200" baseline="0" dirty="0" smtClean="0">
                <a:solidFill>
                  <a:schemeClr val="tx1"/>
                </a:solidFill>
                <a:latin typeface="Calibri" pitchFamily="34" charset="0"/>
                <a:ea typeface="+mn-ea"/>
                <a:cs typeface="+mn-cs"/>
              </a:rPr>
              <a:t>• </a:t>
            </a:r>
            <a:r>
              <a:rPr lang="en-US" sz="1200" b="1" i="0" u="none" strike="noStrike" kern="1200" baseline="0" dirty="0" smtClean="0">
                <a:solidFill>
                  <a:schemeClr val="tx1"/>
                </a:solidFill>
                <a:latin typeface="Calibri" pitchFamily="34" charset="0"/>
                <a:ea typeface="+mn-ea"/>
                <a:cs typeface="+mn-cs"/>
              </a:rPr>
              <a:t>Next instruction reference: </a:t>
            </a:r>
            <a:r>
              <a:rPr lang="en-US" sz="1200" b="0" i="0" u="none" strike="noStrike" kern="1200" baseline="0" dirty="0" smtClean="0">
                <a:solidFill>
                  <a:schemeClr val="tx1"/>
                </a:solidFill>
                <a:latin typeface="Calibri" pitchFamily="34" charset="0"/>
                <a:ea typeface="+mn-ea"/>
                <a:cs typeface="+mn-cs"/>
              </a:rPr>
              <a:t>This tells the processor where to fetch the next instruction</a:t>
            </a:r>
          </a:p>
          <a:p>
            <a:r>
              <a:rPr lang="en-US" sz="1200" b="0" i="0" u="none" strike="noStrike" kern="1200" baseline="0" dirty="0" smtClean="0">
                <a:solidFill>
                  <a:schemeClr val="tx1"/>
                </a:solidFill>
                <a:latin typeface="Calibri" pitchFamily="34" charset="0"/>
                <a:ea typeface="+mn-ea"/>
                <a:cs typeface="+mn-cs"/>
              </a:rPr>
              <a:t>after the execution of this instruction is complete.</a:t>
            </a:r>
            <a:endParaRPr lang="en-GB"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6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4</a:t>
            </a:r>
          </a:p>
        </p:txBody>
      </p:sp>
      <p:sp>
        <p:nvSpPr>
          <p:cNvPr id="1126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6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0" name="Rectangle 6"/>
          <p:cNvSpPr>
            <a:spLocks noGrp="1" noRot="1" noChangeAspect="1" noChangeArrowheads="1" noTextEdit="1"/>
          </p:cNvSpPr>
          <p:nvPr>
            <p:ph type="sldImg"/>
          </p:nvPr>
        </p:nvSpPr>
        <p:spPr>
          <a:xfrm>
            <a:off x="1150938" y="692150"/>
            <a:ext cx="4556125" cy="3416300"/>
          </a:xfrm>
          <a:ln cap="flat"/>
        </p:spPr>
      </p:sp>
      <p:sp>
        <p:nvSpPr>
          <p:cNvPr id="11271" name="Rectangle 7"/>
          <p:cNvSpPr>
            <a:spLocks noGrp="1" noChangeArrowheads="1"/>
          </p:cNvSpPr>
          <p:nvPr>
            <p:ph type="body" idx="1"/>
          </p:nvPr>
        </p:nvSpPr>
        <p:spPr>
          <a:ln/>
        </p:spPr>
        <p:txBody>
          <a:bodyPr/>
          <a:lstStyle/>
          <a:p>
            <a:r>
              <a:rPr lang="en-US" sz="1200" b="1" i="0" u="none" strike="noStrike" kern="1200" baseline="0" dirty="0" smtClean="0">
                <a:solidFill>
                  <a:schemeClr val="tx1"/>
                </a:solidFill>
                <a:latin typeface="Calibri" pitchFamily="34" charset="0"/>
                <a:ea typeface="+mn-ea"/>
                <a:cs typeface="+mn-cs"/>
              </a:rPr>
              <a:t>Main or virtual memory: </a:t>
            </a:r>
            <a:r>
              <a:rPr lang="en-US" sz="1200" b="0" i="0" u="none" strike="noStrike" kern="1200" baseline="0" dirty="0" smtClean="0">
                <a:solidFill>
                  <a:schemeClr val="tx1"/>
                </a:solidFill>
                <a:latin typeface="Calibri" pitchFamily="34" charset="0"/>
                <a:ea typeface="+mn-ea"/>
                <a:cs typeface="+mn-cs"/>
              </a:rPr>
              <a:t>As with next instruction references, the main or virtual</a:t>
            </a:r>
          </a:p>
          <a:p>
            <a:r>
              <a:rPr lang="en-US" sz="1200" b="0" i="0" u="none" strike="noStrike" kern="1200" baseline="0" dirty="0" smtClean="0">
                <a:solidFill>
                  <a:schemeClr val="tx1"/>
                </a:solidFill>
                <a:latin typeface="Calibri" pitchFamily="34" charset="0"/>
                <a:ea typeface="+mn-ea"/>
                <a:cs typeface="+mn-cs"/>
              </a:rPr>
              <a:t>memory address must be supplied.</a:t>
            </a:r>
          </a:p>
          <a:p>
            <a:r>
              <a:rPr lang="en-US" sz="1200" b="0" i="0" u="none" strike="noStrike" kern="1200" baseline="0" dirty="0" smtClean="0">
                <a:solidFill>
                  <a:schemeClr val="tx1"/>
                </a:solidFill>
                <a:latin typeface="Calibri" pitchFamily="34" charset="0"/>
                <a:ea typeface="+mn-ea"/>
                <a:cs typeface="+mn-cs"/>
              </a:rPr>
              <a:t>• </a:t>
            </a:r>
            <a:r>
              <a:rPr lang="en-US" sz="1200" b="1" i="0" u="none" strike="noStrike" kern="1200" baseline="0" dirty="0" smtClean="0">
                <a:solidFill>
                  <a:schemeClr val="tx1"/>
                </a:solidFill>
                <a:latin typeface="Calibri" pitchFamily="34" charset="0"/>
                <a:ea typeface="+mn-ea"/>
                <a:cs typeface="+mn-cs"/>
              </a:rPr>
              <a:t>Processor </a:t>
            </a:r>
            <a:r>
              <a:rPr lang="en-US" sz="1200" b="1" i="0" u="none" strike="noStrike" kern="1200" baseline="0" dirty="0" err="1" smtClean="0">
                <a:solidFill>
                  <a:schemeClr val="tx1"/>
                </a:solidFill>
                <a:latin typeface="Calibri" pitchFamily="34" charset="0"/>
                <a:ea typeface="+mn-ea"/>
                <a:cs typeface="+mn-cs"/>
              </a:rPr>
              <a:t>register:</a:t>
            </a:r>
            <a:r>
              <a:rPr lang="en-US" sz="1200" b="0" i="0" u="none" strike="noStrike" kern="1200" baseline="0" dirty="0" err="1" smtClean="0">
                <a:solidFill>
                  <a:schemeClr val="tx1"/>
                </a:solidFill>
                <a:latin typeface="Calibri" pitchFamily="34" charset="0"/>
                <a:ea typeface="+mn-ea"/>
                <a:cs typeface="+mn-cs"/>
              </a:rPr>
              <a:t>With</a:t>
            </a:r>
            <a:r>
              <a:rPr lang="en-US" sz="1200" b="0" i="0" u="none" strike="noStrike" kern="1200" baseline="0" dirty="0" smtClean="0">
                <a:solidFill>
                  <a:schemeClr val="tx1"/>
                </a:solidFill>
                <a:latin typeface="Calibri" pitchFamily="34" charset="0"/>
                <a:ea typeface="+mn-ea"/>
                <a:cs typeface="+mn-cs"/>
              </a:rPr>
              <a:t> rare exceptions, a processor contains one or more registers</a:t>
            </a:r>
          </a:p>
          <a:p>
            <a:r>
              <a:rPr lang="en-US" sz="1200" b="0" i="0" u="none" strike="noStrike" kern="1200" baseline="0" dirty="0" smtClean="0">
                <a:solidFill>
                  <a:schemeClr val="tx1"/>
                </a:solidFill>
                <a:latin typeface="Calibri" pitchFamily="34" charset="0"/>
                <a:ea typeface="+mn-ea"/>
                <a:cs typeface="+mn-cs"/>
              </a:rPr>
              <a:t>that may be referenced by machine instructions. If only one register exists,</a:t>
            </a:r>
          </a:p>
          <a:p>
            <a:r>
              <a:rPr lang="en-US" sz="1200" b="0" i="0" u="none" strike="noStrike" kern="1200" baseline="0" dirty="0" smtClean="0">
                <a:solidFill>
                  <a:schemeClr val="tx1"/>
                </a:solidFill>
                <a:latin typeface="Calibri" pitchFamily="34" charset="0"/>
                <a:ea typeface="+mn-ea"/>
                <a:cs typeface="+mn-cs"/>
              </a:rPr>
              <a:t>reference to it may be implicit. If more than one register exists, then each register</a:t>
            </a:r>
          </a:p>
          <a:p>
            <a:r>
              <a:rPr lang="en-US" sz="1200" b="0" i="0" u="none" strike="noStrike" kern="1200" baseline="0" dirty="0" smtClean="0">
                <a:solidFill>
                  <a:schemeClr val="tx1"/>
                </a:solidFill>
                <a:latin typeface="Calibri" pitchFamily="34" charset="0"/>
                <a:ea typeface="+mn-ea"/>
                <a:cs typeface="+mn-cs"/>
              </a:rPr>
              <a:t>is assigned a unique name or number, and the instruction must contain the number</a:t>
            </a:r>
          </a:p>
          <a:p>
            <a:r>
              <a:rPr lang="en-US" sz="1200" b="0" i="0" u="none" strike="noStrike" kern="1200" baseline="0" dirty="0" smtClean="0">
                <a:solidFill>
                  <a:schemeClr val="tx1"/>
                </a:solidFill>
                <a:latin typeface="Calibri" pitchFamily="34" charset="0"/>
                <a:ea typeface="+mn-ea"/>
                <a:cs typeface="+mn-cs"/>
              </a:rPr>
              <a:t>of the desired register.</a:t>
            </a:r>
          </a:p>
          <a:p>
            <a:r>
              <a:rPr lang="en-US" sz="1200" b="0" i="0" u="none" strike="noStrike" kern="1200" baseline="0" dirty="0" smtClean="0">
                <a:solidFill>
                  <a:schemeClr val="tx1"/>
                </a:solidFill>
                <a:latin typeface="Calibri" pitchFamily="34" charset="0"/>
                <a:ea typeface="+mn-ea"/>
                <a:cs typeface="+mn-cs"/>
              </a:rPr>
              <a:t>• </a:t>
            </a:r>
            <a:r>
              <a:rPr lang="en-US" sz="1200" b="1" i="0" u="none" strike="noStrike" kern="1200" baseline="0" dirty="0" smtClean="0">
                <a:solidFill>
                  <a:schemeClr val="tx1"/>
                </a:solidFill>
                <a:latin typeface="Calibri" pitchFamily="34" charset="0"/>
                <a:ea typeface="+mn-ea"/>
                <a:cs typeface="+mn-cs"/>
              </a:rPr>
              <a:t>Immediate: </a:t>
            </a:r>
            <a:r>
              <a:rPr lang="en-US" sz="1200" b="0" i="0" u="none" strike="noStrike" kern="1200" baseline="0" dirty="0" smtClean="0">
                <a:solidFill>
                  <a:schemeClr val="tx1"/>
                </a:solidFill>
                <a:latin typeface="Calibri" pitchFamily="34" charset="0"/>
                <a:ea typeface="+mn-ea"/>
                <a:cs typeface="+mn-cs"/>
              </a:rPr>
              <a:t>The value of the operand is contained in a field in the instruction</a:t>
            </a:r>
          </a:p>
          <a:p>
            <a:r>
              <a:rPr lang="en-US" sz="1200" b="0" i="0" u="none" strike="noStrike" kern="1200" baseline="0" dirty="0" smtClean="0">
                <a:solidFill>
                  <a:schemeClr val="tx1"/>
                </a:solidFill>
                <a:latin typeface="Calibri" pitchFamily="34" charset="0"/>
                <a:ea typeface="+mn-ea"/>
                <a:cs typeface="+mn-cs"/>
              </a:rPr>
              <a:t>being executed.</a:t>
            </a:r>
          </a:p>
          <a:p>
            <a:r>
              <a:rPr lang="en-US" sz="1200" b="0" i="0" u="none" strike="noStrike" kern="1200" baseline="0" dirty="0" smtClean="0">
                <a:solidFill>
                  <a:schemeClr val="tx1"/>
                </a:solidFill>
                <a:latin typeface="Calibri" pitchFamily="34" charset="0"/>
                <a:ea typeface="+mn-ea"/>
                <a:cs typeface="+mn-cs"/>
              </a:rPr>
              <a:t>• </a:t>
            </a:r>
            <a:r>
              <a:rPr lang="en-US" sz="1200" b="1" i="0" u="none" strike="noStrike" kern="1200" baseline="0" dirty="0" smtClean="0">
                <a:solidFill>
                  <a:schemeClr val="tx1"/>
                </a:solidFill>
                <a:latin typeface="Calibri" pitchFamily="34" charset="0"/>
                <a:ea typeface="+mn-ea"/>
                <a:cs typeface="+mn-cs"/>
              </a:rPr>
              <a:t>I/O device: </a:t>
            </a:r>
            <a:r>
              <a:rPr lang="en-US" sz="1200" b="0" i="0" u="none" strike="noStrike" kern="1200" baseline="0" dirty="0" smtClean="0">
                <a:solidFill>
                  <a:schemeClr val="tx1"/>
                </a:solidFill>
                <a:latin typeface="Calibri" pitchFamily="34" charset="0"/>
                <a:ea typeface="+mn-ea"/>
                <a:cs typeface="+mn-cs"/>
              </a:rPr>
              <a:t>The instruction must specify the I/O module and device for the operation.</a:t>
            </a:r>
          </a:p>
          <a:p>
            <a:r>
              <a:rPr lang="en-US" sz="1200" b="0" i="0" u="none" strike="noStrike" kern="1200" baseline="0" dirty="0" smtClean="0">
                <a:solidFill>
                  <a:schemeClr val="tx1"/>
                </a:solidFill>
                <a:latin typeface="Calibri" pitchFamily="34" charset="0"/>
                <a:ea typeface="+mn-ea"/>
                <a:cs typeface="+mn-cs"/>
              </a:rPr>
              <a:t>If memory-mapped I/O is used, this is just another main or virtual</a:t>
            </a:r>
          </a:p>
          <a:p>
            <a:r>
              <a:rPr lang="en-US" sz="1200" b="0" i="0" u="none" strike="noStrike" kern="1200" baseline="0" dirty="0" smtClean="0">
                <a:solidFill>
                  <a:schemeClr val="tx1"/>
                </a:solidFill>
                <a:latin typeface="Calibri" pitchFamily="34" charset="0"/>
                <a:ea typeface="+mn-ea"/>
                <a:cs typeface="+mn-cs"/>
              </a:rPr>
              <a:t>memory address.</a:t>
            </a:r>
            <a:endParaRPr lang="en-GB"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5</a:t>
            </a:r>
          </a:p>
        </p:txBody>
      </p:sp>
      <p:sp>
        <p:nvSpPr>
          <p:cNvPr id="1331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 name="Rectangle 6"/>
          <p:cNvSpPr>
            <a:spLocks noGrp="1" noRot="1" noChangeAspect="1" noChangeArrowheads="1" noTextEdit="1"/>
          </p:cNvSpPr>
          <p:nvPr>
            <p:ph type="sldImg"/>
          </p:nvPr>
        </p:nvSpPr>
        <p:spPr>
          <a:xfrm>
            <a:off x="1150938" y="692150"/>
            <a:ext cx="4556125" cy="3416300"/>
          </a:xfrm>
          <a:ln cap="flat"/>
        </p:spPr>
      </p:sp>
      <p:sp>
        <p:nvSpPr>
          <p:cNvPr id="13319"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6</a:t>
            </a:r>
          </a:p>
        </p:txBody>
      </p:sp>
      <p:sp>
        <p:nvSpPr>
          <p:cNvPr id="1536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6" name="Rectangle 6"/>
          <p:cNvSpPr>
            <a:spLocks noGrp="1" noRot="1" noChangeAspect="1" noChangeArrowheads="1" noTextEdit="1"/>
          </p:cNvSpPr>
          <p:nvPr>
            <p:ph type="sldImg"/>
          </p:nvPr>
        </p:nvSpPr>
        <p:spPr>
          <a:xfrm>
            <a:off x="1150938" y="692150"/>
            <a:ext cx="4556125" cy="3416300"/>
          </a:xfrm>
          <a:ln cap="flat"/>
        </p:spPr>
      </p:sp>
      <p:sp>
        <p:nvSpPr>
          <p:cNvPr id="15367"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7</a:t>
            </a:r>
          </a:p>
        </p:txBody>
      </p:sp>
      <p:sp>
        <p:nvSpPr>
          <p:cNvPr id="1741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4" name="Rectangle 6"/>
          <p:cNvSpPr>
            <a:spLocks noGrp="1" noRot="1" noChangeAspect="1" noChangeArrowheads="1" noTextEdit="1"/>
          </p:cNvSpPr>
          <p:nvPr>
            <p:ph type="sldImg"/>
          </p:nvPr>
        </p:nvSpPr>
        <p:spPr>
          <a:xfrm>
            <a:off x="1150938" y="692150"/>
            <a:ext cx="4556125" cy="3416300"/>
          </a:xfrm>
          <a:ln cap="flat"/>
        </p:spPr>
      </p:sp>
      <p:sp>
        <p:nvSpPr>
          <p:cNvPr id="17415"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5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8</a:t>
            </a:r>
          </a:p>
        </p:txBody>
      </p:sp>
      <p:sp>
        <p:nvSpPr>
          <p:cNvPr id="1946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2" name="Rectangle 6"/>
          <p:cNvSpPr>
            <a:spLocks noGrp="1" noRot="1" noChangeAspect="1" noChangeArrowheads="1" noTextEdit="1"/>
          </p:cNvSpPr>
          <p:nvPr>
            <p:ph type="sldImg"/>
          </p:nvPr>
        </p:nvSpPr>
        <p:spPr>
          <a:xfrm>
            <a:off x="1150938" y="692150"/>
            <a:ext cx="4556125" cy="3416300"/>
          </a:xfrm>
          <a:ln cap="flat"/>
        </p:spPr>
      </p:sp>
      <p:sp>
        <p:nvSpPr>
          <p:cNvPr id="19463"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9</a:t>
            </a:r>
          </a:p>
        </p:txBody>
      </p:sp>
      <p:sp>
        <p:nvSpPr>
          <p:cNvPr id="2150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0" name="Rectangle 6"/>
          <p:cNvSpPr>
            <a:spLocks noGrp="1" noRot="1" noChangeAspect="1" noChangeArrowheads="1" noTextEdit="1"/>
          </p:cNvSpPr>
          <p:nvPr>
            <p:ph type="sldImg"/>
          </p:nvPr>
        </p:nvSpPr>
        <p:spPr>
          <a:xfrm>
            <a:off x="1150938" y="692150"/>
            <a:ext cx="4556125" cy="3416300"/>
          </a:xfrm>
          <a:ln cap="flat"/>
        </p:spPr>
      </p:sp>
      <p:sp>
        <p:nvSpPr>
          <p:cNvPr id="21511"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10</a:t>
            </a:r>
          </a:p>
        </p:txBody>
      </p:sp>
      <p:sp>
        <p:nvSpPr>
          <p:cNvPr id="2355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8" name="Rectangle 6"/>
          <p:cNvSpPr>
            <a:spLocks noGrp="1" noRot="1" noChangeAspect="1" noChangeArrowheads="1" noTextEdit="1"/>
          </p:cNvSpPr>
          <p:nvPr>
            <p:ph type="sldImg"/>
          </p:nvPr>
        </p:nvSpPr>
        <p:spPr>
          <a:xfrm>
            <a:off x="1150938" y="692150"/>
            <a:ext cx="4556125" cy="3416300"/>
          </a:xfrm>
          <a:ln cap="flat"/>
        </p:spPr>
      </p:sp>
      <p:sp>
        <p:nvSpPr>
          <p:cNvPr id="23559"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11</a:t>
            </a:r>
          </a:p>
        </p:txBody>
      </p:sp>
      <p:sp>
        <p:nvSpPr>
          <p:cNvPr id="2560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6" name="Rectangle 6"/>
          <p:cNvSpPr>
            <a:spLocks noGrp="1" noRot="1" noChangeAspect="1" noChangeArrowheads="1" noTextEdit="1"/>
          </p:cNvSpPr>
          <p:nvPr>
            <p:ph type="sldImg"/>
          </p:nvPr>
        </p:nvSpPr>
        <p:spPr>
          <a:xfrm>
            <a:off x="1150938" y="692150"/>
            <a:ext cx="4556125" cy="3416300"/>
          </a:xfrm>
          <a:ln cap="flat"/>
        </p:spPr>
      </p:sp>
      <p:sp>
        <p:nvSpPr>
          <p:cNvPr id="25607"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12</a:t>
            </a:r>
          </a:p>
        </p:txBody>
      </p:sp>
      <p:sp>
        <p:nvSpPr>
          <p:cNvPr id="2765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4" name="Rectangle 6"/>
          <p:cNvSpPr>
            <a:spLocks noGrp="1" noRot="1" noChangeAspect="1" noChangeArrowheads="1" noTextEdit="1"/>
          </p:cNvSpPr>
          <p:nvPr>
            <p:ph type="sldImg"/>
          </p:nvPr>
        </p:nvSpPr>
        <p:spPr>
          <a:xfrm>
            <a:off x="1150938" y="692150"/>
            <a:ext cx="4556125" cy="3416300"/>
          </a:xfrm>
          <a:ln cap="flat"/>
        </p:spPr>
      </p:sp>
      <p:sp>
        <p:nvSpPr>
          <p:cNvPr id="27655"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4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14</a:t>
            </a:r>
          </a:p>
        </p:txBody>
      </p:sp>
      <p:sp>
        <p:nvSpPr>
          <p:cNvPr id="3174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4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0" name="Rectangle 6"/>
          <p:cNvSpPr>
            <a:spLocks noGrp="1" noRot="1" noChangeAspect="1" noChangeArrowheads="1" noTextEdit="1"/>
          </p:cNvSpPr>
          <p:nvPr>
            <p:ph type="sldImg"/>
          </p:nvPr>
        </p:nvSpPr>
        <p:spPr>
          <a:xfrm>
            <a:off x="1150938" y="692150"/>
            <a:ext cx="4556125" cy="3416300"/>
          </a:xfrm>
          <a:ln cap="flat"/>
        </p:spPr>
      </p:sp>
      <p:sp>
        <p:nvSpPr>
          <p:cNvPr id="31751" name="Rectangle 7"/>
          <p:cNvSpPr>
            <a:spLocks noGrp="1" noChangeArrowheads="1"/>
          </p:cNvSpPr>
          <p:nvPr>
            <p:ph type="body" idx="1"/>
          </p:nvPr>
        </p:nvSpPr>
        <p:spPr>
          <a:ln/>
        </p:spPr>
        <p:txBody>
          <a:bodyPr/>
          <a:lstStyle/>
          <a:p>
            <a:r>
              <a:rPr lang="en-US" sz="1200" b="0" i="0" u="none" strike="noStrike" kern="1200" baseline="0" dirty="0" smtClean="0">
                <a:solidFill>
                  <a:schemeClr val="tx1"/>
                </a:solidFill>
                <a:latin typeface="Calibri" pitchFamily="34" charset="0"/>
                <a:ea typeface="+mn-ea"/>
                <a:cs typeface="+mn-cs"/>
              </a:rPr>
              <a:t>Addresses are, in fact, a form of data. In many cases, some calculation must be performed on the operand reference in an instruction to determine the main or virtual memory address. In this context, addresses can be considered to be unsigned integers.</a:t>
            </a:r>
            <a:endParaRPr lang="en-GB"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15</a:t>
            </a:r>
          </a:p>
        </p:txBody>
      </p:sp>
      <p:sp>
        <p:nvSpPr>
          <p:cNvPr id="3379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8" name="Rectangle 6"/>
          <p:cNvSpPr>
            <a:spLocks noGrp="1" noRot="1" noChangeAspect="1" noChangeArrowheads="1" noTextEdit="1"/>
          </p:cNvSpPr>
          <p:nvPr>
            <p:ph type="sldImg"/>
          </p:nvPr>
        </p:nvSpPr>
        <p:spPr>
          <a:xfrm>
            <a:off x="1150938" y="692150"/>
            <a:ext cx="4556125" cy="3416300"/>
          </a:xfrm>
          <a:ln cap="flat"/>
        </p:spPr>
      </p:sp>
      <p:sp>
        <p:nvSpPr>
          <p:cNvPr id="33799"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16</a:t>
            </a:r>
          </a:p>
        </p:txBody>
      </p:sp>
      <p:sp>
        <p:nvSpPr>
          <p:cNvPr id="3584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6" name="Rectangle 6"/>
          <p:cNvSpPr>
            <a:spLocks noGrp="1" noRot="1" noChangeAspect="1" noChangeArrowheads="1" noTextEdit="1"/>
          </p:cNvSpPr>
          <p:nvPr>
            <p:ph type="sldImg"/>
          </p:nvPr>
        </p:nvSpPr>
        <p:spPr>
          <a:xfrm>
            <a:off x="1150938" y="692150"/>
            <a:ext cx="4556125" cy="3416300"/>
          </a:xfrm>
          <a:ln cap="flat"/>
        </p:spPr>
      </p:sp>
      <p:sp>
        <p:nvSpPr>
          <p:cNvPr id="35847"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89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17</a:t>
            </a:r>
          </a:p>
        </p:txBody>
      </p:sp>
      <p:sp>
        <p:nvSpPr>
          <p:cNvPr id="3789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89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894" name="Rectangle 6"/>
          <p:cNvSpPr>
            <a:spLocks noGrp="1" noRot="1" noChangeAspect="1" noChangeArrowheads="1" noTextEdit="1"/>
          </p:cNvSpPr>
          <p:nvPr>
            <p:ph type="sldImg"/>
          </p:nvPr>
        </p:nvSpPr>
        <p:spPr>
          <a:xfrm>
            <a:off x="1150938" y="692150"/>
            <a:ext cx="4556125" cy="3416300"/>
          </a:xfrm>
          <a:ln cap="flat"/>
        </p:spPr>
      </p:sp>
      <p:sp>
        <p:nvSpPr>
          <p:cNvPr id="37895"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93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18</a:t>
            </a:r>
          </a:p>
        </p:txBody>
      </p:sp>
      <p:sp>
        <p:nvSpPr>
          <p:cNvPr id="3994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94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8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19</a:t>
            </a:r>
          </a:p>
        </p:txBody>
      </p:sp>
      <p:sp>
        <p:nvSpPr>
          <p:cNvPr id="4198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8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90" name="Rectangle 6"/>
          <p:cNvSpPr>
            <a:spLocks noGrp="1" noRot="1" noChangeAspect="1" noChangeArrowheads="1" noTextEdit="1"/>
          </p:cNvSpPr>
          <p:nvPr>
            <p:ph type="sldImg"/>
          </p:nvPr>
        </p:nvSpPr>
        <p:spPr>
          <a:xfrm>
            <a:off x="1150938" y="692150"/>
            <a:ext cx="4556125" cy="3416300"/>
          </a:xfrm>
          <a:ln cap="flat"/>
        </p:spPr>
      </p:sp>
      <p:sp>
        <p:nvSpPr>
          <p:cNvPr id="41991"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3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20</a:t>
            </a:r>
          </a:p>
        </p:txBody>
      </p:sp>
      <p:sp>
        <p:nvSpPr>
          <p:cNvPr id="4403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3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38" name="Rectangle 6"/>
          <p:cNvSpPr>
            <a:spLocks noGrp="1" noRot="1" noChangeAspect="1" noChangeArrowheads="1" noTextEdit="1"/>
          </p:cNvSpPr>
          <p:nvPr>
            <p:ph type="sldImg"/>
          </p:nvPr>
        </p:nvSpPr>
        <p:spPr>
          <a:xfrm>
            <a:off x="1150938" y="692150"/>
            <a:ext cx="4556125" cy="3416300"/>
          </a:xfrm>
          <a:ln cap="flat"/>
        </p:spPr>
      </p:sp>
      <p:sp>
        <p:nvSpPr>
          <p:cNvPr id="44039"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8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21</a:t>
            </a:r>
          </a:p>
        </p:txBody>
      </p:sp>
      <p:sp>
        <p:nvSpPr>
          <p:cNvPr id="4608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8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86" name="Rectangle 6"/>
          <p:cNvSpPr>
            <a:spLocks noGrp="1" noRot="1" noChangeAspect="1" noChangeArrowheads="1" noTextEdit="1"/>
          </p:cNvSpPr>
          <p:nvPr>
            <p:ph type="sldImg"/>
          </p:nvPr>
        </p:nvSpPr>
        <p:spPr>
          <a:xfrm>
            <a:off x="1150938" y="692150"/>
            <a:ext cx="4556125" cy="3416300"/>
          </a:xfrm>
          <a:ln cap="flat"/>
        </p:spPr>
      </p:sp>
      <p:sp>
        <p:nvSpPr>
          <p:cNvPr id="46087"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22</a:t>
            </a:r>
          </a:p>
        </p:txBody>
      </p:sp>
      <p:sp>
        <p:nvSpPr>
          <p:cNvPr id="4813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4" name="Rectangle 6"/>
          <p:cNvSpPr>
            <a:spLocks noGrp="1" noRot="1" noChangeAspect="1" noChangeArrowheads="1" noTextEdit="1"/>
          </p:cNvSpPr>
          <p:nvPr>
            <p:ph type="sldImg"/>
          </p:nvPr>
        </p:nvSpPr>
        <p:spPr>
          <a:xfrm>
            <a:off x="1150938" y="692150"/>
            <a:ext cx="4556125" cy="3416300"/>
          </a:xfrm>
          <a:ln cap="flat"/>
        </p:spPr>
      </p:sp>
      <p:sp>
        <p:nvSpPr>
          <p:cNvPr id="48135"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7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23</a:t>
            </a:r>
          </a:p>
        </p:txBody>
      </p:sp>
      <p:sp>
        <p:nvSpPr>
          <p:cNvPr id="5018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8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82" name="Rectangle 6"/>
          <p:cNvSpPr>
            <a:spLocks noGrp="1" noRot="1" noChangeAspect="1" noChangeArrowheads="1" noTextEdit="1"/>
          </p:cNvSpPr>
          <p:nvPr>
            <p:ph type="sldImg"/>
          </p:nvPr>
        </p:nvSpPr>
        <p:spPr>
          <a:xfrm>
            <a:off x="1150938" y="692150"/>
            <a:ext cx="4556125" cy="3416300"/>
          </a:xfrm>
          <a:ln cap="flat"/>
        </p:spPr>
      </p:sp>
      <p:sp>
        <p:nvSpPr>
          <p:cNvPr id="50183"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2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24</a:t>
            </a:r>
          </a:p>
        </p:txBody>
      </p:sp>
      <p:sp>
        <p:nvSpPr>
          <p:cNvPr id="5222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2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0" name="Rectangle 6"/>
          <p:cNvSpPr>
            <a:spLocks noGrp="1" noRot="1" noChangeAspect="1" noChangeArrowheads="1" noTextEdit="1"/>
          </p:cNvSpPr>
          <p:nvPr>
            <p:ph type="sldImg"/>
          </p:nvPr>
        </p:nvSpPr>
        <p:spPr>
          <a:xfrm>
            <a:off x="1150938" y="692150"/>
            <a:ext cx="4556125" cy="3416300"/>
          </a:xfrm>
          <a:ln cap="flat"/>
        </p:spPr>
      </p:sp>
      <p:sp>
        <p:nvSpPr>
          <p:cNvPr id="52231"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25</a:t>
            </a:r>
          </a:p>
        </p:txBody>
      </p:sp>
      <p:sp>
        <p:nvSpPr>
          <p:cNvPr id="5427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8" name="Rectangle 6"/>
          <p:cNvSpPr>
            <a:spLocks noGrp="1" noRot="1" noChangeAspect="1" noChangeArrowheads="1" noTextEdit="1"/>
          </p:cNvSpPr>
          <p:nvPr>
            <p:ph type="sldImg"/>
          </p:nvPr>
        </p:nvSpPr>
        <p:spPr>
          <a:xfrm>
            <a:off x="1150938" y="692150"/>
            <a:ext cx="4556125" cy="3416300"/>
          </a:xfrm>
          <a:ln cap="flat"/>
        </p:spPr>
      </p:sp>
      <p:sp>
        <p:nvSpPr>
          <p:cNvPr id="54279"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2</a:t>
            </a:r>
          </a:p>
        </p:txBody>
      </p:sp>
      <p:sp>
        <p:nvSpPr>
          <p:cNvPr id="717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4" name="Rectangle 6"/>
          <p:cNvSpPr>
            <a:spLocks noGrp="1" noRot="1" noChangeAspect="1" noChangeArrowheads="1" noTextEdit="1"/>
          </p:cNvSpPr>
          <p:nvPr>
            <p:ph type="sldImg"/>
          </p:nvPr>
        </p:nvSpPr>
        <p:spPr>
          <a:xfrm>
            <a:off x="1150938" y="692150"/>
            <a:ext cx="4556125" cy="3416300"/>
          </a:xfrm>
          <a:ln cap="flat"/>
        </p:spPr>
      </p:sp>
      <p:sp>
        <p:nvSpPr>
          <p:cNvPr id="7175"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1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3</a:t>
            </a:r>
          </a:p>
        </p:txBody>
      </p:sp>
      <p:sp>
        <p:nvSpPr>
          <p:cNvPr id="922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2" name="Rectangle 6"/>
          <p:cNvSpPr>
            <a:spLocks noGrp="1" noRot="1" noChangeAspect="1" noChangeArrowheads="1" noTextEdit="1"/>
          </p:cNvSpPr>
          <p:nvPr>
            <p:ph type="sldImg"/>
          </p:nvPr>
        </p:nvSpPr>
        <p:spPr>
          <a:xfrm>
            <a:off x="1150938" y="692150"/>
            <a:ext cx="4556125" cy="3416300"/>
          </a:xfrm>
          <a:ln cap="flat"/>
        </p:spPr>
      </p:sp>
      <p:sp>
        <p:nvSpPr>
          <p:cNvPr id="9223"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6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4</a:t>
            </a:r>
          </a:p>
        </p:txBody>
      </p:sp>
      <p:sp>
        <p:nvSpPr>
          <p:cNvPr id="1126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6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0" name="Rectangle 6"/>
          <p:cNvSpPr>
            <a:spLocks noGrp="1" noRot="1" noChangeAspect="1" noChangeArrowheads="1" noTextEdit="1"/>
          </p:cNvSpPr>
          <p:nvPr>
            <p:ph type="sldImg"/>
          </p:nvPr>
        </p:nvSpPr>
        <p:spPr>
          <a:xfrm>
            <a:off x="1150938" y="692150"/>
            <a:ext cx="4556125" cy="3416300"/>
          </a:xfrm>
          <a:ln cap="flat"/>
        </p:spPr>
      </p:sp>
      <p:sp>
        <p:nvSpPr>
          <p:cNvPr id="11271"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5</a:t>
            </a:r>
          </a:p>
        </p:txBody>
      </p:sp>
      <p:sp>
        <p:nvSpPr>
          <p:cNvPr id="1331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 name="Rectangle 6"/>
          <p:cNvSpPr>
            <a:spLocks noGrp="1" noRot="1" noChangeAspect="1" noChangeArrowheads="1" noTextEdit="1"/>
          </p:cNvSpPr>
          <p:nvPr>
            <p:ph type="sldImg"/>
          </p:nvPr>
        </p:nvSpPr>
        <p:spPr>
          <a:xfrm>
            <a:off x="1150938" y="692150"/>
            <a:ext cx="4556125" cy="3416300"/>
          </a:xfrm>
          <a:ln cap="flat"/>
        </p:spPr>
      </p:sp>
      <p:sp>
        <p:nvSpPr>
          <p:cNvPr id="13319"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6</a:t>
            </a:r>
          </a:p>
        </p:txBody>
      </p:sp>
      <p:sp>
        <p:nvSpPr>
          <p:cNvPr id="1536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6" name="Rectangle 6"/>
          <p:cNvSpPr>
            <a:spLocks noGrp="1" noRot="1" noChangeAspect="1" noChangeArrowheads="1" noTextEdit="1"/>
          </p:cNvSpPr>
          <p:nvPr>
            <p:ph type="sldImg"/>
          </p:nvPr>
        </p:nvSpPr>
        <p:spPr>
          <a:xfrm>
            <a:off x="1150938" y="692150"/>
            <a:ext cx="4556125" cy="3416300"/>
          </a:xfrm>
          <a:ln cap="flat"/>
        </p:spPr>
      </p:sp>
      <p:sp>
        <p:nvSpPr>
          <p:cNvPr id="15367"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7</a:t>
            </a:r>
          </a:p>
        </p:txBody>
      </p:sp>
      <p:sp>
        <p:nvSpPr>
          <p:cNvPr id="1741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4" name="Rectangle 6"/>
          <p:cNvSpPr>
            <a:spLocks noGrp="1" noRot="1" noChangeAspect="1" noChangeArrowheads="1" noTextEdit="1"/>
          </p:cNvSpPr>
          <p:nvPr>
            <p:ph type="sldImg"/>
          </p:nvPr>
        </p:nvSpPr>
        <p:spPr>
          <a:xfrm>
            <a:off x="1150938" y="692150"/>
            <a:ext cx="4556125" cy="3416300"/>
          </a:xfrm>
          <a:ln cap="flat"/>
        </p:spPr>
      </p:sp>
      <p:sp>
        <p:nvSpPr>
          <p:cNvPr id="17415"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5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8</a:t>
            </a:r>
          </a:p>
        </p:txBody>
      </p:sp>
      <p:sp>
        <p:nvSpPr>
          <p:cNvPr id="1946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2" name="Rectangle 6"/>
          <p:cNvSpPr>
            <a:spLocks noGrp="1" noRot="1" noChangeAspect="1" noChangeArrowheads="1" noTextEdit="1"/>
          </p:cNvSpPr>
          <p:nvPr>
            <p:ph type="sldImg"/>
          </p:nvPr>
        </p:nvSpPr>
        <p:spPr>
          <a:xfrm>
            <a:off x="1150938" y="692150"/>
            <a:ext cx="4556125" cy="3416300"/>
          </a:xfrm>
          <a:ln cap="flat"/>
        </p:spPr>
      </p:sp>
      <p:sp>
        <p:nvSpPr>
          <p:cNvPr id="19463"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9</a:t>
            </a:r>
          </a:p>
        </p:txBody>
      </p:sp>
      <p:sp>
        <p:nvSpPr>
          <p:cNvPr id="2150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0" name="Rectangle 6"/>
          <p:cNvSpPr>
            <a:spLocks noGrp="1" noRot="1" noChangeAspect="1" noChangeArrowheads="1" noTextEdit="1"/>
          </p:cNvSpPr>
          <p:nvPr>
            <p:ph type="sldImg"/>
          </p:nvPr>
        </p:nvSpPr>
        <p:spPr>
          <a:xfrm>
            <a:off x="1150938" y="692150"/>
            <a:ext cx="4556125" cy="3416300"/>
          </a:xfrm>
          <a:ln cap="flat"/>
        </p:spPr>
      </p:sp>
      <p:sp>
        <p:nvSpPr>
          <p:cNvPr id="21511"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10</a:t>
            </a:r>
          </a:p>
        </p:txBody>
      </p:sp>
      <p:sp>
        <p:nvSpPr>
          <p:cNvPr id="2355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8" name="Rectangle 6"/>
          <p:cNvSpPr>
            <a:spLocks noGrp="1" noRot="1" noChangeAspect="1" noChangeArrowheads="1" noTextEdit="1"/>
          </p:cNvSpPr>
          <p:nvPr>
            <p:ph type="sldImg"/>
          </p:nvPr>
        </p:nvSpPr>
        <p:spPr>
          <a:xfrm>
            <a:off x="1150938" y="692150"/>
            <a:ext cx="4556125" cy="3416300"/>
          </a:xfrm>
          <a:ln cap="flat"/>
        </p:spPr>
      </p:sp>
      <p:sp>
        <p:nvSpPr>
          <p:cNvPr id="23559"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11</a:t>
            </a:r>
          </a:p>
        </p:txBody>
      </p:sp>
      <p:sp>
        <p:nvSpPr>
          <p:cNvPr id="2560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6" name="Rectangle 6"/>
          <p:cNvSpPr>
            <a:spLocks noGrp="1" noRot="1" noChangeAspect="1" noChangeArrowheads="1" noTextEdit="1"/>
          </p:cNvSpPr>
          <p:nvPr>
            <p:ph type="sldImg"/>
          </p:nvPr>
        </p:nvSpPr>
        <p:spPr>
          <a:xfrm>
            <a:off x="1150938" y="692150"/>
            <a:ext cx="4556125" cy="3416300"/>
          </a:xfrm>
          <a:ln cap="flat"/>
        </p:spPr>
      </p:sp>
      <p:sp>
        <p:nvSpPr>
          <p:cNvPr id="25607"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12</a:t>
            </a:r>
          </a:p>
        </p:txBody>
      </p:sp>
      <p:sp>
        <p:nvSpPr>
          <p:cNvPr id="2765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4" name="Rectangle 6"/>
          <p:cNvSpPr>
            <a:spLocks noGrp="1" noRot="1" noChangeAspect="1" noChangeArrowheads="1" noTextEdit="1"/>
          </p:cNvSpPr>
          <p:nvPr>
            <p:ph type="sldImg"/>
          </p:nvPr>
        </p:nvSpPr>
        <p:spPr>
          <a:xfrm>
            <a:off x="1150938" y="692150"/>
            <a:ext cx="4556125" cy="3416300"/>
          </a:xfrm>
          <a:ln cap="flat"/>
        </p:spPr>
      </p:sp>
      <p:sp>
        <p:nvSpPr>
          <p:cNvPr id="27655"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69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13</a:t>
            </a:r>
          </a:p>
        </p:txBody>
      </p:sp>
      <p:sp>
        <p:nvSpPr>
          <p:cNvPr id="2970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2" name="Rectangle 6"/>
          <p:cNvSpPr>
            <a:spLocks noGrp="1" noRot="1" noChangeAspect="1" noChangeArrowheads="1" noTextEdit="1"/>
          </p:cNvSpPr>
          <p:nvPr>
            <p:ph type="sldImg"/>
          </p:nvPr>
        </p:nvSpPr>
        <p:spPr>
          <a:xfrm>
            <a:off x="1150938" y="692150"/>
            <a:ext cx="4556125" cy="3416300"/>
          </a:xfrm>
          <a:ln cap="flat"/>
        </p:spPr>
      </p:sp>
      <p:sp>
        <p:nvSpPr>
          <p:cNvPr id="29703"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4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14</a:t>
            </a:r>
          </a:p>
        </p:txBody>
      </p:sp>
      <p:sp>
        <p:nvSpPr>
          <p:cNvPr id="3174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4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0" name="Rectangle 6"/>
          <p:cNvSpPr>
            <a:spLocks noGrp="1" noRot="1" noChangeAspect="1" noChangeArrowheads="1" noTextEdit="1"/>
          </p:cNvSpPr>
          <p:nvPr>
            <p:ph type="sldImg"/>
          </p:nvPr>
        </p:nvSpPr>
        <p:spPr>
          <a:xfrm>
            <a:off x="1150938" y="692150"/>
            <a:ext cx="4556125" cy="3416300"/>
          </a:xfrm>
          <a:ln cap="flat"/>
        </p:spPr>
      </p:sp>
      <p:sp>
        <p:nvSpPr>
          <p:cNvPr id="31751"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15</a:t>
            </a:r>
          </a:p>
        </p:txBody>
      </p:sp>
      <p:sp>
        <p:nvSpPr>
          <p:cNvPr id="3379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8" name="Rectangle 6"/>
          <p:cNvSpPr>
            <a:spLocks noGrp="1" noRot="1" noChangeAspect="1" noChangeArrowheads="1" noTextEdit="1"/>
          </p:cNvSpPr>
          <p:nvPr>
            <p:ph type="sldImg"/>
          </p:nvPr>
        </p:nvSpPr>
        <p:spPr>
          <a:xfrm>
            <a:off x="1150938" y="692150"/>
            <a:ext cx="4556125" cy="3416300"/>
          </a:xfrm>
          <a:ln cap="flat"/>
        </p:spPr>
      </p:sp>
      <p:sp>
        <p:nvSpPr>
          <p:cNvPr id="33799"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16</a:t>
            </a:r>
          </a:p>
        </p:txBody>
      </p:sp>
      <p:sp>
        <p:nvSpPr>
          <p:cNvPr id="3584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6" name="Rectangle 6"/>
          <p:cNvSpPr>
            <a:spLocks noGrp="1" noRot="1" noChangeAspect="1" noChangeArrowheads="1" noTextEdit="1"/>
          </p:cNvSpPr>
          <p:nvPr>
            <p:ph type="sldImg"/>
          </p:nvPr>
        </p:nvSpPr>
        <p:spPr>
          <a:xfrm>
            <a:off x="1150938" y="692150"/>
            <a:ext cx="4556125" cy="3416300"/>
          </a:xfrm>
          <a:ln cap="flat"/>
        </p:spPr>
      </p:sp>
      <p:sp>
        <p:nvSpPr>
          <p:cNvPr id="35847"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89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17</a:t>
            </a:r>
          </a:p>
        </p:txBody>
      </p:sp>
      <p:sp>
        <p:nvSpPr>
          <p:cNvPr id="3789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89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894" name="Rectangle 6"/>
          <p:cNvSpPr>
            <a:spLocks noGrp="1" noRot="1" noChangeAspect="1" noChangeArrowheads="1" noTextEdit="1"/>
          </p:cNvSpPr>
          <p:nvPr>
            <p:ph type="sldImg"/>
          </p:nvPr>
        </p:nvSpPr>
        <p:spPr>
          <a:xfrm>
            <a:off x="1150938" y="692150"/>
            <a:ext cx="4556125" cy="3416300"/>
          </a:xfrm>
          <a:ln cap="flat"/>
        </p:spPr>
      </p:sp>
      <p:sp>
        <p:nvSpPr>
          <p:cNvPr id="37895"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93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18</a:t>
            </a:r>
          </a:p>
        </p:txBody>
      </p:sp>
      <p:sp>
        <p:nvSpPr>
          <p:cNvPr id="3994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94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8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19</a:t>
            </a:r>
          </a:p>
        </p:txBody>
      </p:sp>
      <p:sp>
        <p:nvSpPr>
          <p:cNvPr id="4198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8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90" name="Rectangle 6"/>
          <p:cNvSpPr>
            <a:spLocks noGrp="1" noRot="1" noChangeAspect="1" noChangeArrowheads="1" noTextEdit="1"/>
          </p:cNvSpPr>
          <p:nvPr>
            <p:ph type="sldImg"/>
          </p:nvPr>
        </p:nvSpPr>
        <p:spPr>
          <a:xfrm>
            <a:off x="1150938" y="692150"/>
            <a:ext cx="4556125" cy="3416300"/>
          </a:xfrm>
          <a:ln cap="flat"/>
        </p:spPr>
      </p:sp>
      <p:sp>
        <p:nvSpPr>
          <p:cNvPr id="41991"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3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20</a:t>
            </a:r>
          </a:p>
        </p:txBody>
      </p:sp>
      <p:sp>
        <p:nvSpPr>
          <p:cNvPr id="4403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3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38" name="Rectangle 6"/>
          <p:cNvSpPr>
            <a:spLocks noGrp="1" noRot="1" noChangeAspect="1" noChangeArrowheads="1" noTextEdit="1"/>
          </p:cNvSpPr>
          <p:nvPr>
            <p:ph type="sldImg"/>
          </p:nvPr>
        </p:nvSpPr>
        <p:spPr>
          <a:xfrm>
            <a:off x="1150938" y="692150"/>
            <a:ext cx="4556125" cy="3416300"/>
          </a:xfrm>
          <a:ln cap="flat"/>
        </p:spPr>
      </p:sp>
      <p:sp>
        <p:nvSpPr>
          <p:cNvPr id="44039"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8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algn="r"/>
            <a:r>
              <a:rPr lang="en-US" altLang="en-US" sz="1200"/>
              <a:t>21</a:t>
            </a:r>
          </a:p>
        </p:txBody>
      </p:sp>
      <p:sp>
        <p:nvSpPr>
          <p:cNvPr id="4608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8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86" name="Rectangle 6"/>
          <p:cNvSpPr>
            <a:spLocks noGrp="1" noRot="1" noChangeAspect="1" noChangeArrowheads="1" noTextEdit="1"/>
          </p:cNvSpPr>
          <p:nvPr>
            <p:ph type="sldImg"/>
          </p:nvPr>
        </p:nvSpPr>
        <p:spPr>
          <a:xfrm>
            <a:off x="1150938" y="692150"/>
            <a:ext cx="4556125" cy="3416300"/>
          </a:xfrm>
          <a:ln cap="flat"/>
        </p:spPr>
      </p:sp>
      <p:sp>
        <p:nvSpPr>
          <p:cNvPr id="46087" name="Rectangle 7"/>
          <p:cNvSpPr>
            <a:spLocks noGrp="1" noChangeArrowheads="1"/>
          </p:cNvSpPr>
          <p:nvPr>
            <p:ph type="body" idx="1"/>
          </p:nvPr>
        </p:nvSpPr>
        <p:spPr>
          <a:ln/>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Arial" pitchFamily="34" charset="0"/>
              <a:cs typeface="Arial" pitchFamily="34" charset="0"/>
            </a:endParaRPr>
          </a:p>
        </p:txBody>
      </p:sp>
      <p:sp>
        <p:nvSpPr>
          <p:cNvPr id="4" name="Rectangle 3"/>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7" name="Picture 10" descr="BITS_university_logo_whitevert.png"/>
          <p:cNvPicPr>
            <a:picLocks noChangeAspect="1"/>
          </p:cNvPicPr>
          <p:nvPr userDrawn="1"/>
        </p:nvPicPr>
        <p:blipFill>
          <a:blip r:embed="rId3"/>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userDrawn="1"/>
        </p:nvSpPr>
        <p:spPr>
          <a:xfrm>
            <a:off x="-76200" y="5257800"/>
            <a:ext cx="22098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p:cNvSpPr txBox="1"/>
          <p:nvPr userDrawn="1"/>
        </p:nvSpPr>
        <p:spPr>
          <a:xfrm>
            <a:off x="152400" y="5667375"/>
            <a:ext cx="1905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9" name="Picture 10" descr="BITS_university_logo_whitevert.png"/>
          <p:cNvPicPr>
            <a:picLocks noChangeAspect="1"/>
          </p:cNvPicPr>
          <p:nvPr userDrawn="1"/>
        </p:nvPicPr>
        <p:blipFill>
          <a:blip r:embed="rId3"/>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userDrawn="1"/>
        </p:nvSpPr>
        <p:spPr>
          <a:xfrm>
            <a:off x="-76200" y="5257800"/>
            <a:ext cx="22098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p:cNvSpPr txBox="1"/>
          <p:nvPr userDrawn="1"/>
        </p:nvSpPr>
        <p:spPr>
          <a:xfrm>
            <a:off x="152400" y="5667375"/>
            <a:ext cx="1905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smtClean="0"/>
              <a:t>Click to edit Master text styles</a:t>
            </a:r>
          </a:p>
          <a:p>
            <a:pPr lvl="1"/>
            <a:r>
              <a:rPr lang="en-US" smtClean="0"/>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smtClean="0"/>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Picture 6"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userDrawn="1"/>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2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14" name="TextBox 13"/>
          <p:cNvSpPr txBox="1"/>
          <p:nvPr userDrawn="1"/>
        </p:nvSpPr>
        <p:spPr>
          <a:xfrm>
            <a:off x="3276600" y="6596063"/>
            <a:ext cx="58674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7" name="Group 10"/>
          <p:cNvGrpSpPr>
            <a:grpSpLocks/>
          </p:cNvGrpSpPr>
          <p:nvPr userDrawn="1"/>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2" name="Group 15"/>
          <p:cNvGrpSpPr>
            <a:grpSpLocks/>
          </p:cNvGrpSpPr>
          <p:nvPr userDrawn="1"/>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6" name="Picture 14"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userDrawn="1"/>
        </p:nvSpPr>
        <p:spPr>
          <a:xfrm>
            <a:off x="3276600" y="6596063"/>
            <a:ext cx="58674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3" name="Group 5"/>
          <p:cNvGrpSpPr>
            <a:grpSpLocks/>
          </p:cNvGrpSpPr>
          <p:nvPr userDrawn="1"/>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8" name="Group 10"/>
          <p:cNvGrpSpPr>
            <a:grpSpLocks/>
          </p:cNvGrpSpPr>
          <p:nvPr userDrawn="1"/>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2" name="Picture 14"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userDrawn="1"/>
        </p:nvSpPr>
        <p:spPr>
          <a:xfrm>
            <a:off x="3276600" y="6596063"/>
            <a:ext cx="58674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5" name="Group 8"/>
          <p:cNvGrpSpPr>
            <a:grpSpLocks/>
          </p:cNvGrpSpPr>
          <p:nvPr userDrawn="1"/>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3"/>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4" name="Picture 14"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userDrawn="1"/>
        </p:nvSpPr>
        <p:spPr>
          <a:xfrm>
            <a:off x="3276600" y="6596063"/>
            <a:ext cx="58674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p:cNvGrpSpPr>
            <a:grpSpLocks/>
          </p:cNvGrpSpPr>
          <p:nvPr userDrawn="1"/>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0"/>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4" name="Picture 14"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userDrawn="1"/>
        </p:nvSpPr>
        <p:spPr>
          <a:xfrm>
            <a:off x="3276600" y="6596063"/>
            <a:ext cx="58674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4" name="Group 19"/>
          <p:cNvGrpSpPr>
            <a:grpSpLocks/>
          </p:cNvGrpSpPr>
          <p:nvPr userDrawn="1"/>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8" name="Group 24"/>
          <p:cNvGrpSpPr>
            <a:grpSpLocks/>
          </p:cNvGrpSpPr>
          <p:nvPr userDrawn="1"/>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2" name="Picture 14"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userDrawn="1"/>
        </p:nvSpPr>
        <p:spPr>
          <a:xfrm>
            <a:off x="3276600" y="6596063"/>
            <a:ext cx="58674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4" name="Group 7"/>
          <p:cNvGrpSpPr>
            <a:grpSpLocks/>
          </p:cNvGrpSpPr>
          <p:nvPr userDrawn="1"/>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9" name="Picture 10" descr="Picture 7.png"/>
          <p:cNvPicPr>
            <a:picLocks noChangeAspect="1"/>
          </p:cNvPicPr>
          <p:nvPr userDrawn="1"/>
        </p:nvPicPr>
        <p:blipFill>
          <a:blip r:embed="rId2"/>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userDrawn="1"/>
        </p:nvSpPr>
        <p:spPr>
          <a:xfrm rot="5400000">
            <a:off x="-2794793" y="3809206"/>
            <a:ext cx="5867400" cy="230187"/>
          </a:xfrm>
          <a:prstGeom prst="rect">
            <a:avLst/>
          </a:prstGeom>
          <a:noFill/>
        </p:spPr>
        <p:txBody>
          <a:bodyPr>
            <a:spAutoFit/>
          </a:bodyPr>
          <a:lstStyle/>
          <a:p>
            <a:pPr algn="r" fontAlgn="auto">
              <a:spcBef>
                <a:spcPts val="0"/>
              </a:spcBef>
              <a:spcAft>
                <a:spcPts val="0"/>
              </a:spcAft>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a:r>
              <a:rPr lang="en-US" smtClean="0"/>
              <a:t>SS ZGXX –System Programming</a:t>
            </a:r>
            <a:endParaRPr lang="en-IN" dirty="0"/>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fld id="{67F776DB-C4B4-46F1-926D-41EFCFC3A86A}" type="slidenum">
              <a:rPr lang="en-IN" smtClean="0"/>
              <a:pPr/>
              <a:t>‹#›</a:t>
            </a:fld>
            <a:endParaRPr lang="en-IN" dirty="0"/>
          </a:p>
        </p:txBody>
      </p:sp>
    </p:spTree>
    <p:extLst>
      <p:ext uri="{BB962C8B-B14F-4D97-AF65-F5344CB8AC3E}">
        <p14:creationId xmlns:p14="http://schemas.microsoft.com/office/powerpoint/2010/main" val="2255706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3E16FF7F-F0C9-4128-A099-DF9FCB481216}" type="datetime1">
              <a:rPr lang="en-US"/>
              <a:pPr>
                <a:defRPr/>
              </a:pPr>
              <a:t>4/5/2017</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Lecture 1(Lucy J. Gudino)</a:t>
            </a:r>
          </a:p>
        </p:txBody>
      </p:sp>
      <p:sp>
        <p:nvSpPr>
          <p:cNvPr id="6" name="Rectangle 6"/>
          <p:cNvSpPr>
            <a:spLocks noGrp="1" noChangeArrowheads="1"/>
          </p:cNvSpPr>
          <p:nvPr>
            <p:ph type="sldNum" sz="quarter" idx="12"/>
          </p:nvPr>
        </p:nvSpPr>
        <p:spPr>
          <a:ln/>
        </p:spPr>
        <p:txBody>
          <a:bodyPr/>
          <a:lstStyle>
            <a:lvl1pPr>
              <a:defRPr/>
            </a:lvl1pPr>
          </a:lstStyle>
          <a:p>
            <a:pPr>
              <a:defRPr/>
            </a:pPr>
            <a:fld id="{79EC1A2A-0520-483B-BA3E-47137056A8D5}" type="slidenum">
              <a:rPr lang="en-US"/>
              <a:pPr>
                <a:defRPr/>
              </a:pPr>
              <a:t>‹#›</a:t>
            </a:fld>
            <a:endParaRPr lang="en-US"/>
          </a:p>
        </p:txBody>
      </p:sp>
    </p:spTree>
    <p:extLst>
      <p:ext uri="{BB962C8B-B14F-4D97-AF65-F5344CB8AC3E}">
        <p14:creationId xmlns:p14="http://schemas.microsoft.com/office/powerpoint/2010/main" val="444572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fld id="{F2BE9D56-5B2D-40BC-A7F0-4EE9A726B989}" type="datetime1">
              <a:rPr lang="en-US"/>
              <a:pPr>
                <a:defRPr/>
              </a:pPr>
              <a:t>4/5/2017</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Lecture 1(Lucy J. Gudino)</a:t>
            </a:r>
          </a:p>
        </p:txBody>
      </p:sp>
      <p:sp>
        <p:nvSpPr>
          <p:cNvPr id="6" name="Rectangle 6"/>
          <p:cNvSpPr>
            <a:spLocks noGrp="1" noChangeArrowheads="1"/>
          </p:cNvSpPr>
          <p:nvPr>
            <p:ph type="sldNum" sz="quarter" idx="12"/>
          </p:nvPr>
        </p:nvSpPr>
        <p:spPr>
          <a:ln/>
        </p:spPr>
        <p:txBody>
          <a:bodyPr/>
          <a:lstStyle>
            <a:lvl1pPr>
              <a:defRPr/>
            </a:lvl1pPr>
          </a:lstStyle>
          <a:p>
            <a:pPr>
              <a:defRPr/>
            </a:pPr>
            <a:fld id="{E40A3A3D-4BCF-41AF-B0BD-75CFB85FB24F}" type="slidenum">
              <a:rPr lang="en-US"/>
              <a:pPr>
                <a:defRPr/>
              </a:pPr>
              <a:t>‹#›</a:t>
            </a:fld>
            <a:endParaRPr lang="en-US"/>
          </a:p>
        </p:txBody>
      </p:sp>
    </p:spTree>
    <p:extLst>
      <p:ext uri="{BB962C8B-B14F-4D97-AF65-F5344CB8AC3E}">
        <p14:creationId xmlns:p14="http://schemas.microsoft.com/office/powerpoint/2010/main" val="1255184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54D2EADB-CC56-40AF-9802-2F74D64F9A41}" type="datetime1">
              <a:rPr lang="en-US"/>
              <a:pPr>
                <a:defRPr/>
              </a:pPr>
              <a:t>4/5/2017</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Lecture 1(Lucy J. Gudino)</a:t>
            </a:r>
          </a:p>
        </p:txBody>
      </p:sp>
      <p:sp>
        <p:nvSpPr>
          <p:cNvPr id="5" name="Rectangle 6"/>
          <p:cNvSpPr>
            <a:spLocks noGrp="1" noChangeArrowheads="1"/>
          </p:cNvSpPr>
          <p:nvPr>
            <p:ph type="sldNum" sz="quarter" idx="12"/>
          </p:nvPr>
        </p:nvSpPr>
        <p:spPr>
          <a:ln/>
        </p:spPr>
        <p:txBody>
          <a:bodyPr/>
          <a:lstStyle>
            <a:lvl1pPr>
              <a:defRPr/>
            </a:lvl1pPr>
          </a:lstStyle>
          <a:p>
            <a:pPr>
              <a:defRPr/>
            </a:pPr>
            <a:fld id="{93330F82-71D2-475B-8FFA-4F5560C299D2}" type="slidenum">
              <a:rPr lang="en-US"/>
              <a:pPr>
                <a:defRPr/>
              </a:pPr>
              <a:t>‹#›</a:t>
            </a:fld>
            <a:endParaRPr lang="en-US"/>
          </a:p>
        </p:txBody>
      </p:sp>
    </p:spTree>
    <p:extLst>
      <p:ext uri="{BB962C8B-B14F-4D97-AF65-F5344CB8AC3E}">
        <p14:creationId xmlns:p14="http://schemas.microsoft.com/office/powerpoint/2010/main" val="6625075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eaLnBrk="1" hangingPunct="1">
              <a:defRPr/>
            </a:lvl1pPr>
          </a:lstStyle>
          <a:p>
            <a:pPr>
              <a:defRPr/>
            </a:pPr>
            <a:endParaRPr lang="en-US"/>
          </a:p>
        </p:txBody>
      </p:sp>
      <p:sp>
        <p:nvSpPr>
          <p:cNvPr id="6" name="Rectangle 5"/>
          <p:cNvSpPr>
            <a:spLocks noGrp="1" noChangeArrowheads="1"/>
          </p:cNvSpPr>
          <p:nvPr>
            <p:ph type="ftr" sz="quarter" idx="11"/>
          </p:nvPr>
        </p:nvSpPr>
        <p:spPr/>
        <p:txBody>
          <a:bodyPr/>
          <a:lstStyle>
            <a:lvl1pPr eaLnBrk="1" hangingPunct="1">
              <a:defRPr/>
            </a:lvl1pPr>
          </a:lstStyle>
          <a:p>
            <a:pPr>
              <a:defRPr/>
            </a:pPr>
            <a:endParaRPr lang="en-US"/>
          </a:p>
        </p:txBody>
      </p:sp>
      <p:sp>
        <p:nvSpPr>
          <p:cNvPr id="7" name="Rectangle 6"/>
          <p:cNvSpPr>
            <a:spLocks noGrp="1" noChangeArrowheads="1"/>
          </p:cNvSpPr>
          <p:nvPr>
            <p:ph type="sldNum" sz="quarter" idx="12"/>
          </p:nvPr>
        </p:nvSpPr>
        <p:spPr/>
        <p:txBody>
          <a:bodyPr/>
          <a:lstStyle>
            <a:lvl1pPr eaLnBrk="1" hangingPunct="1">
              <a:defRPr/>
            </a:lvl1pPr>
          </a:lstStyle>
          <a:p>
            <a:pPr>
              <a:defRPr/>
            </a:pPr>
            <a:fld id="{02BB790C-D36C-4973-9445-039A44F6CEDD}" type="slidenum">
              <a:rPr lang="en-US"/>
              <a:pPr>
                <a:defRPr/>
              </a:pPr>
              <a:t>‹#›</a:t>
            </a:fld>
            <a:endParaRPr lang="en-US"/>
          </a:p>
        </p:txBody>
      </p:sp>
    </p:spTree>
    <p:extLst>
      <p:ext uri="{BB962C8B-B14F-4D97-AF65-F5344CB8AC3E}">
        <p14:creationId xmlns:p14="http://schemas.microsoft.com/office/powerpoint/2010/main" val="1896124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F4311620-832F-4BA8-A8B7-36F0FC66EC06}" type="datetimeFigureOut">
              <a:rPr lang="en-US"/>
              <a:pPr>
                <a:defRPr/>
              </a:pPr>
              <a:t>4/5/2017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5F7E36E2-232F-46B6-8B24-EFAEDAA5D75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54" r:id="rId11"/>
    <p:sldLayoutId id="2147483755" r:id="rId12"/>
    <p:sldLayoutId id="2147483756" r:id="rId13"/>
    <p:sldLayoutId id="2147483757" r:id="rId14"/>
    <p:sldLayoutId id="2147483758" r:id="rId15"/>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pitchFamily="34" charset="0"/>
          <a:cs typeface="Arial" pitchFamily="34" charset="0"/>
        </a:defRPr>
      </a:lvl2pPr>
      <a:lvl3pPr algn="l" rtl="0" eaLnBrk="0" fontAlgn="base" hangingPunct="0">
        <a:spcBef>
          <a:spcPct val="0"/>
        </a:spcBef>
        <a:spcAft>
          <a:spcPct val="0"/>
        </a:spcAft>
        <a:defRPr sz="4000" b="1">
          <a:solidFill>
            <a:schemeClr val="tx1"/>
          </a:solidFill>
          <a:latin typeface="Arial" pitchFamily="34" charset="0"/>
          <a:cs typeface="Arial" pitchFamily="34" charset="0"/>
        </a:defRPr>
      </a:lvl3pPr>
      <a:lvl4pPr algn="l" rtl="0" eaLnBrk="0" fontAlgn="base" hangingPunct="0">
        <a:spcBef>
          <a:spcPct val="0"/>
        </a:spcBef>
        <a:spcAft>
          <a:spcPct val="0"/>
        </a:spcAft>
        <a:defRPr sz="4000" b="1">
          <a:solidFill>
            <a:schemeClr val="tx1"/>
          </a:solidFill>
          <a:latin typeface="Arial" pitchFamily="34" charset="0"/>
          <a:cs typeface="Arial" pitchFamily="34" charset="0"/>
        </a:defRPr>
      </a:lvl4pPr>
      <a:lvl5pPr algn="l" rtl="0" eaLnBrk="0" fontAlgn="base" hangingPunct="0">
        <a:spcBef>
          <a:spcPct val="0"/>
        </a:spcBef>
        <a:spcAft>
          <a:spcPct val="0"/>
        </a:spcAft>
        <a:defRPr sz="4000" b="1">
          <a:solidFill>
            <a:schemeClr val="tx1"/>
          </a:solidFill>
          <a:latin typeface="Arial" pitchFamily="34" charset="0"/>
          <a:cs typeface="Arial" pitchFamily="34" charset="0"/>
        </a:defRPr>
      </a:lvl5pPr>
      <a:lvl6pPr marL="457200" algn="l" rtl="0" fontAlgn="base">
        <a:spcBef>
          <a:spcPct val="0"/>
        </a:spcBef>
        <a:spcAft>
          <a:spcPct val="0"/>
        </a:spcAft>
        <a:defRPr sz="4000" b="1">
          <a:solidFill>
            <a:schemeClr val="tx1"/>
          </a:solidFill>
          <a:latin typeface="Arial" pitchFamily="34" charset="0"/>
          <a:cs typeface="Arial" pitchFamily="34" charset="0"/>
        </a:defRPr>
      </a:lvl6pPr>
      <a:lvl7pPr marL="914400" algn="l" rtl="0" fontAlgn="base">
        <a:spcBef>
          <a:spcPct val="0"/>
        </a:spcBef>
        <a:spcAft>
          <a:spcPct val="0"/>
        </a:spcAft>
        <a:defRPr sz="4000" b="1">
          <a:solidFill>
            <a:schemeClr val="tx1"/>
          </a:solidFill>
          <a:latin typeface="Arial" pitchFamily="34" charset="0"/>
          <a:cs typeface="Arial" pitchFamily="34" charset="0"/>
        </a:defRPr>
      </a:lvl7pPr>
      <a:lvl8pPr marL="1371600" algn="l" rtl="0" fontAlgn="base">
        <a:spcBef>
          <a:spcPct val="0"/>
        </a:spcBef>
        <a:spcAft>
          <a:spcPct val="0"/>
        </a:spcAft>
        <a:defRPr sz="4000" b="1">
          <a:solidFill>
            <a:schemeClr val="tx1"/>
          </a:solidFill>
          <a:latin typeface="Arial" pitchFamily="34" charset="0"/>
          <a:cs typeface="Arial" pitchFamily="34" charset="0"/>
        </a:defRPr>
      </a:lvl8pPr>
      <a:lvl9pPr marL="1828800" algn="l" rtl="0" fontAlgn="base">
        <a:spcBef>
          <a:spcPct val="0"/>
        </a:spcBef>
        <a:spcAft>
          <a:spcPct val="0"/>
        </a:spcAft>
        <a:defRPr sz="4000" b="1">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676400" y="3429000"/>
            <a:ext cx="6858000" cy="1905000"/>
          </a:xfrm>
        </p:spPr>
        <p:txBody>
          <a:bodyPr/>
          <a:lstStyle/>
          <a:p>
            <a:pPr algn="r"/>
            <a:r>
              <a:rPr lang="en-US" cap="small" dirty="0" smtClean="0"/>
              <a:t>Computer Organization and Architecture</a:t>
            </a:r>
            <a:br>
              <a:rPr lang="en-US" cap="small" dirty="0" smtClean="0"/>
            </a:br>
            <a:r>
              <a:rPr lang="en-US" sz="3600" cap="small" dirty="0" smtClean="0"/>
              <a:t>Session </a:t>
            </a:r>
            <a:r>
              <a:rPr lang="en-US" sz="3600" cap="small" dirty="0" smtClean="0"/>
              <a:t>5</a:t>
            </a:r>
            <a:endParaRPr lang="en-US" sz="3600" cap="small" dirty="0"/>
          </a:p>
        </p:txBody>
      </p:sp>
      <p:sp>
        <p:nvSpPr>
          <p:cNvPr id="6" name="Content Placeholder 5"/>
          <p:cNvSpPr>
            <a:spLocks noGrp="1"/>
          </p:cNvSpPr>
          <p:nvPr>
            <p:ph sz="quarter" idx="13"/>
          </p:nvPr>
        </p:nvSpPr>
        <p:spPr>
          <a:xfrm>
            <a:off x="2267744" y="5157192"/>
            <a:ext cx="6266656" cy="786408"/>
          </a:xfrm>
        </p:spPr>
        <p:txBody>
          <a:bodyPr/>
          <a:lstStyle/>
          <a:p>
            <a:pPr>
              <a:spcBef>
                <a:spcPts val="1200"/>
              </a:spcBef>
            </a:pPr>
            <a:r>
              <a:rPr lang="en-US" sz="2400" dirty="0" smtClean="0"/>
              <a:t>Dr. Lucy J. </a:t>
            </a:r>
            <a:r>
              <a:rPr lang="en-US" sz="2400" dirty="0" err="1" smtClean="0"/>
              <a:t>Gudino</a:t>
            </a:r>
            <a:endParaRPr lang="en-US" sz="2400" dirty="0" smtClean="0"/>
          </a:p>
          <a:p>
            <a:pPr>
              <a:spcBef>
                <a:spcPts val="1200"/>
              </a:spcBef>
            </a:pPr>
            <a:r>
              <a:rPr lang="en-US" sz="2400" dirty="0" smtClean="0"/>
              <a:t>WILP &amp; Department of CS &amp; IS</a:t>
            </a:r>
            <a:endParaRPr lang="en-US" sz="2400" dirty="0"/>
          </a:p>
        </p:txBody>
      </p:sp>
    </p:spTree>
    <p:extLst>
      <p:ext uri="{BB962C8B-B14F-4D97-AF65-F5344CB8AC3E}">
        <p14:creationId xmlns:p14="http://schemas.microsoft.com/office/powerpoint/2010/main" val="12595097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idx="4294967295"/>
          </p:nvPr>
        </p:nvSpPr>
        <p:spPr>
          <a:xfrm>
            <a:off x="0" y="274638"/>
            <a:ext cx="6121400" cy="850900"/>
          </a:xfrm>
        </p:spPr>
        <p:txBody>
          <a:bodyPr/>
          <a:lstStyle/>
          <a:p>
            <a:r>
              <a:rPr lang="en-US" altLang="en-US" dirty="0" smtClean="0">
                <a:solidFill>
                  <a:srgbClr val="C00000"/>
                </a:solidFill>
              </a:rPr>
              <a:t>Today’s Session</a:t>
            </a:r>
          </a:p>
        </p:txBody>
      </p:sp>
      <p:graphicFrame>
        <p:nvGraphicFramePr>
          <p:cNvPr id="7" name="Table 6"/>
          <p:cNvGraphicFramePr>
            <a:graphicFrameLocks noGrp="1"/>
          </p:cNvGraphicFramePr>
          <p:nvPr>
            <p:extLst>
              <p:ext uri="{D42A27DB-BD31-4B8C-83A1-F6EECF244321}">
                <p14:modId xmlns:p14="http://schemas.microsoft.com/office/powerpoint/2010/main" val="3263054940"/>
              </p:ext>
            </p:extLst>
          </p:nvPr>
        </p:nvGraphicFramePr>
        <p:xfrm>
          <a:off x="0" y="1524000"/>
          <a:ext cx="9144000" cy="4959477"/>
        </p:xfrm>
        <a:graphic>
          <a:graphicData uri="http://schemas.openxmlformats.org/drawingml/2006/table">
            <a:tbl>
              <a:tblPr/>
              <a:tblGrid>
                <a:gridCol w="1328738"/>
                <a:gridCol w="5300662"/>
                <a:gridCol w="2514600"/>
              </a:tblGrid>
              <a:tr h="1036638">
                <a:tc>
                  <a:txBody>
                    <a:bodyPr/>
                    <a:lstStyle>
                      <a:lvl1pPr eaLnBrk="0" hangingPunct="0">
                        <a:spcBef>
                          <a:spcPct val="20000"/>
                        </a:spcBef>
                        <a:tabLst>
                          <a:tab pos="539750" algn="l"/>
                        </a:tabLst>
                        <a:defRPr sz="2800">
                          <a:solidFill>
                            <a:schemeClr val="tx1"/>
                          </a:solidFill>
                          <a:latin typeface="Arial" pitchFamily="34" charset="0"/>
                        </a:defRPr>
                      </a:lvl1pPr>
                      <a:lvl2pPr marL="742950" indent="-285750" eaLnBrk="0" hangingPunct="0">
                        <a:spcBef>
                          <a:spcPct val="20000"/>
                        </a:spcBef>
                        <a:tabLst>
                          <a:tab pos="539750" algn="l"/>
                        </a:tabLst>
                        <a:defRPr sz="2400">
                          <a:solidFill>
                            <a:schemeClr val="tx1"/>
                          </a:solidFill>
                          <a:latin typeface="Arial" pitchFamily="34" charset="0"/>
                        </a:defRPr>
                      </a:lvl2pPr>
                      <a:lvl3pPr marL="1143000" indent="-228600" eaLnBrk="0" hangingPunct="0">
                        <a:spcBef>
                          <a:spcPct val="20000"/>
                        </a:spcBef>
                        <a:tabLst>
                          <a:tab pos="539750" algn="l"/>
                        </a:tabLst>
                        <a:defRPr sz="2000">
                          <a:solidFill>
                            <a:schemeClr val="tx1"/>
                          </a:solidFill>
                          <a:latin typeface="Arial" pitchFamily="34" charset="0"/>
                        </a:defRPr>
                      </a:lvl3pPr>
                      <a:lvl4pPr marL="1600200" indent="-228600" eaLnBrk="0" hangingPunct="0">
                        <a:spcBef>
                          <a:spcPct val="20000"/>
                        </a:spcBef>
                        <a:tabLst>
                          <a:tab pos="539750" algn="l"/>
                        </a:tabLst>
                        <a:defRPr>
                          <a:solidFill>
                            <a:schemeClr val="tx1"/>
                          </a:solidFill>
                          <a:latin typeface="Arial" pitchFamily="34" charset="0"/>
                        </a:defRPr>
                      </a:lvl4pPr>
                      <a:lvl5pPr marL="2057400" indent="-228600" eaLnBrk="0" hangingPunct="0">
                        <a:spcBef>
                          <a:spcPct val="20000"/>
                        </a:spcBef>
                        <a:tabLst>
                          <a:tab pos="539750" algn="l"/>
                        </a:tabLst>
                        <a:defRPr>
                          <a:solidFill>
                            <a:schemeClr val="tx1"/>
                          </a:solidFill>
                          <a:latin typeface="Arial" pitchFamily="34" charset="0"/>
                        </a:defRPr>
                      </a:lvl5pPr>
                      <a:lvl6pPr marL="2514600" indent="-228600" eaLnBrk="0" fontAlgn="base" hangingPunct="0">
                        <a:spcBef>
                          <a:spcPct val="20000"/>
                        </a:spcBef>
                        <a:spcAft>
                          <a:spcPct val="0"/>
                        </a:spcAft>
                        <a:tabLst>
                          <a:tab pos="539750" algn="l"/>
                        </a:tabLst>
                        <a:defRPr>
                          <a:solidFill>
                            <a:schemeClr val="tx1"/>
                          </a:solidFill>
                          <a:latin typeface="Arial" pitchFamily="34" charset="0"/>
                        </a:defRPr>
                      </a:lvl6pPr>
                      <a:lvl7pPr marL="2971800" indent="-228600" eaLnBrk="0" fontAlgn="base" hangingPunct="0">
                        <a:spcBef>
                          <a:spcPct val="20000"/>
                        </a:spcBef>
                        <a:spcAft>
                          <a:spcPct val="0"/>
                        </a:spcAft>
                        <a:tabLst>
                          <a:tab pos="539750" algn="l"/>
                        </a:tabLst>
                        <a:defRPr>
                          <a:solidFill>
                            <a:schemeClr val="tx1"/>
                          </a:solidFill>
                          <a:latin typeface="Arial" pitchFamily="34" charset="0"/>
                        </a:defRPr>
                      </a:lvl7pPr>
                      <a:lvl8pPr marL="3429000" indent="-228600" eaLnBrk="0" fontAlgn="base" hangingPunct="0">
                        <a:spcBef>
                          <a:spcPct val="20000"/>
                        </a:spcBef>
                        <a:spcAft>
                          <a:spcPct val="0"/>
                        </a:spcAft>
                        <a:tabLst>
                          <a:tab pos="539750" algn="l"/>
                        </a:tabLst>
                        <a:defRPr>
                          <a:solidFill>
                            <a:schemeClr val="tx1"/>
                          </a:solidFill>
                          <a:latin typeface="Arial" pitchFamily="34" charset="0"/>
                        </a:defRPr>
                      </a:lvl8pPr>
                      <a:lvl9pPr marL="3886200" indent="-228600" eaLnBrk="0" fontAlgn="base" hangingPunct="0">
                        <a:spcBef>
                          <a:spcPct val="20000"/>
                        </a:spcBef>
                        <a:spcAft>
                          <a:spcPct val="0"/>
                        </a:spcAft>
                        <a:tabLst>
                          <a:tab pos="539750" algn="l"/>
                        </a:tabLst>
                        <a:defRPr>
                          <a:solidFill>
                            <a:schemeClr val="tx1"/>
                          </a:solidFill>
                          <a:latin typeface="Arial"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tab pos="539750" algn="l"/>
                        </a:tabLst>
                      </a:pPr>
                      <a:r>
                        <a:rPr kumimoji="0" lang="en-IN" altLang="en-US" sz="2400" b="1" i="0" u="none" strike="noStrike" cap="none" normalizeH="0" baseline="0" dirty="0" smtClean="0">
                          <a:ln>
                            <a:noFill/>
                          </a:ln>
                          <a:solidFill>
                            <a:srgbClr val="00000A"/>
                          </a:solidFill>
                          <a:effectLst/>
                          <a:latin typeface="Calibri" pitchFamily="34" charset="0"/>
                          <a:ea typeface="Ubuntu"/>
                          <a:cs typeface="Ubuntu"/>
                        </a:rPr>
                        <a:t>Contact Hour</a:t>
                      </a:r>
                      <a:endParaRPr kumimoji="0" lang="en-US" altLang="en-US" sz="2400" b="0" i="0" u="none" strike="noStrike" cap="none" normalizeH="0" baseline="0" dirty="0" smtClean="0">
                        <a:ln>
                          <a:noFill/>
                        </a:ln>
                        <a:solidFill>
                          <a:srgbClr val="000000"/>
                        </a:solidFill>
                        <a:effectLst/>
                        <a:latin typeface="Calibri" pitchFamily="34" charset="0"/>
                        <a:ea typeface="Calibri" pitchFamily="34" charset="0"/>
                        <a:cs typeface="Calibri" pitchFamily="34" charset="0"/>
                      </a:endParaRPr>
                    </a:p>
                  </a:txBody>
                  <a:tcPr marL="62619" marR="62619" marT="62619" marB="6261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D9F1"/>
                    </a:solidFill>
                  </a:tcPr>
                </a:tc>
                <a:tc>
                  <a:txBody>
                    <a:bodyPr/>
                    <a:lstStyle>
                      <a:lvl1pPr eaLnBrk="0" hangingPunct="0">
                        <a:spcBef>
                          <a:spcPct val="20000"/>
                        </a:spcBef>
                        <a:defRPr sz="2800">
                          <a:solidFill>
                            <a:schemeClr val="tx1"/>
                          </a:solidFill>
                          <a:latin typeface="Arial" pitchFamily="34" charset="0"/>
                        </a:defRPr>
                      </a:lvl1pPr>
                      <a:lvl2pPr marL="742950" indent="-285750" eaLnBrk="0" hangingPunct="0">
                        <a:spcBef>
                          <a:spcPct val="20000"/>
                        </a:spcBef>
                        <a:defRPr sz="2400">
                          <a:solidFill>
                            <a:schemeClr val="tx1"/>
                          </a:solidFill>
                          <a:latin typeface="Arial" pitchFamily="34" charset="0"/>
                        </a:defRPr>
                      </a:lvl2pPr>
                      <a:lvl3pPr marL="1143000" indent="-228600" eaLnBrk="0" hangingPunct="0">
                        <a:spcBef>
                          <a:spcPct val="20000"/>
                        </a:spcBef>
                        <a:defRPr sz="2000">
                          <a:solidFill>
                            <a:schemeClr val="tx1"/>
                          </a:solidFill>
                          <a:latin typeface="Arial" pitchFamily="34" charset="0"/>
                        </a:defRPr>
                      </a:lvl3pPr>
                      <a:lvl4pPr marL="1600200" indent="-228600" eaLnBrk="0" hangingPunct="0">
                        <a:spcBef>
                          <a:spcPct val="20000"/>
                        </a:spcBef>
                        <a:defRPr>
                          <a:solidFill>
                            <a:schemeClr val="tx1"/>
                          </a:solidFill>
                          <a:latin typeface="Arial" pitchFamily="34" charset="0"/>
                        </a:defRPr>
                      </a:lvl4pPr>
                      <a:lvl5pPr marL="2057400" indent="-228600" eaLnBrk="0" hangingPunct="0">
                        <a:spcBef>
                          <a:spcPct val="20000"/>
                        </a:spcBef>
                        <a:defRPr>
                          <a:solidFill>
                            <a:schemeClr val="tx1"/>
                          </a:solidFill>
                          <a:latin typeface="Arial" pitchFamily="34" charset="0"/>
                        </a:defRPr>
                      </a:lvl5pPr>
                      <a:lvl6pPr marL="2514600" indent="-228600" eaLnBrk="0" fontAlgn="base" hangingPunct="0">
                        <a:spcBef>
                          <a:spcPct val="20000"/>
                        </a:spcBef>
                        <a:spcAft>
                          <a:spcPct val="0"/>
                        </a:spcAft>
                        <a:defRPr>
                          <a:solidFill>
                            <a:schemeClr val="tx1"/>
                          </a:solidFill>
                          <a:latin typeface="Arial" pitchFamily="34" charset="0"/>
                        </a:defRPr>
                      </a:lvl6pPr>
                      <a:lvl7pPr marL="2971800" indent="-228600" eaLnBrk="0" fontAlgn="base" hangingPunct="0">
                        <a:spcBef>
                          <a:spcPct val="20000"/>
                        </a:spcBef>
                        <a:spcAft>
                          <a:spcPct val="0"/>
                        </a:spcAft>
                        <a:defRPr>
                          <a:solidFill>
                            <a:schemeClr val="tx1"/>
                          </a:solidFill>
                          <a:latin typeface="Arial" pitchFamily="34" charset="0"/>
                        </a:defRPr>
                      </a:lvl7pPr>
                      <a:lvl8pPr marL="3429000" indent="-228600" eaLnBrk="0" fontAlgn="base" hangingPunct="0">
                        <a:spcBef>
                          <a:spcPct val="20000"/>
                        </a:spcBef>
                        <a:spcAft>
                          <a:spcPct val="0"/>
                        </a:spcAft>
                        <a:defRPr>
                          <a:solidFill>
                            <a:schemeClr val="tx1"/>
                          </a:solidFill>
                          <a:latin typeface="Arial" pitchFamily="34" charset="0"/>
                        </a:defRPr>
                      </a:lvl8pPr>
                      <a:lvl9pPr marL="3886200" indent="-228600" eaLnBrk="0" fontAlgn="base" hangingPunct="0">
                        <a:spcBef>
                          <a:spcPct val="2000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IN" altLang="en-US" sz="2400" b="1" i="0" u="none" strike="noStrike" cap="none" normalizeH="0" baseline="0" dirty="0" smtClean="0">
                          <a:ln>
                            <a:noFill/>
                          </a:ln>
                          <a:solidFill>
                            <a:srgbClr val="00000A"/>
                          </a:solidFill>
                          <a:effectLst/>
                          <a:latin typeface="Calibri" pitchFamily="34" charset="0"/>
                          <a:ea typeface="Ubuntu"/>
                          <a:cs typeface="Ubuntu"/>
                        </a:rPr>
                        <a:t>List of Topic Title </a:t>
                      </a:r>
                      <a:endParaRPr kumimoji="0" lang="en-US" altLang="en-US" sz="2400" b="0" i="0" u="none" strike="noStrike" cap="none" normalizeH="0" baseline="0" dirty="0" smtClean="0">
                        <a:ln>
                          <a:noFill/>
                        </a:ln>
                        <a:solidFill>
                          <a:srgbClr val="000000"/>
                        </a:solidFill>
                        <a:effectLst/>
                        <a:latin typeface="Calibri" pitchFamily="34" charset="0"/>
                        <a:ea typeface="Calibri" pitchFamily="34" charset="0"/>
                        <a:cs typeface="Calibri" pitchFamily="34" charset="0"/>
                      </a:endParaRPr>
                    </a:p>
                  </a:txBody>
                  <a:tcPr marL="67629" marR="6762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D9F1"/>
                    </a:solidFill>
                  </a:tcPr>
                </a:tc>
                <a:tc>
                  <a:txBody>
                    <a:bodyPr/>
                    <a:lstStyle>
                      <a:lvl1pPr eaLnBrk="0" hangingPunct="0">
                        <a:spcBef>
                          <a:spcPct val="20000"/>
                        </a:spcBef>
                        <a:defRPr sz="2800">
                          <a:solidFill>
                            <a:schemeClr val="tx1"/>
                          </a:solidFill>
                          <a:latin typeface="Arial" pitchFamily="34" charset="0"/>
                        </a:defRPr>
                      </a:lvl1pPr>
                      <a:lvl2pPr marL="742950" indent="-285750" eaLnBrk="0" hangingPunct="0">
                        <a:spcBef>
                          <a:spcPct val="20000"/>
                        </a:spcBef>
                        <a:defRPr sz="2400">
                          <a:solidFill>
                            <a:schemeClr val="tx1"/>
                          </a:solidFill>
                          <a:latin typeface="Arial" pitchFamily="34" charset="0"/>
                        </a:defRPr>
                      </a:lvl2pPr>
                      <a:lvl3pPr marL="1143000" indent="-228600" eaLnBrk="0" hangingPunct="0">
                        <a:spcBef>
                          <a:spcPct val="20000"/>
                        </a:spcBef>
                        <a:defRPr sz="2000">
                          <a:solidFill>
                            <a:schemeClr val="tx1"/>
                          </a:solidFill>
                          <a:latin typeface="Arial" pitchFamily="34" charset="0"/>
                        </a:defRPr>
                      </a:lvl3pPr>
                      <a:lvl4pPr marL="1600200" indent="-228600" eaLnBrk="0" hangingPunct="0">
                        <a:spcBef>
                          <a:spcPct val="20000"/>
                        </a:spcBef>
                        <a:defRPr>
                          <a:solidFill>
                            <a:schemeClr val="tx1"/>
                          </a:solidFill>
                          <a:latin typeface="Arial" pitchFamily="34" charset="0"/>
                        </a:defRPr>
                      </a:lvl4pPr>
                      <a:lvl5pPr marL="2057400" indent="-228600" eaLnBrk="0" hangingPunct="0">
                        <a:spcBef>
                          <a:spcPct val="20000"/>
                        </a:spcBef>
                        <a:defRPr>
                          <a:solidFill>
                            <a:schemeClr val="tx1"/>
                          </a:solidFill>
                          <a:latin typeface="Arial" pitchFamily="34" charset="0"/>
                        </a:defRPr>
                      </a:lvl5pPr>
                      <a:lvl6pPr marL="2514600" indent="-228600" eaLnBrk="0" fontAlgn="base" hangingPunct="0">
                        <a:spcBef>
                          <a:spcPct val="20000"/>
                        </a:spcBef>
                        <a:spcAft>
                          <a:spcPct val="0"/>
                        </a:spcAft>
                        <a:defRPr>
                          <a:solidFill>
                            <a:schemeClr val="tx1"/>
                          </a:solidFill>
                          <a:latin typeface="Arial" pitchFamily="34" charset="0"/>
                        </a:defRPr>
                      </a:lvl6pPr>
                      <a:lvl7pPr marL="2971800" indent="-228600" eaLnBrk="0" fontAlgn="base" hangingPunct="0">
                        <a:spcBef>
                          <a:spcPct val="20000"/>
                        </a:spcBef>
                        <a:spcAft>
                          <a:spcPct val="0"/>
                        </a:spcAft>
                        <a:defRPr>
                          <a:solidFill>
                            <a:schemeClr val="tx1"/>
                          </a:solidFill>
                          <a:latin typeface="Arial" pitchFamily="34" charset="0"/>
                        </a:defRPr>
                      </a:lvl7pPr>
                      <a:lvl8pPr marL="3429000" indent="-228600" eaLnBrk="0" fontAlgn="base" hangingPunct="0">
                        <a:spcBef>
                          <a:spcPct val="20000"/>
                        </a:spcBef>
                        <a:spcAft>
                          <a:spcPct val="0"/>
                        </a:spcAft>
                        <a:defRPr>
                          <a:solidFill>
                            <a:schemeClr val="tx1"/>
                          </a:solidFill>
                          <a:latin typeface="Arial" pitchFamily="34" charset="0"/>
                        </a:defRPr>
                      </a:lvl8pPr>
                      <a:lvl9pPr marL="3886200" indent="-228600" eaLnBrk="0" fontAlgn="base" hangingPunct="0">
                        <a:spcBef>
                          <a:spcPct val="2000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IN" altLang="en-US" sz="2400" b="1" i="0" u="none" strike="noStrike" cap="none" normalizeH="0" baseline="0" smtClean="0">
                          <a:ln>
                            <a:noFill/>
                          </a:ln>
                          <a:solidFill>
                            <a:srgbClr val="00000A"/>
                          </a:solidFill>
                          <a:effectLst/>
                          <a:latin typeface="Calibri" pitchFamily="34" charset="0"/>
                          <a:ea typeface="Ubuntu"/>
                          <a:cs typeface="Ubuntu"/>
                        </a:rPr>
                        <a:t>Text/Ref Book/external resource</a:t>
                      </a:r>
                      <a:endParaRPr kumimoji="0" lang="en-US" altLang="en-US" sz="2400" b="0" i="0" u="none" strike="noStrike" cap="none" normalizeH="0" baseline="0" smtClean="0">
                        <a:ln>
                          <a:noFill/>
                        </a:ln>
                        <a:solidFill>
                          <a:srgbClr val="000000"/>
                        </a:solidFill>
                        <a:effectLst/>
                        <a:latin typeface="Calibri" pitchFamily="34" charset="0"/>
                        <a:ea typeface="Calibri" pitchFamily="34" charset="0"/>
                        <a:cs typeface="Calibri" pitchFamily="34" charset="0"/>
                      </a:endParaRPr>
                    </a:p>
                  </a:txBody>
                  <a:tcPr marL="67629" marR="6762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D9F1"/>
                    </a:solidFill>
                  </a:tcPr>
                </a:tc>
              </a:tr>
              <a:tr h="1176528">
                <a:tc>
                  <a:txBody>
                    <a:bodyPr/>
                    <a:lstStyle/>
                    <a:p>
                      <a:pPr marL="0" marR="0" algn="ctr">
                        <a:lnSpc>
                          <a:spcPct val="115000"/>
                        </a:lnSpc>
                        <a:spcBef>
                          <a:spcPts val="0"/>
                        </a:spcBef>
                        <a:spcAft>
                          <a:spcPts val="0"/>
                        </a:spcAft>
                        <a:tabLst>
                          <a:tab pos="540385" algn="l"/>
                        </a:tabLst>
                      </a:pPr>
                      <a:r>
                        <a:rPr lang="en-IN" sz="1800" dirty="0">
                          <a:solidFill>
                            <a:srgbClr val="00000A"/>
                          </a:solidFill>
                          <a:effectLst/>
                          <a:latin typeface="Calibri"/>
                          <a:ea typeface="Ubuntu"/>
                          <a:cs typeface="Ubuntu"/>
                        </a:rPr>
                        <a:t>9</a:t>
                      </a:r>
                      <a:endParaRPr lang="en-US" sz="1800" dirty="0">
                        <a:solidFill>
                          <a:srgbClr val="000000"/>
                        </a:solidFill>
                        <a:effectLst/>
                        <a:latin typeface="Calibri"/>
                        <a:ea typeface="Calibri"/>
                        <a:cs typeface="Calibri"/>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60325" lvl="0" indent="-342900" algn="just">
                        <a:lnSpc>
                          <a:spcPct val="137000"/>
                        </a:lnSpc>
                        <a:spcBef>
                          <a:spcPts val="0"/>
                        </a:spcBef>
                        <a:spcAft>
                          <a:spcPts val="0"/>
                        </a:spcAft>
                        <a:buFont typeface="Symbol"/>
                        <a:buChar char=""/>
                      </a:pPr>
                      <a:r>
                        <a:rPr lang="en-IN" sz="1800" dirty="0">
                          <a:solidFill>
                            <a:srgbClr val="00000A"/>
                          </a:solidFill>
                          <a:effectLst/>
                          <a:latin typeface="Calibri"/>
                          <a:ea typeface="Ubuntu"/>
                          <a:cs typeface="Ubuntu"/>
                        </a:rPr>
                        <a:t>Instruction Sets: Characteristics and Functions</a:t>
                      </a:r>
                      <a:endParaRPr lang="en-US" sz="1800" dirty="0">
                        <a:effectLst/>
                        <a:latin typeface="Calibri"/>
                      </a:endParaRPr>
                    </a:p>
                    <a:p>
                      <a:pPr marL="342900" marR="60325" lvl="0" indent="-342900" algn="just">
                        <a:lnSpc>
                          <a:spcPct val="137000"/>
                        </a:lnSpc>
                        <a:spcBef>
                          <a:spcPts val="0"/>
                        </a:spcBef>
                        <a:spcAft>
                          <a:spcPts val="0"/>
                        </a:spcAft>
                        <a:buFont typeface="Symbol"/>
                        <a:buChar char=""/>
                      </a:pPr>
                      <a:r>
                        <a:rPr lang="en-IN" sz="1800" dirty="0">
                          <a:solidFill>
                            <a:srgbClr val="00000A"/>
                          </a:solidFill>
                          <a:effectLst/>
                          <a:latin typeface="Calibri"/>
                          <a:ea typeface="Ubuntu"/>
                          <a:cs typeface="Ubuntu"/>
                        </a:rPr>
                        <a:t>Machine Instruction Characteristics</a:t>
                      </a:r>
                      <a:endParaRPr lang="en-US" sz="1800" dirty="0">
                        <a:effectLst/>
                        <a:latin typeface="Calibri"/>
                      </a:endParaRPr>
                    </a:p>
                    <a:p>
                      <a:pPr marL="342900" marR="60325" lvl="0" indent="-342900" algn="just">
                        <a:lnSpc>
                          <a:spcPct val="137000"/>
                        </a:lnSpc>
                        <a:spcBef>
                          <a:spcPts val="0"/>
                        </a:spcBef>
                        <a:spcAft>
                          <a:spcPts val="0"/>
                        </a:spcAft>
                        <a:buFont typeface="Symbol"/>
                        <a:buChar char=""/>
                      </a:pPr>
                      <a:r>
                        <a:rPr lang="en-IN" sz="1800" dirty="0">
                          <a:solidFill>
                            <a:srgbClr val="00000A"/>
                          </a:solidFill>
                          <a:effectLst/>
                          <a:latin typeface="Calibri"/>
                          <a:ea typeface="Ubuntu"/>
                          <a:cs typeface="Ubuntu"/>
                        </a:rPr>
                        <a:t>Types of Operands</a:t>
                      </a:r>
                      <a:endParaRPr lang="en-US" sz="1800" dirty="0">
                        <a:effectLst/>
                        <a:latin typeface="Calibri"/>
                      </a:endParaRPr>
                    </a:p>
                    <a:p>
                      <a:pPr marL="342900" marR="60325" lvl="0" indent="-342900" algn="just">
                        <a:lnSpc>
                          <a:spcPct val="137000"/>
                        </a:lnSpc>
                        <a:spcBef>
                          <a:spcPts val="0"/>
                        </a:spcBef>
                        <a:spcAft>
                          <a:spcPts val="0"/>
                        </a:spcAft>
                        <a:buFont typeface="Symbol"/>
                        <a:buChar char=""/>
                      </a:pPr>
                      <a:r>
                        <a:rPr lang="en-IN" sz="1800" dirty="0">
                          <a:solidFill>
                            <a:srgbClr val="00000A"/>
                          </a:solidFill>
                          <a:effectLst/>
                          <a:latin typeface="Calibri"/>
                          <a:ea typeface="Ubuntu"/>
                          <a:cs typeface="Ubuntu"/>
                        </a:rPr>
                        <a:t>Intel x86 and ARM Data Types </a:t>
                      </a:r>
                      <a:endParaRPr lang="en-US" sz="1800" dirty="0">
                        <a:effectLst/>
                        <a:latin typeface="Calibri"/>
                      </a:endParaRPr>
                    </a:p>
                    <a:p>
                      <a:pPr marL="342900" marR="60325" lvl="0" indent="-342900" algn="just">
                        <a:lnSpc>
                          <a:spcPct val="137000"/>
                        </a:lnSpc>
                        <a:spcBef>
                          <a:spcPts val="0"/>
                        </a:spcBef>
                        <a:spcAft>
                          <a:spcPts val="0"/>
                        </a:spcAft>
                        <a:buFont typeface="Symbol"/>
                        <a:buChar char=""/>
                      </a:pPr>
                      <a:r>
                        <a:rPr lang="en-IN" sz="1800" dirty="0">
                          <a:solidFill>
                            <a:srgbClr val="00000A"/>
                          </a:solidFill>
                          <a:effectLst/>
                          <a:latin typeface="Calibri"/>
                          <a:ea typeface="Ubuntu"/>
                          <a:cs typeface="Ubuntu"/>
                        </a:rPr>
                        <a:t>Types of Operations</a:t>
                      </a:r>
                      <a:endParaRPr lang="en-US" sz="1800" dirty="0">
                        <a:effectLst/>
                        <a:latin typeface="Calibri"/>
                      </a:endParaRPr>
                    </a:p>
                    <a:p>
                      <a:pPr marL="342900" marR="60325" lvl="0" indent="-342900">
                        <a:lnSpc>
                          <a:spcPct val="137000"/>
                        </a:lnSpc>
                        <a:spcBef>
                          <a:spcPts val="0"/>
                        </a:spcBef>
                        <a:spcAft>
                          <a:spcPts val="0"/>
                        </a:spcAft>
                        <a:buFont typeface="Symbol"/>
                        <a:buChar char=""/>
                      </a:pPr>
                      <a:r>
                        <a:rPr lang="en-IN" sz="1800" dirty="0">
                          <a:solidFill>
                            <a:srgbClr val="00000A"/>
                          </a:solidFill>
                          <a:effectLst/>
                          <a:latin typeface="Calibri"/>
                          <a:ea typeface="Ubuntu"/>
                          <a:cs typeface="Ubuntu"/>
                        </a:rPr>
                        <a:t>Intel x86 and ARM Operation Types</a:t>
                      </a:r>
                      <a:endParaRPr lang="en-US" sz="18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5715" marR="26035">
                        <a:lnSpc>
                          <a:spcPct val="115000"/>
                        </a:lnSpc>
                        <a:spcBef>
                          <a:spcPts val="0"/>
                        </a:spcBef>
                        <a:spcAft>
                          <a:spcPts val="0"/>
                        </a:spcAft>
                      </a:pPr>
                      <a:r>
                        <a:rPr lang="en-IN" sz="1800">
                          <a:solidFill>
                            <a:srgbClr val="000000"/>
                          </a:solidFill>
                          <a:effectLst/>
                          <a:latin typeface="Calibri"/>
                          <a:ea typeface="Calibri"/>
                          <a:cs typeface="Calibri"/>
                        </a:rPr>
                        <a:t>T1:</a:t>
                      </a:r>
                      <a:endParaRPr lang="en-US" sz="1800">
                        <a:solidFill>
                          <a:srgbClr val="000000"/>
                        </a:solidFill>
                        <a:effectLst/>
                        <a:latin typeface="Calibri"/>
                        <a:ea typeface="Calibri"/>
                        <a:cs typeface="Calibri"/>
                      </a:endParaRPr>
                    </a:p>
                    <a:p>
                      <a:pPr marL="5715" marR="26035">
                        <a:lnSpc>
                          <a:spcPct val="115000"/>
                        </a:lnSpc>
                        <a:spcBef>
                          <a:spcPts val="0"/>
                        </a:spcBef>
                        <a:spcAft>
                          <a:spcPts val="0"/>
                        </a:spcAft>
                      </a:pPr>
                      <a:r>
                        <a:rPr lang="en-IN" sz="1800">
                          <a:solidFill>
                            <a:srgbClr val="000000"/>
                          </a:solidFill>
                          <a:effectLst/>
                          <a:latin typeface="Calibri"/>
                          <a:ea typeface="Calibri"/>
                          <a:cs typeface="Calibri"/>
                        </a:rPr>
                        <a:t>Ch10: 10.1 - 10.5</a:t>
                      </a:r>
                      <a:endParaRPr lang="en-US" sz="1800">
                        <a:solidFill>
                          <a:srgbClr val="000000"/>
                        </a:solidFill>
                        <a:effectLst/>
                        <a:latin typeface="Calibri"/>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69963">
                <a:tc>
                  <a:txBody>
                    <a:bodyPr/>
                    <a:lstStyle/>
                    <a:p>
                      <a:pPr marL="0" marR="0" algn="ctr">
                        <a:lnSpc>
                          <a:spcPct val="115000"/>
                        </a:lnSpc>
                        <a:spcBef>
                          <a:spcPts val="0"/>
                        </a:spcBef>
                        <a:spcAft>
                          <a:spcPts val="0"/>
                        </a:spcAft>
                        <a:tabLst>
                          <a:tab pos="540385" algn="l"/>
                        </a:tabLst>
                      </a:pPr>
                      <a:r>
                        <a:rPr lang="en-IN" sz="1800">
                          <a:solidFill>
                            <a:srgbClr val="00000A"/>
                          </a:solidFill>
                          <a:effectLst/>
                          <a:latin typeface="Calibri"/>
                          <a:ea typeface="Ubuntu"/>
                          <a:cs typeface="Ubuntu"/>
                        </a:rPr>
                        <a:t>10</a:t>
                      </a:r>
                      <a:endParaRPr lang="en-US" sz="1800">
                        <a:solidFill>
                          <a:srgbClr val="000000"/>
                        </a:solidFill>
                        <a:effectLst/>
                        <a:latin typeface="Calibri"/>
                        <a:ea typeface="Calibri"/>
                        <a:cs typeface="Calibri"/>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60325" lvl="0" indent="-342900" algn="just">
                        <a:lnSpc>
                          <a:spcPct val="137000"/>
                        </a:lnSpc>
                        <a:spcBef>
                          <a:spcPts val="0"/>
                        </a:spcBef>
                        <a:spcAft>
                          <a:spcPts val="0"/>
                        </a:spcAft>
                        <a:buFont typeface="Symbol"/>
                        <a:buChar char=""/>
                      </a:pPr>
                      <a:r>
                        <a:rPr lang="en-IN" sz="1800" dirty="0">
                          <a:effectLst/>
                          <a:latin typeface="Calibri"/>
                        </a:rPr>
                        <a:t>Addressing</a:t>
                      </a:r>
                      <a:endParaRPr lang="en-US" sz="1800" dirty="0">
                        <a:effectLst/>
                        <a:latin typeface="Calibri"/>
                      </a:endParaRPr>
                    </a:p>
                    <a:p>
                      <a:pPr marL="342900" marR="60325" lvl="0" indent="-342900" algn="just">
                        <a:lnSpc>
                          <a:spcPct val="137000"/>
                        </a:lnSpc>
                        <a:spcBef>
                          <a:spcPts val="0"/>
                        </a:spcBef>
                        <a:spcAft>
                          <a:spcPts val="0"/>
                        </a:spcAft>
                        <a:buFont typeface="Symbol"/>
                        <a:buChar char=""/>
                      </a:pPr>
                      <a:r>
                        <a:rPr lang="en-IN" sz="1800" dirty="0">
                          <a:effectLst/>
                          <a:latin typeface="Calibri"/>
                        </a:rPr>
                        <a:t>x86 and ARM Addressing Modes </a:t>
                      </a:r>
                      <a:endParaRPr lang="en-US" sz="1800" dirty="0">
                        <a:effectLst/>
                        <a:latin typeface="Calibri"/>
                      </a:endParaRPr>
                    </a:p>
                    <a:p>
                      <a:pPr marL="342900" marR="60325" lvl="0" indent="-342900" algn="just">
                        <a:lnSpc>
                          <a:spcPct val="137000"/>
                        </a:lnSpc>
                        <a:spcBef>
                          <a:spcPts val="0"/>
                        </a:spcBef>
                        <a:spcAft>
                          <a:spcPts val="0"/>
                        </a:spcAft>
                        <a:buFont typeface="Symbol"/>
                        <a:buChar char=""/>
                      </a:pPr>
                      <a:r>
                        <a:rPr lang="en-IN" sz="1800" dirty="0">
                          <a:effectLst/>
                          <a:latin typeface="Calibri"/>
                        </a:rPr>
                        <a:t>Instruction Formats</a:t>
                      </a:r>
                      <a:endParaRPr lang="en-US" sz="1800" dirty="0">
                        <a:effectLst/>
                        <a:latin typeface="Calibri"/>
                      </a:endParaRPr>
                    </a:p>
                    <a:p>
                      <a:pPr marL="342900" marR="74930" lvl="0" indent="-342900">
                        <a:lnSpc>
                          <a:spcPct val="115000"/>
                        </a:lnSpc>
                        <a:spcBef>
                          <a:spcPts val="0"/>
                        </a:spcBef>
                        <a:spcAft>
                          <a:spcPts val="0"/>
                        </a:spcAft>
                        <a:buFont typeface="Symbol"/>
                        <a:buChar char=""/>
                      </a:pPr>
                      <a:r>
                        <a:rPr lang="en-IN" sz="1800" dirty="0">
                          <a:solidFill>
                            <a:srgbClr val="000000"/>
                          </a:solidFill>
                          <a:effectLst/>
                          <a:latin typeface="Calibri"/>
                          <a:ea typeface="Calibri"/>
                          <a:cs typeface="Calibri"/>
                        </a:rPr>
                        <a:t>x86 and ARM Instruction Formats</a:t>
                      </a:r>
                      <a:endParaRPr lang="en-US" sz="1800" dirty="0">
                        <a:solidFill>
                          <a:srgbClr val="000000"/>
                        </a:solidFill>
                        <a:effectLst/>
                        <a:latin typeface="Calibri"/>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5715" marR="26035">
                        <a:lnSpc>
                          <a:spcPct val="115000"/>
                        </a:lnSpc>
                        <a:spcBef>
                          <a:spcPts val="0"/>
                        </a:spcBef>
                        <a:spcAft>
                          <a:spcPts val="0"/>
                        </a:spcAft>
                      </a:pPr>
                      <a:r>
                        <a:rPr lang="en-IN" sz="1800" dirty="0">
                          <a:solidFill>
                            <a:srgbClr val="000000"/>
                          </a:solidFill>
                          <a:effectLst/>
                          <a:latin typeface="Calibri"/>
                          <a:ea typeface="Calibri"/>
                          <a:cs typeface="Calibri"/>
                        </a:rPr>
                        <a:t>T1:</a:t>
                      </a:r>
                      <a:endParaRPr lang="en-US" sz="1800" dirty="0">
                        <a:solidFill>
                          <a:srgbClr val="000000"/>
                        </a:solidFill>
                        <a:effectLst/>
                        <a:latin typeface="Calibri"/>
                        <a:ea typeface="Calibri"/>
                        <a:cs typeface="Calibri"/>
                      </a:endParaRPr>
                    </a:p>
                    <a:p>
                      <a:pPr marL="5715" marR="26035">
                        <a:lnSpc>
                          <a:spcPct val="115000"/>
                        </a:lnSpc>
                        <a:spcBef>
                          <a:spcPts val="0"/>
                        </a:spcBef>
                        <a:spcAft>
                          <a:spcPts val="0"/>
                        </a:spcAft>
                      </a:pPr>
                      <a:r>
                        <a:rPr lang="en-IN" sz="1800" dirty="0">
                          <a:solidFill>
                            <a:srgbClr val="000000"/>
                          </a:solidFill>
                          <a:effectLst/>
                          <a:latin typeface="Calibri"/>
                          <a:ea typeface="Calibri"/>
                          <a:cs typeface="Calibri"/>
                        </a:rPr>
                        <a:t>Ch11: 11.1 - 11.4</a:t>
                      </a:r>
                      <a:endParaRPr lang="en-US" sz="1800" dirty="0">
                        <a:solidFill>
                          <a:srgbClr val="000000"/>
                        </a:solidFill>
                        <a:effectLst/>
                        <a:latin typeface="Calibri"/>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8688790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9"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The complete collection of instructions that are understood by a CPU</a:t>
            </a:r>
          </a:p>
          <a:p>
            <a:pPr>
              <a:buFont typeface="Arial" panose="020B0604020202020204" pitchFamily="34" charset="0"/>
              <a:buChar char="•"/>
            </a:pPr>
            <a:r>
              <a:rPr lang="en-US" altLang="en-US" dirty="0">
                <a:latin typeface="Comic Sans MS" panose="030F0702030302020204" pitchFamily="66" charset="0"/>
              </a:rPr>
              <a:t>Machine Code</a:t>
            </a:r>
          </a:p>
          <a:p>
            <a:pPr>
              <a:buFont typeface="Arial" panose="020B0604020202020204" pitchFamily="34" charset="0"/>
              <a:buChar char="•"/>
            </a:pPr>
            <a:r>
              <a:rPr lang="en-US" altLang="en-US" dirty="0">
                <a:latin typeface="Comic Sans MS" panose="030F0702030302020204" pitchFamily="66" charset="0"/>
              </a:rPr>
              <a:t>Binary</a:t>
            </a:r>
          </a:p>
          <a:p>
            <a:pPr>
              <a:buFont typeface="Arial" panose="020B0604020202020204" pitchFamily="34" charset="0"/>
              <a:buChar char="•"/>
            </a:pPr>
            <a:r>
              <a:rPr lang="en-US" altLang="en-US" dirty="0">
                <a:latin typeface="Comic Sans MS" panose="030F0702030302020204" pitchFamily="66" charset="0"/>
              </a:rPr>
              <a:t>Usually represented by assembly codes</a:t>
            </a:r>
          </a:p>
          <a:p>
            <a:pPr>
              <a:buFont typeface="Arial" panose="020B0604020202020204" pitchFamily="34" charset="0"/>
              <a:buChar char="•"/>
            </a:pPr>
            <a:endParaRPr lang="en-US" altLang="en-US" dirty="0">
              <a:latin typeface="Comic Sans MS" panose="030F0702030302020204" pitchFamily="66" charset="0"/>
            </a:endParaRPr>
          </a:p>
        </p:txBody>
      </p:sp>
      <p:sp>
        <p:nvSpPr>
          <p:cNvPr id="6148"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fontScale="90000"/>
          </a:bodyPr>
          <a:lstStyle/>
          <a:p>
            <a:r>
              <a:rPr lang="en-US" altLang="en-US" dirty="0">
                <a:solidFill>
                  <a:srgbClr val="C00000"/>
                </a:solidFill>
              </a:rPr>
              <a:t>What is an Instruction Set?</a:t>
            </a:r>
          </a:p>
        </p:txBody>
      </p:sp>
    </p:spTree>
    <p:extLst>
      <p:ext uri="{BB962C8B-B14F-4D97-AF65-F5344CB8AC3E}">
        <p14:creationId xmlns:p14="http://schemas.microsoft.com/office/powerpoint/2010/main" val="2176680357"/>
      </p:ext>
    </p:extLst>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5"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7"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Operation code (Op code)</a:t>
            </a:r>
          </a:p>
          <a:p>
            <a:pPr lvl="1"/>
            <a:r>
              <a:rPr lang="en-US" altLang="en-US" sz="2400" dirty="0">
                <a:latin typeface="Comic Sans MS" panose="030F0702030302020204" pitchFamily="66" charset="0"/>
              </a:rPr>
              <a:t>Do this</a:t>
            </a:r>
          </a:p>
          <a:p>
            <a:pPr>
              <a:buFont typeface="Arial" panose="020B0604020202020204" pitchFamily="34" charset="0"/>
              <a:buChar char="•"/>
            </a:pPr>
            <a:r>
              <a:rPr lang="en-US" altLang="en-US" dirty="0">
                <a:latin typeface="Comic Sans MS" panose="030F0702030302020204" pitchFamily="66" charset="0"/>
              </a:rPr>
              <a:t>Source Operand reference</a:t>
            </a:r>
          </a:p>
          <a:p>
            <a:pPr lvl="1"/>
            <a:r>
              <a:rPr lang="en-US" altLang="en-US" sz="2400" dirty="0">
                <a:latin typeface="Comic Sans MS" panose="030F0702030302020204" pitchFamily="66" charset="0"/>
              </a:rPr>
              <a:t>To this</a:t>
            </a:r>
          </a:p>
          <a:p>
            <a:pPr>
              <a:buFont typeface="Arial" panose="020B0604020202020204" pitchFamily="34" charset="0"/>
              <a:buChar char="•"/>
            </a:pPr>
            <a:r>
              <a:rPr lang="en-US" altLang="en-US" dirty="0">
                <a:latin typeface="Comic Sans MS" panose="030F0702030302020204" pitchFamily="66" charset="0"/>
              </a:rPr>
              <a:t>Result Operand reference</a:t>
            </a:r>
          </a:p>
          <a:p>
            <a:pPr lvl="1"/>
            <a:r>
              <a:rPr lang="en-US" altLang="en-US" sz="2400" dirty="0">
                <a:latin typeface="Comic Sans MS" panose="030F0702030302020204" pitchFamily="66" charset="0"/>
              </a:rPr>
              <a:t>Put the answer here</a:t>
            </a:r>
          </a:p>
          <a:p>
            <a:pPr>
              <a:buFont typeface="Arial" panose="020B0604020202020204" pitchFamily="34" charset="0"/>
              <a:buChar char="•"/>
            </a:pPr>
            <a:r>
              <a:rPr lang="en-US" altLang="en-US" dirty="0">
                <a:latin typeface="Comic Sans MS" panose="030F0702030302020204" pitchFamily="66" charset="0"/>
              </a:rPr>
              <a:t>Next Instruction Reference</a:t>
            </a:r>
          </a:p>
          <a:p>
            <a:pPr lvl="1"/>
            <a:r>
              <a:rPr lang="en-US" altLang="en-US" sz="2400" dirty="0">
                <a:latin typeface="Comic Sans MS" panose="030F0702030302020204" pitchFamily="66" charset="0"/>
              </a:rPr>
              <a:t>When you have done that, do this...</a:t>
            </a:r>
          </a:p>
        </p:txBody>
      </p:sp>
      <p:sp>
        <p:nvSpPr>
          <p:cNvPr id="8196"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Elements of an Instruction</a:t>
            </a:r>
          </a:p>
        </p:txBody>
      </p:sp>
    </p:spTree>
    <p:extLst>
      <p:ext uri="{BB962C8B-B14F-4D97-AF65-F5344CB8AC3E}">
        <p14:creationId xmlns:p14="http://schemas.microsoft.com/office/powerpoint/2010/main" val="2801574098"/>
      </p:ext>
    </p:extLst>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3"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marL="0" indent="0"/>
            <a:r>
              <a:rPr lang="en-US" altLang="en-US" dirty="0" smtClean="0">
                <a:latin typeface="Comic Sans MS" panose="030F0702030302020204" pitchFamily="66" charset="0"/>
              </a:rPr>
              <a:t>Can be in four areas</a:t>
            </a:r>
          </a:p>
          <a:p>
            <a:pPr>
              <a:buFont typeface="Arial" panose="020B0604020202020204" pitchFamily="34" charset="0"/>
              <a:buChar char="•"/>
            </a:pPr>
            <a:r>
              <a:rPr lang="en-US" altLang="en-US" dirty="0" smtClean="0">
                <a:latin typeface="Comic Sans MS" panose="030F0702030302020204" pitchFamily="66" charset="0"/>
              </a:rPr>
              <a:t>Main </a:t>
            </a:r>
            <a:r>
              <a:rPr lang="en-US" altLang="en-US" dirty="0">
                <a:latin typeface="Comic Sans MS" panose="030F0702030302020204" pitchFamily="66" charset="0"/>
              </a:rPr>
              <a:t>memory (or virtual memory or cache)</a:t>
            </a:r>
          </a:p>
          <a:p>
            <a:pPr>
              <a:buFont typeface="Arial" panose="020B0604020202020204" pitchFamily="34" charset="0"/>
              <a:buChar char="•"/>
            </a:pPr>
            <a:r>
              <a:rPr lang="en-US" altLang="en-US" dirty="0">
                <a:latin typeface="Comic Sans MS" panose="030F0702030302020204" pitchFamily="66" charset="0"/>
              </a:rPr>
              <a:t>CPU register</a:t>
            </a:r>
          </a:p>
          <a:p>
            <a:pPr>
              <a:buFont typeface="Arial" panose="020B0604020202020204" pitchFamily="34" charset="0"/>
              <a:buChar char="•"/>
            </a:pPr>
            <a:r>
              <a:rPr lang="en-US" altLang="en-US" dirty="0">
                <a:latin typeface="Comic Sans MS" panose="030F0702030302020204" pitchFamily="66" charset="0"/>
              </a:rPr>
              <a:t>I/O </a:t>
            </a:r>
            <a:r>
              <a:rPr lang="en-US" altLang="en-US" dirty="0" smtClean="0">
                <a:latin typeface="Comic Sans MS" panose="030F0702030302020204" pitchFamily="66" charset="0"/>
              </a:rPr>
              <a:t>device</a:t>
            </a:r>
            <a:endParaRPr lang="en-US" altLang="en-US" dirty="0">
              <a:latin typeface="Comic Sans MS" panose="030F0702030302020204" pitchFamily="66" charset="0"/>
            </a:endParaRPr>
          </a:p>
          <a:p>
            <a:pPr>
              <a:buFont typeface="Arial" panose="020B0604020202020204" pitchFamily="34" charset="0"/>
              <a:buChar char="•"/>
            </a:pPr>
            <a:r>
              <a:rPr lang="en-US" altLang="en-US" dirty="0" smtClean="0">
                <a:latin typeface="Comic Sans MS" panose="030F0702030302020204" pitchFamily="66" charset="0"/>
              </a:rPr>
              <a:t>Immediate</a:t>
            </a:r>
            <a:endParaRPr lang="en-US" altLang="en-US" dirty="0">
              <a:latin typeface="Comic Sans MS" panose="030F0702030302020204" pitchFamily="66" charset="0"/>
            </a:endParaRPr>
          </a:p>
        </p:txBody>
      </p:sp>
      <p:sp>
        <p:nvSpPr>
          <p:cNvPr id="10244"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fontScale="90000"/>
          </a:bodyPr>
          <a:lstStyle/>
          <a:p>
            <a:r>
              <a:rPr lang="en-US" altLang="en-US" dirty="0" smtClean="0">
                <a:solidFill>
                  <a:srgbClr val="C00000"/>
                </a:solidFill>
              </a:rPr>
              <a:t>Source and Destination Operands</a:t>
            </a:r>
            <a:endParaRPr lang="en-US" altLang="en-US" dirty="0">
              <a:solidFill>
                <a:srgbClr val="C00000"/>
              </a:solidFill>
            </a:endParaRPr>
          </a:p>
        </p:txBody>
      </p:sp>
    </p:spTree>
    <p:extLst>
      <p:ext uri="{BB962C8B-B14F-4D97-AF65-F5344CB8AC3E}">
        <p14:creationId xmlns:p14="http://schemas.microsoft.com/office/powerpoint/2010/main" val="433258021"/>
      </p:ext>
    </p:extLst>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0" y="274638"/>
            <a:ext cx="6121400" cy="850900"/>
          </a:xfrm>
        </p:spPr>
        <p:txBody>
          <a:bodyPr>
            <a:normAutofit fontScale="90000"/>
          </a:bodyPr>
          <a:lstStyle/>
          <a:p>
            <a:r>
              <a:rPr lang="en-GB" altLang="en-US" dirty="0">
                <a:solidFill>
                  <a:srgbClr val="C00000"/>
                </a:solidFill>
              </a:rPr>
              <a:t>Instruction Cycle State Diagram</a:t>
            </a:r>
          </a:p>
        </p:txBody>
      </p:sp>
      <p:pic>
        <p:nvPicPr>
          <p:cNvPr id="75781" name="Picture 5"/>
          <p:cNvPicPr>
            <a:picLocks noChangeAspect="1" noChangeArrowheads="1"/>
          </p:cNvPicPr>
          <p:nvPr/>
        </p:nvPicPr>
        <p:blipFill>
          <a:blip r:embed="rId2">
            <a:extLst>
              <a:ext uri="{28A0092B-C50C-407E-A947-70E740481C1C}">
                <a14:useLocalDpi xmlns:a14="http://schemas.microsoft.com/office/drawing/2010/main" val="0"/>
              </a:ext>
            </a:extLst>
          </a:blip>
          <a:srcRect b="28612"/>
          <a:stretch>
            <a:fillRect/>
          </a:stretch>
        </p:blipFill>
        <p:spPr bwMode="auto">
          <a:xfrm>
            <a:off x="527050" y="1406525"/>
            <a:ext cx="8088313" cy="407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79107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1"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3"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In machine code each instruction has a unique bit pattern</a:t>
            </a:r>
          </a:p>
          <a:p>
            <a:pPr>
              <a:buFont typeface="Arial" panose="020B0604020202020204" pitchFamily="34" charset="0"/>
              <a:buChar char="•"/>
            </a:pPr>
            <a:r>
              <a:rPr lang="en-US" altLang="en-US" dirty="0">
                <a:latin typeface="Comic Sans MS" panose="030F0702030302020204" pitchFamily="66" charset="0"/>
              </a:rPr>
              <a:t>For human consumption (well, programmers anyway) a symbolic representation is used</a:t>
            </a:r>
          </a:p>
          <a:p>
            <a:pPr lvl="1"/>
            <a:r>
              <a:rPr lang="en-US" altLang="en-US" sz="2400" dirty="0">
                <a:latin typeface="Comic Sans MS" panose="030F0702030302020204" pitchFamily="66" charset="0"/>
              </a:rPr>
              <a:t>e.g. ADD, SUB, LOAD</a:t>
            </a:r>
          </a:p>
          <a:p>
            <a:pPr>
              <a:buFont typeface="Arial" panose="020B0604020202020204" pitchFamily="34" charset="0"/>
              <a:buChar char="•"/>
            </a:pPr>
            <a:r>
              <a:rPr lang="en-US" altLang="en-US" dirty="0">
                <a:latin typeface="Comic Sans MS" panose="030F0702030302020204" pitchFamily="66" charset="0"/>
              </a:rPr>
              <a:t>Operands can also be represented in this way</a:t>
            </a:r>
          </a:p>
          <a:p>
            <a:pPr lvl="1"/>
            <a:r>
              <a:rPr lang="en-US" altLang="en-US" sz="2400" dirty="0">
                <a:latin typeface="Comic Sans MS" panose="030F0702030302020204" pitchFamily="66" charset="0"/>
              </a:rPr>
              <a:t>ADD A,B</a:t>
            </a:r>
          </a:p>
        </p:txBody>
      </p:sp>
      <p:sp>
        <p:nvSpPr>
          <p:cNvPr id="12292"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fontScale="90000"/>
          </a:bodyPr>
          <a:lstStyle/>
          <a:p>
            <a:r>
              <a:rPr lang="en-US" altLang="en-US" dirty="0">
                <a:solidFill>
                  <a:srgbClr val="C00000"/>
                </a:solidFill>
              </a:rPr>
              <a:t>Instruction Representation</a:t>
            </a:r>
          </a:p>
        </p:txBody>
      </p:sp>
    </p:spTree>
    <p:extLst>
      <p:ext uri="{BB962C8B-B14F-4D97-AF65-F5344CB8AC3E}">
        <p14:creationId xmlns:p14="http://schemas.microsoft.com/office/powerpoint/2010/main" val="875273336"/>
      </p:ext>
    </p:extLst>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0" y="274638"/>
            <a:ext cx="6121400" cy="850900"/>
          </a:xfrm>
        </p:spPr>
        <p:txBody>
          <a:bodyPr/>
          <a:lstStyle/>
          <a:p>
            <a:r>
              <a:rPr lang="en-GB" altLang="en-US" dirty="0">
                <a:solidFill>
                  <a:srgbClr val="C00000"/>
                </a:solidFill>
              </a:rPr>
              <a:t>Simple Instruction Format</a:t>
            </a:r>
          </a:p>
        </p:txBody>
      </p:sp>
      <p:pic>
        <p:nvPicPr>
          <p:cNvPr id="76804" name="Picture 4"/>
          <p:cNvPicPr>
            <a:picLocks noChangeAspect="1" noChangeArrowheads="1"/>
          </p:cNvPicPr>
          <p:nvPr/>
        </p:nvPicPr>
        <p:blipFill>
          <a:blip r:embed="rId2">
            <a:extLst>
              <a:ext uri="{28A0092B-C50C-407E-A947-70E740481C1C}">
                <a14:useLocalDpi xmlns:a14="http://schemas.microsoft.com/office/drawing/2010/main" val="0"/>
              </a:ext>
            </a:extLst>
          </a:blip>
          <a:srcRect l="13094" t="27504" r="13094" b="50000"/>
          <a:stretch>
            <a:fillRect/>
          </a:stretch>
        </p:blipFill>
        <p:spPr bwMode="auto">
          <a:xfrm>
            <a:off x="0" y="1318113"/>
            <a:ext cx="9144000"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0" y="3470763"/>
            <a:ext cx="9144000" cy="3416320"/>
          </a:xfrm>
          <a:prstGeom prst="rect">
            <a:avLst/>
          </a:prstGeom>
        </p:spPr>
        <p:txBody>
          <a:bodyPr wrap="square">
            <a:spAutoFit/>
          </a:bodyPr>
          <a:lstStyle/>
          <a:p>
            <a:pPr marL="342900" indent="-342900">
              <a:buFont typeface="Arial" panose="020B0604020202020204" pitchFamily="34" charset="0"/>
              <a:buChar char="•"/>
            </a:pPr>
            <a:r>
              <a:rPr lang="en-US" sz="2400" dirty="0">
                <a:latin typeface="Comic Sans MS" panose="030F0702030302020204" pitchFamily="66" charset="0"/>
              </a:rPr>
              <a:t>During instruction execution, an </a:t>
            </a:r>
            <a:r>
              <a:rPr lang="en-US" sz="2400" dirty="0" smtClean="0">
                <a:latin typeface="Comic Sans MS" panose="030F0702030302020204" pitchFamily="66" charset="0"/>
              </a:rPr>
              <a:t>instruction is </a:t>
            </a:r>
            <a:r>
              <a:rPr lang="en-US" sz="2400" dirty="0">
                <a:latin typeface="Comic Sans MS" panose="030F0702030302020204" pitchFamily="66" charset="0"/>
              </a:rPr>
              <a:t>read into an instruction register (IR) in the processor. </a:t>
            </a:r>
            <a:endParaRPr lang="en-US" sz="2400" dirty="0" smtClean="0">
              <a:latin typeface="Comic Sans MS" panose="030F0702030302020204" pitchFamily="66" charset="0"/>
            </a:endParaRPr>
          </a:p>
          <a:p>
            <a:pPr marL="342900" indent="-342900">
              <a:buFont typeface="Arial" panose="020B0604020202020204" pitchFamily="34" charset="0"/>
              <a:buChar char="•"/>
            </a:pPr>
            <a:r>
              <a:rPr lang="en-US" sz="2400" dirty="0" smtClean="0">
                <a:latin typeface="Comic Sans MS" panose="030F0702030302020204" pitchFamily="66" charset="0"/>
              </a:rPr>
              <a:t>The processor must </a:t>
            </a:r>
            <a:r>
              <a:rPr lang="en-US" sz="2400" dirty="0">
                <a:latin typeface="Comic Sans MS" panose="030F0702030302020204" pitchFamily="66" charset="0"/>
              </a:rPr>
              <a:t>be able to extract the data from the various instruction fields to perform </a:t>
            </a:r>
            <a:r>
              <a:rPr lang="en-US" sz="2400" dirty="0" smtClean="0">
                <a:latin typeface="Comic Sans MS" panose="030F0702030302020204" pitchFamily="66" charset="0"/>
              </a:rPr>
              <a:t>the required </a:t>
            </a:r>
            <a:r>
              <a:rPr lang="en-US" sz="2400" dirty="0">
                <a:latin typeface="Comic Sans MS" panose="030F0702030302020204" pitchFamily="66" charset="0"/>
              </a:rPr>
              <a:t>operation</a:t>
            </a:r>
            <a:r>
              <a:rPr lang="en-US" sz="2400" dirty="0" smtClean="0">
                <a:latin typeface="Comic Sans MS" panose="030F0702030302020204" pitchFamily="66" charset="0"/>
              </a:rPr>
              <a:t>.</a:t>
            </a:r>
          </a:p>
          <a:p>
            <a:pPr marL="342900" indent="-342900">
              <a:buFont typeface="Arial" panose="020B0604020202020204" pitchFamily="34" charset="0"/>
              <a:buChar char="•"/>
            </a:pPr>
            <a:r>
              <a:rPr lang="en-US" sz="2400" dirty="0">
                <a:latin typeface="Comic Sans MS" panose="030F0702030302020204" pitchFamily="66" charset="0"/>
              </a:rPr>
              <a:t>Opcodes are represented by abbreviations, called </a:t>
            </a:r>
            <a:r>
              <a:rPr lang="en-US" sz="2400" b="1" i="1" dirty="0" smtClean="0">
                <a:solidFill>
                  <a:srgbClr val="C00000"/>
                </a:solidFill>
                <a:latin typeface="Comic Sans MS" panose="030F0702030302020204" pitchFamily="66" charset="0"/>
              </a:rPr>
              <a:t>mnemonics</a:t>
            </a:r>
          </a:p>
          <a:p>
            <a:r>
              <a:rPr lang="en-US" sz="2400" dirty="0" smtClean="0">
                <a:latin typeface="Comic Sans MS" panose="030F0702030302020204" pitchFamily="66" charset="0"/>
              </a:rPr>
              <a:t>	Example: ADD AX, BX </a:t>
            </a:r>
            <a:r>
              <a:rPr lang="en-US" sz="2400" dirty="0" smtClean="0">
                <a:latin typeface="Comic Sans MS" panose="030F0702030302020204" pitchFamily="66" charset="0"/>
                <a:sym typeface="Wingdings" panose="05000000000000000000" pitchFamily="2" charset="2"/>
              </a:rPr>
              <a:t> Add instruction</a:t>
            </a:r>
          </a:p>
          <a:p>
            <a:pPr marL="342900" indent="-342900">
              <a:buFont typeface="Arial" panose="020B0604020202020204" pitchFamily="34" charset="0"/>
              <a:buChar char="•"/>
            </a:pPr>
            <a:r>
              <a:rPr lang="en-US" sz="2400" dirty="0" smtClean="0">
                <a:latin typeface="Comic Sans MS" panose="030F0702030302020204" pitchFamily="66" charset="0"/>
              </a:rPr>
              <a:t>Operands can also be represented </a:t>
            </a:r>
            <a:r>
              <a:rPr lang="en-US" sz="2400" dirty="0" err="1" smtClean="0">
                <a:latin typeface="Comic Sans MS" panose="030F0702030302020204" pitchFamily="66" charset="0"/>
              </a:rPr>
              <a:t>symobolically</a:t>
            </a:r>
            <a:endParaRPr lang="en-US" sz="2400" dirty="0" smtClean="0">
              <a:latin typeface="Comic Sans MS" panose="030F0702030302020204" pitchFamily="66" charset="0"/>
            </a:endParaRPr>
          </a:p>
          <a:p>
            <a:r>
              <a:rPr lang="en-US" sz="2400" dirty="0">
                <a:latin typeface="Comic Sans MS" panose="030F0702030302020204" pitchFamily="66" charset="0"/>
              </a:rPr>
              <a:t>	</a:t>
            </a:r>
            <a:r>
              <a:rPr lang="en-US" sz="2400" dirty="0" smtClean="0">
                <a:latin typeface="Comic Sans MS" panose="030F0702030302020204" pitchFamily="66" charset="0"/>
              </a:rPr>
              <a:t>Example ADD R, Y</a:t>
            </a:r>
            <a:endParaRPr lang="en-US" sz="2400" dirty="0">
              <a:latin typeface="Comic Sans MS" panose="030F0702030302020204" pitchFamily="66" charset="0"/>
            </a:endParaRPr>
          </a:p>
        </p:txBody>
      </p:sp>
    </p:spTree>
    <p:extLst>
      <p:ext uri="{BB962C8B-B14F-4D97-AF65-F5344CB8AC3E}">
        <p14:creationId xmlns:p14="http://schemas.microsoft.com/office/powerpoint/2010/main" val="21187698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9"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1"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Data </a:t>
            </a:r>
            <a:r>
              <a:rPr lang="en-US" altLang="en-US" dirty="0" smtClean="0">
                <a:latin typeface="Comic Sans MS" panose="030F0702030302020204" pitchFamily="66" charset="0"/>
              </a:rPr>
              <a:t>processing : </a:t>
            </a:r>
            <a:r>
              <a:rPr lang="en-US" dirty="0">
                <a:latin typeface="Comic Sans MS" panose="030F0702030302020204" pitchFamily="66" charset="0"/>
              </a:rPr>
              <a:t>Arithmetic and logic instructions</a:t>
            </a:r>
            <a:endParaRPr lang="en-US" altLang="en-US" dirty="0">
              <a:latin typeface="Comic Sans MS" panose="030F0702030302020204" pitchFamily="66" charset="0"/>
            </a:endParaRPr>
          </a:p>
          <a:p>
            <a:pPr>
              <a:buFont typeface="Arial" panose="020B0604020202020204" pitchFamily="34" charset="0"/>
              <a:buChar char="•"/>
            </a:pPr>
            <a:r>
              <a:rPr lang="en-US" altLang="en-US" dirty="0">
                <a:latin typeface="Comic Sans MS" panose="030F0702030302020204" pitchFamily="66" charset="0"/>
              </a:rPr>
              <a:t>Data storage (main memory</a:t>
            </a:r>
            <a:r>
              <a:rPr lang="en-US" altLang="en-US" dirty="0" smtClean="0">
                <a:latin typeface="Comic Sans MS" panose="030F0702030302020204" pitchFamily="66" charset="0"/>
              </a:rPr>
              <a:t>) : </a:t>
            </a:r>
            <a:r>
              <a:rPr lang="en-US" dirty="0">
                <a:latin typeface="Comic Sans MS" panose="030F0702030302020204" pitchFamily="66" charset="0"/>
              </a:rPr>
              <a:t>Movement of data into or out of register and or memory locations</a:t>
            </a:r>
            <a:endParaRPr lang="en-US" altLang="en-US" dirty="0">
              <a:latin typeface="Comic Sans MS" panose="030F0702030302020204" pitchFamily="66" charset="0"/>
            </a:endParaRPr>
          </a:p>
          <a:p>
            <a:pPr>
              <a:buFont typeface="Arial" panose="020B0604020202020204" pitchFamily="34" charset="0"/>
              <a:buChar char="•"/>
            </a:pPr>
            <a:r>
              <a:rPr lang="en-US" altLang="en-US" dirty="0">
                <a:latin typeface="Comic Sans MS" panose="030F0702030302020204" pitchFamily="66" charset="0"/>
              </a:rPr>
              <a:t>Data movement (I/O</a:t>
            </a:r>
            <a:r>
              <a:rPr lang="en-US" altLang="en-US" dirty="0" smtClean="0">
                <a:latin typeface="Comic Sans MS" panose="030F0702030302020204" pitchFamily="66" charset="0"/>
              </a:rPr>
              <a:t>) : </a:t>
            </a:r>
            <a:r>
              <a:rPr lang="en-US" dirty="0">
                <a:latin typeface="Comic Sans MS" panose="030F0702030302020204" pitchFamily="66" charset="0"/>
              </a:rPr>
              <a:t>I/O instructions</a:t>
            </a:r>
            <a:endParaRPr lang="en-US" altLang="en-US" dirty="0">
              <a:latin typeface="Comic Sans MS" panose="030F0702030302020204" pitchFamily="66" charset="0"/>
            </a:endParaRPr>
          </a:p>
          <a:p>
            <a:pPr>
              <a:buFont typeface="Arial" panose="020B0604020202020204" pitchFamily="34" charset="0"/>
              <a:buChar char="•"/>
            </a:pPr>
            <a:r>
              <a:rPr lang="en-US" altLang="en-US" dirty="0">
                <a:latin typeface="Comic Sans MS" panose="030F0702030302020204" pitchFamily="66" charset="0"/>
              </a:rPr>
              <a:t>Program flow control </a:t>
            </a:r>
            <a:r>
              <a:rPr lang="en-US" altLang="en-US" dirty="0" smtClean="0">
                <a:latin typeface="Comic Sans MS" panose="030F0702030302020204" pitchFamily="66" charset="0"/>
              </a:rPr>
              <a:t>: </a:t>
            </a:r>
            <a:r>
              <a:rPr lang="en-US" dirty="0">
                <a:latin typeface="Comic Sans MS" panose="030F0702030302020204" pitchFamily="66" charset="0"/>
              </a:rPr>
              <a:t>Test and branch instructions</a:t>
            </a:r>
            <a:endParaRPr lang="en-US" altLang="en-US" dirty="0">
              <a:latin typeface="Comic Sans MS" panose="030F0702030302020204" pitchFamily="66" charset="0"/>
            </a:endParaRPr>
          </a:p>
        </p:txBody>
      </p:sp>
      <p:sp>
        <p:nvSpPr>
          <p:cNvPr id="14340"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solidFill>
                  <a:srgbClr val="C00000"/>
                </a:solidFill>
              </a:rPr>
              <a:t>Instruction Types</a:t>
            </a:r>
          </a:p>
        </p:txBody>
      </p:sp>
    </p:spTree>
    <p:extLst>
      <p:ext uri="{BB962C8B-B14F-4D97-AF65-F5344CB8AC3E}">
        <p14:creationId xmlns:p14="http://schemas.microsoft.com/office/powerpoint/2010/main" val="214195895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34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7"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9"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latin typeface="Comic Sans MS" panose="030F0702030302020204" pitchFamily="66" charset="0"/>
              </a:rPr>
              <a:t>3 addresses</a:t>
            </a:r>
          </a:p>
          <a:p>
            <a:pPr lvl="1"/>
            <a:r>
              <a:rPr lang="en-US" altLang="en-US" sz="2400" dirty="0">
                <a:latin typeface="Comic Sans MS" panose="030F0702030302020204" pitchFamily="66" charset="0"/>
              </a:rPr>
              <a:t>Operand 1, Operand 2, Result</a:t>
            </a:r>
          </a:p>
          <a:p>
            <a:pPr lvl="1"/>
            <a:r>
              <a:rPr lang="en-US" altLang="en-US" sz="2400" dirty="0">
                <a:latin typeface="Comic Sans MS" panose="030F0702030302020204" pitchFamily="66" charset="0"/>
              </a:rPr>
              <a:t>a = b + c;</a:t>
            </a:r>
          </a:p>
          <a:p>
            <a:pPr lvl="1"/>
            <a:r>
              <a:rPr lang="en-US" altLang="en-US" sz="2400" dirty="0">
                <a:latin typeface="Comic Sans MS" panose="030F0702030302020204" pitchFamily="66" charset="0"/>
              </a:rPr>
              <a:t>May be a forth - next instruction (usually implicit)</a:t>
            </a:r>
          </a:p>
          <a:p>
            <a:pPr lvl="1"/>
            <a:r>
              <a:rPr lang="en-US" altLang="en-US" sz="2400" dirty="0">
                <a:latin typeface="Comic Sans MS" panose="030F0702030302020204" pitchFamily="66" charset="0"/>
              </a:rPr>
              <a:t>Not common</a:t>
            </a:r>
          </a:p>
          <a:p>
            <a:pPr lvl="1"/>
            <a:r>
              <a:rPr lang="en-US" altLang="en-US" sz="2400" dirty="0">
                <a:latin typeface="Comic Sans MS" panose="030F0702030302020204" pitchFamily="66" charset="0"/>
              </a:rPr>
              <a:t>Needs very long words to hold everything</a:t>
            </a:r>
          </a:p>
        </p:txBody>
      </p:sp>
      <p:sp>
        <p:nvSpPr>
          <p:cNvPr id="16388"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solidFill>
                  <a:srgbClr val="C00000"/>
                </a:solidFill>
              </a:rPr>
              <a:t>Number of Addresses (a)</a:t>
            </a:r>
          </a:p>
        </p:txBody>
      </p:sp>
    </p:spTree>
    <p:extLst>
      <p:ext uri="{BB962C8B-B14F-4D97-AF65-F5344CB8AC3E}">
        <p14:creationId xmlns:p14="http://schemas.microsoft.com/office/powerpoint/2010/main" val="2093948435"/>
      </p:ext>
    </p:extLst>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5"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7"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2 addresses</a:t>
            </a:r>
          </a:p>
          <a:p>
            <a:pPr lvl="1"/>
            <a:r>
              <a:rPr lang="en-US" altLang="en-US" sz="2400" dirty="0">
                <a:latin typeface="Comic Sans MS" panose="030F0702030302020204" pitchFamily="66" charset="0"/>
              </a:rPr>
              <a:t>One address doubles as operand and result</a:t>
            </a:r>
          </a:p>
          <a:p>
            <a:pPr lvl="1"/>
            <a:r>
              <a:rPr lang="en-US" altLang="en-US" sz="2400" dirty="0">
                <a:latin typeface="Comic Sans MS" panose="030F0702030302020204" pitchFamily="66" charset="0"/>
              </a:rPr>
              <a:t>a = a + b</a:t>
            </a:r>
          </a:p>
          <a:p>
            <a:pPr lvl="1"/>
            <a:r>
              <a:rPr lang="en-US" altLang="en-US" sz="2400" dirty="0">
                <a:latin typeface="Comic Sans MS" panose="030F0702030302020204" pitchFamily="66" charset="0"/>
              </a:rPr>
              <a:t>Reduces length of instruction</a:t>
            </a:r>
          </a:p>
          <a:p>
            <a:pPr lvl="1"/>
            <a:r>
              <a:rPr lang="en-US" altLang="en-US" sz="2400" dirty="0">
                <a:latin typeface="Comic Sans MS" panose="030F0702030302020204" pitchFamily="66" charset="0"/>
              </a:rPr>
              <a:t>Requires some extra work</a:t>
            </a:r>
          </a:p>
          <a:p>
            <a:pPr lvl="2"/>
            <a:r>
              <a:rPr lang="en-US" altLang="en-US" dirty="0">
                <a:latin typeface="Comic Sans MS" panose="030F0702030302020204" pitchFamily="66" charset="0"/>
              </a:rPr>
              <a:t>Temporary storage to hold some results</a:t>
            </a:r>
          </a:p>
        </p:txBody>
      </p:sp>
      <p:sp>
        <p:nvSpPr>
          <p:cNvPr id="18436"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Number of Addresses (b)</a:t>
            </a:r>
          </a:p>
        </p:txBody>
      </p:sp>
    </p:spTree>
    <p:extLst>
      <p:ext uri="{BB962C8B-B14F-4D97-AF65-F5344CB8AC3E}">
        <p14:creationId xmlns:p14="http://schemas.microsoft.com/office/powerpoint/2010/main" val="1966779118"/>
      </p:ext>
    </p:extLst>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3"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5"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1 address</a:t>
            </a:r>
          </a:p>
          <a:p>
            <a:pPr lvl="1"/>
            <a:r>
              <a:rPr lang="en-US" altLang="en-US" sz="2400" dirty="0">
                <a:latin typeface="Comic Sans MS" panose="030F0702030302020204" pitchFamily="66" charset="0"/>
              </a:rPr>
              <a:t>Implicit second address</a:t>
            </a:r>
          </a:p>
          <a:p>
            <a:pPr lvl="1"/>
            <a:r>
              <a:rPr lang="en-US" altLang="en-US" sz="2400" dirty="0">
                <a:latin typeface="Comic Sans MS" panose="030F0702030302020204" pitchFamily="66" charset="0"/>
              </a:rPr>
              <a:t>Usually a register (accumulator)</a:t>
            </a:r>
          </a:p>
          <a:p>
            <a:pPr lvl="1"/>
            <a:r>
              <a:rPr lang="en-US" altLang="en-US" sz="2400" dirty="0">
                <a:latin typeface="Comic Sans MS" panose="030F0702030302020204" pitchFamily="66" charset="0"/>
              </a:rPr>
              <a:t>Common on early machines</a:t>
            </a:r>
          </a:p>
          <a:p>
            <a:pPr>
              <a:buFont typeface="Monotype Sorts" pitchFamily="2" charset="2"/>
              <a:buChar char="y"/>
            </a:pPr>
            <a:endParaRPr lang="en-US" altLang="en-US" dirty="0">
              <a:latin typeface="Comic Sans MS" panose="030F0702030302020204" pitchFamily="66" charset="0"/>
            </a:endParaRPr>
          </a:p>
        </p:txBody>
      </p:sp>
      <p:sp>
        <p:nvSpPr>
          <p:cNvPr id="20484"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solidFill>
                  <a:srgbClr val="C00000"/>
                </a:solidFill>
              </a:rPr>
              <a:t>Number of Addresses (c)</a:t>
            </a:r>
          </a:p>
        </p:txBody>
      </p:sp>
    </p:spTree>
    <p:extLst>
      <p:ext uri="{BB962C8B-B14F-4D97-AF65-F5344CB8AC3E}">
        <p14:creationId xmlns:p14="http://schemas.microsoft.com/office/powerpoint/2010/main" val="3254188450"/>
      </p:ext>
    </p:extLst>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1"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3"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0 (zero) addresses</a:t>
            </a:r>
          </a:p>
          <a:p>
            <a:pPr lvl="1"/>
            <a:r>
              <a:rPr lang="en-US" altLang="en-US" sz="2400" dirty="0">
                <a:latin typeface="Comic Sans MS" panose="030F0702030302020204" pitchFamily="66" charset="0"/>
              </a:rPr>
              <a:t>All addresses implicit</a:t>
            </a:r>
          </a:p>
          <a:p>
            <a:pPr lvl="1"/>
            <a:r>
              <a:rPr lang="en-US" altLang="en-US" sz="2400" dirty="0">
                <a:latin typeface="Comic Sans MS" panose="030F0702030302020204" pitchFamily="66" charset="0"/>
              </a:rPr>
              <a:t>Uses a stack</a:t>
            </a:r>
          </a:p>
          <a:p>
            <a:pPr lvl="1"/>
            <a:r>
              <a:rPr lang="en-US" altLang="en-US" sz="2400" dirty="0">
                <a:latin typeface="Comic Sans MS" panose="030F0702030302020204" pitchFamily="66" charset="0"/>
              </a:rPr>
              <a:t>e.g. c = a + b</a:t>
            </a:r>
          </a:p>
          <a:p>
            <a:pPr marL="457200" lvl="1" indent="0">
              <a:buNone/>
            </a:pPr>
            <a:r>
              <a:rPr lang="en-US" altLang="en-US" sz="2400" dirty="0" smtClean="0">
                <a:latin typeface="Comic Sans MS" panose="030F0702030302020204" pitchFamily="66" charset="0"/>
              </a:rPr>
              <a:t>	push </a:t>
            </a:r>
            <a:r>
              <a:rPr lang="en-US" altLang="en-US" sz="2400" dirty="0">
                <a:latin typeface="Comic Sans MS" panose="030F0702030302020204" pitchFamily="66" charset="0"/>
              </a:rPr>
              <a:t>a</a:t>
            </a:r>
          </a:p>
          <a:p>
            <a:pPr marL="457200" lvl="1" indent="0">
              <a:buNone/>
            </a:pPr>
            <a:r>
              <a:rPr lang="en-US" altLang="en-US" sz="2400" dirty="0" smtClean="0">
                <a:latin typeface="Comic Sans MS" panose="030F0702030302020204" pitchFamily="66" charset="0"/>
              </a:rPr>
              <a:t>     </a:t>
            </a:r>
            <a:r>
              <a:rPr lang="en-US" altLang="en-US" sz="2400" dirty="0">
                <a:latin typeface="Comic Sans MS" panose="030F0702030302020204" pitchFamily="66" charset="0"/>
              </a:rPr>
              <a:t>push b</a:t>
            </a:r>
          </a:p>
          <a:p>
            <a:pPr marL="457200" lvl="1" indent="0">
              <a:buNone/>
            </a:pPr>
            <a:r>
              <a:rPr lang="en-US" altLang="en-US" sz="2400" dirty="0">
                <a:latin typeface="Comic Sans MS" panose="030F0702030302020204" pitchFamily="66" charset="0"/>
              </a:rPr>
              <a:t>      add</a:t>
            </a:r>
          </a:p>
          <a:p>
            <a:pPr marL="457200" lvl="1" indent="0">
              <a:buNone/>
            </a:pPr>
            <a:r>
              <a:rPr lang="en-US" altLang="en-US" sz="2400" dirty="0">
                <a:latin typeface="Comic Sans MS" panose="030F0702030302020204" pitchFamily="66" charset="0"/>
              </a:rPr>
              <a:t>      pop c</a:t>
            </a:r>
          </a:p>
          <a:p>
            <a:pPr lvl="1"/>
            <a:endParaRPr lang="en-US" altLang="en-US" sz="2400" dirty="0">
              <a:latin typeface="Comic Sans MS" panose="030F0702030302020204" pitchFamily="66" charset="0"/>
            </a:endParaRPr>
          </a:p>
          <a:p>
            <a:pPr>
              <a:buFont typeface="Monotype Sorts" pitchFamily="2" charset="2"/>
              <a:buChar char="y"/>
            </a:pPr>
            <a:endParaRPr lang="en-US" altLang="en-US" dirty="0">
              <a:latin typeface="Comic Sans MS" panose="030F0702030302020204" pitchFamily="66" charset="0"/>
            </a:endParaRPr>
          </a:p>
        </p:txBody>
      </p:sp>
      <p:sp>
        <p:nvSpPr>
          <p:cNvPr id="22532"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Number of Addresses (d)</a:t>
            </a:r>
          </a:p>
        </p:txBody>
      </p:sp>
    </p:spTree>
    <p:extLst>
      <p:ext uri="{BB962C8B-B14F-4D97-AF65-F5344CB8AC3E}">
        <p14:creationId xmlns:p14="http://schemas.microsoft.com/office/powerpoint/2010/main" val="1620339288"/>
      </p:ext>
    </p:extLst>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solidFill>
                  <a:srgbClr val="C00000"/>
                </a:solidFill>
              </a:rPr>
              <a:t>Example</a:t>
            </a:r>
            <a:endParaRPr lang="en-US" dirty="0">
              <a:solidFill>
                <a:srgbClr val="C00000"/>
              </a:solidFill>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985184"/>
            <a:ext cx="7772399" cy="5654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07523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79"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1"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More addresses</a:t>
            </a:r>
          </a:p>
          <a:p>
            <a:pPr lvl="1"/>
            <a:r>
              <a:rPr lang="en-US" altLang="en-US" sz="2400" dirty="0">
                <a:latin typeface="Comic Sans MS" panose="030F0702030302020204" pitchFamily="66" charset="0"/>
              </a:rPr>
              <a:t>More complex (powerful?) instructions</a:t>
            </a:r>
          </a:p>
          <a:p>
            <a:pPr lvl="1"/>
            <a:r>
              <a:rPr lang="en-US" altLang="en-US" sz="2400" dirty="0">
                <a:latin typeface="Comic Sans MS" panose="030F0702030302020204" pitchFamily="66" charset="0"/>
              </a:rPr>
              <a:t>More registers</a:t>
            </a:r>
          </a:p>
          <a:p>
            <a:pPr lvl="2"/>
            <a:r>
              <a:rPr lang="en-US" altLang="en-US" dirty="0">
                <a:latin typeface="Comic Sans MS" panose="030F0702030302020204" pitchFamily="66" charset="0"/>
              </a:rPr>
              <a:t>Inter-register operations are quicker</a:t>
            </a:r>
          </a:p>
          <a:p>
            <a:pPr lvl="1"/>
            <a:r>
              <a:rPr lang="en-US" altLang="en-US" sz="2400" dirty="0">
                <a:latin typeface="Comic Sans MS" panose="030F0702030302020204" pitchFamily="66" charset="0"/>
              </a:rPr>
              <a:t>Fewer instructions per program</a:t>
            </a:r>
          </a:p>
          <a:p>
            <a:pPr>
              <a:buFont typeface="Arial" panose="020B0604020202020204" pitchFamily="34" charset="0"/>
              <a:buChar char="•"/>
            </a:pPr>
            <a:r>
              <a:rPr lang="en-US" altLang="en-US" dirty="0">
                <a:latin typeface="Comic Sans MS" panose="030F0702030302020204" pitchFamily="66" charset="0"/>
              </a:rPr>
              <a:t>Fewer addresses</a:t>
            </a:r>
          </a:p>
          <a:p>
            <a:pPr lvl="1"/>
            <a:r>
              <a:rPr lang="en-US" altLang="en-US" sz="2400" dirty="0">
                <a:latin typeface="Comic Sans MS" panose="030F0702030302020204" pitchFamily="66" charset="0"/>
              </a:rPr>
              <a:t>Less complex (powerful?) instructions</a:t>
            </a:r>
          </a:p>
          <a:p>
            <a:pPr lvl="1"/>
            <a:r>
              <a:rPr lang="en-US" altLang="en-US" sz="2400" dirty="0">
                <a:latin typeface="Comic Sans MS" panose="030F0702030302020204" pitchFamily="66" charset="0"/>
              </a:rPr>
              <a:t>More instructions per program</a:t>
            </a:r>
          </a:p>
          <a:p>
            <a:pPr lvl="1"/>
            <a:r>
              <a:rPr lang="en-US" altLang="en-US" sz="2400" dirty="0">
                <a:latin typeface="Comic Sans MS" panose="030F0702030302020204" pitchFamily="66" charset="0"/>
              </a:rPr>
              <a:t>Faster fetch/execution of instructions</a:t>
            </a:r>
          </a:p>
          <a:p>
            <a:pPr>
              <a:buFont typeface="Monotype Sorts" pitchFamily="2" charset="2"/>
              <a:buChar char="y"/>
            </a:pPr>
            <a:endParaRPr lang="en-US" altLang="en-US" dirty="0">
              <a:latin typeface="Comic Sans MS" panose="030F0702030302020204" pitchFamily="66" charset="0"/>
            </a:endParaRPr>
          </a:p>
        </p:txBody>
      </p:sp>
      <p:sp>
        <p:nvSpPr>
          <p:cNvPr id="24580"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How Many Addresses</a:t>
            </a:r>
          </a:p>
        </p:txBody>
      </p:sp>
    </p:spTree>
    <p:extLst>
      <p:ext uri="{BB962C8B-B14F-4D97-AF65-F5344CB8AC3E}">
        <p14:creationId xmlns:p14="http://schemas.microsoft.com/office/powerpoint/2010/main" val="242198875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5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5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58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58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58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58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58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27"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29" name="Rectangle 5"/>
          <p:cNvSpPr>
            <a:spLocks noGrp="1" noChangeArrowheads="1"/>
          </p:cNvSpPr>
          <p:nvPr>
            <p:ph idx="1"/>
          </p:nvPr>
        </p:nvSpPr>
        <p:spPr>
          <a:xfrm>
            <a:off x="0" y="1371600"/>
            <a:ext cx="9144000" cy="4525963"/>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Operation repertoire</a:t>
            </a:r>
          </a:p>
          <a:p>
            <a:pPr lvl="1"/>
            <a:r>
              <a:rPr lang="en-US" altLang="en-US" sz="2400" dirty="0">
                <a:latin typeface="Comic Sans MS" panose="030F0702030302020204" pitchFamily="66" charset="0"/>
              </a:rPr>
              <a:t>How many ops?</a:t>
            </a:r>
          </a:p>
          <a:p>
            <a:pPr lvl="1"/>
            <a:r>
              <a:rPr lang="en-US" altLang="en-US" sz="2400" dirty="0">
                <a:latin typeface="Comic Sans MS" panose="030F0702030302020204" pitchFamily="66" charset="0"/>
              </a:rPr>
              <a:t>What can they do?</a:t>
            </a:r>
          </a:p>
          <a:p>
            <a:pPr lvl="1"/>
            <a:r>
              <a:rPr lang="en-US" altLang="en-US" sz="2400" dirty="0">
                <a:latin typeface="Comic Sans MS" panose="030F0702030302020204" pitchFamily="66" charset="0"/>
              </a:rPr>
              <a:t>How complex are they?</a:t>
            </a:r>
          </a:p>
          <a:p>
            <a:pPr>
              <a:buFont typeface="Arial" panose="020B0604020202020204" pitchFamily="34" charset="0"/>
              <a:buChar char="•"/>
            </a:pPr>
            <a:r>
              <a:rPr lang="en-US" altLang="en-US" dirty="0">
                <a:latin typeface="Comic Sans MS" panose="030F0702030302020204" pitchFamily="66" charset="0"/>
              </a:rPr>
              <a:t>Data types</a:t>
            </a:r>
          </a:p>
          <a:p>
            <a:pPr>
              <a:buFont typeface="Arial" panose="020B0604020202020204" pitchFamily="34" charset="0"/>
              <a:buChar char="•"/>
            </a:pPr>
            <a:r>
              <a:rPr lang="en-US" altLang="en-US" dirty="0">
                <a:latin typeface="Comic Sans MS" panose="030F0702030302020204" pitchFamily="66" charset="0"/>
              </a:rPr>
              <a:t>Instruction formats</a:t>
            </a:r>
          </a:p>
          <a:p>
            <a:pPr lvl="1"/>
            <a:r>
              <a:rPr lang="en-US" altLang="en-US" sz="2400" dirty="0">
                <a:latin typeface="Comic Sans MS" panose="030F0702030302020204" pitchFamily="66" charset="0"/>
              </a:rPr>
              <a:t>Length of op code field</a:t>
            </a:r>
          </a:p>
          <a:p>
            <a:pPr lvl="1"/>
            <a:r>
              <a:rPr lang="en-US" altLang="en-US" sz="2400" dirty="0">
                <a:latin typeface="Comic Sans MS" panose="030F0702030302020204" pitchFamily="66" charset="0"/>
              </a:rPr>
              <a:t>Number of </a:t>
            </a:r>
            <a:r>
              <a:rPr lang="en-US" altLang="en-US" sz="2400" dirty="0" smtClean="0">
                <a:latin typeface="Comic Sans MS" panose="030F0702030302020204" pitchFamily="66" charset="0"/>
              </a:rPr>
              <a:t>addresses</a:t>
            </a:r>
          </a:p>
          <a:p>
            <a:pPr>
              <a:buFont typeface="Arial" panose="020B0604020202020204" pitchFamily="34" charset="0"/>
              <a:buChar char="•"/>
            </a:pPr>
            <a:r>
              <a:rPr lang="en-US" altLang="en-US" dirty="0">
                <a:latin typeface="Comic Sans MS" panose="030F0702030302020204" pitchFamily="66" charset="0"/>
              </a:rPr>
              <a:t>Registers</a:t>
            </a:r>
          </a:p>
          <a:p>
            <a:pPr lvl="1"/>
            <a:r>
              <a:rPr lang="en-US" altLang="en-US" sz="2400" dirty="0">
                <a:latin typeface="Comic Sans MS" panose="030F0702030302020204" pitchFamily="66" charset="0"/>
              </a:rPr>
              <a:t>Number of CPU registers available</a:t>
            </a:r>
          </a:p>
          <a:p>
            <a:pPr lvl="1"/>
            <a:r>
              <a:rPr lang="en-US" altLang="en-US" sz="2400" dirty="0">
                <a:latin typeface="Comic Sans MS" panose="030F0702030302020204" pitchFamily="66" charset="0"/>
              </a:rPr>
              <a:t>Which operations can be performed on which registers?</a:t>
            </a:r>
          </a:p>
          <a:p>
            <a:pPr>
              <a:buFont typeface="Arial" panose="020B0604020202020204" pitchFamily="34" charset="0"/>
              <a:buChar char="•"/>
            </a:pPr>
            <a:r>
              <a:rPr lang="en-US" altLang="en-US" dirty="0">
                <a:latin typeface="Comic Sans MS" panose="030F0702030302020204" pitchFamily="66" charset="0"/>
              </a:rPr>
              <a:t>Addressing modes </a:t>
            </a:r>
            <a:endParaRPr lang="en-US" altLang="en-US" dirty="0" smtClean="0">
              <a:latin typeface="Comic Sans MS" panose="030F0702030302020204" pitchFamily="66" charset="0"/>
            </a:endParaRPr>
          </a:p>
          <a:p>
            <a:pPr>
              <a:buFont typeface="Arial" panose="020B0604020202020204" pitchFamily="34" charset="0"/>
              <a:buChar char="•"/>
            </a:pPr>
            <a:r>
              <a:rPr lang="en-US" altLang="en-US" dirty="0" smtClean="0">
                <a:latin typeface="Comic Sans MS" panose="030F0702030302020204" pitchFamily="66" charset="0"/>
              </a:rPr>
              <a:t>RISC </a:t>
            </a:r>
            <a:r>
              <a:rPr lang="en-US" altLang="en-US" dirty="0">
                <a:latin typeface="Comic Sans MS" panose="030F0702030302020204" pitchFamily="66" charset="0"/>
              </a:rPr>
              <a:t>v CISC</a:t>
            </a:r>
          </a:p>
          <a:p>
            <a:endParaRPr lang="en-US" altLang="en-US" dirty="0">
              <a:latin typeface="Comic Sans MS" panose="030F0702030302020204" pitchFamily="66" charset="0"/>
            </a:endParaRPr>
          </a:p>
          <a:p>
            <a:pPr>
              <a:buFont typeface="Monotype Sorts" pitchFamily="2" charset="2"/>
              <a:buChar char="y"/>
            </a:pPr>
            <a:endParaRPr lang="en-US" altLang="en-US" dirty="0">
              <a:latin typeface="Comic Sans MS" panose="030F0702030302020204" pitchFamily="66" charset="0"/>
            </a:endParaRPr>
          </a:p>
        </p:txBody>
      </p:sp>
      <p:sp>
        <p:nvSpPr>
          <p:cNvPr id="26628" name="Rectangle 4"/>
          <p:cNvSpPr>
            <a:spLocks noGrp="1" noChangeArrowheads="1"/>
          </p:cNvSpPr>
          <p:nvPr>
            <p:ph type="title" idx="4294967295"/>
          </p:nvPr>
        </p:nvSpPr>
        <p:spPr>
          <a:xfrm>
            <a:off x="0" y="274638"/>
            <a:ext cx="74676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a:bodyPr>
          <a:lstStyle/>
          <a:p>
            <a:r>
              <a:rPr lang="en-US" altLang="en-US" dirty="0" smtClean="0">
                <a:solidFill>
                  <a:srgbClr val="C00000"/>
                </a:solidFill>
              </a:rPr>
              <a:t>Instruction set Design </a:t>
            </a:r>
            <a:r>
              <a:rPr lang="en-US" altLang="en-US" dirty="0">
                <a:solidFill>
                  <a:srgbClr val="C00000"/>
                </a:solidFill>
              </a:rPr>
              <a:t>Decisions </a:t>
            </a:r>
          </a:p>
        </p:txBody>
      </p:sp>
    </p:spTree>
    <p:extLst>
      <p:ext uri="{BB962C8B-B14F-4D97-AF65-F5344CB8AC3E}">
        <p14:creationId xmlns:p14="http://schemas.microsoft.com/office/powerpoint/2010/main" val="1318055708"/>
      </p:ext>
    </p:extLst>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3"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5"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marL="0" indent="0"/>
            <a:r>
              <a:rPr lang="en-US" altLang="en-US" dirty="0" smtClean="0">
                <a:latin typeface="Comic Sans MS" panose="030F0702030302020204" pitchFamily="66" charset="0"/>
              </a:rPr>
              <a:t>Machine instructions operate on data</a:t>
            </a:r>
          </a:p>
          <a:p>
            <a:pPr>
              <a:buFont typeface="Arial" panose="020B0604020202020204" pitchFamily="34" charset="0"/>
              <a:buChar char="•"/>
            </a:pPr>
            <a:r>
              <a:rPr lang="en-US" altLang="en-US" dirty="0" smtClean="0">
                <a:latin typeface="Comic Sans MS" panose="030F0702030302020204" pitchFamily="66" charset="0"/>
              </a:rPr>
              <a:t>Addresses</a:t>
            </a:r>
            <a:endParaRPr lang="en-US" altLang="en-US" dirty="0">
              <a:latin typeface="Comic Sans MS" panose="030F0702030302020204" pitchFamily="66" charset="0"/>
            </a:endParaRPr>
          </a:p>
          <a:p>
            <a:pPr>
              <a:buFont typeface="Arial" panose="020B0604020202020204" pitchFamily="34" charset="0"/>
              <a:buChar char="•"/>
            </a:pPr>
            <a:r>
              <a:rPr lang="en-US" altLang="en-US" dirty="0">
                <a:latin typeface="Comic Sans MS" panose="030F0702030302020204" pitchFamily="66" charset="0"/>
              </a:rPr>
              <a:t>Numbers</a:t>
            </a:r>
          </a:p>
          <a:p>
            <a:pPr lvl="1"/>
            <a:r>
              <a:rPr lang="en-US" altLang="en-US" sz="2400" dirty="0" smtClean="0">
                <a:latin typeface="Comic Sans MS" panose="030F0702030302020204" pitchFamily="66" charset="0"/>
              </a:rPr>
              <a:t>Binary integer or binary fixed point, floating point, decimal</a:t>
            </a:r>
            <a:endParaRPr lang="en-US" altLang="en-US" sz="2400" dirty="0">
              <a:latin typeface="Comic Sans MS" panose="030F0702030302020204" pitchFamily="66" charset="0"/>
            </a:endParaRPr>
          </a:p>
          <a:p>
            <a:pPr>
              <a:buFont typeface="Arial" panose="020B0604020202020204" pitchFamily="34" charset="0"/>
              <a:buChar char="•"/>
            </a:pPr>
            <a:r>
              <a:rPr lang="en-US" altLang="en-US" dirty="0">
                <a:latin typeface="Comic Sans MS" panose="030F0702030302020204" pitchFamily="66" charset="0"/>
              </a:rPr>
              <a:t>Characters</a:t>
            </a:r>
          </a:p>
          <a:p>
            <a:pPr lvl="1"/>
            <a:r>
              <a:rPr lang="en-US" altLang="en-US" sz="2400" dirty="0">
                <a:latin typeface="Comic Sans MS" panose="030F0702030302020204" pitchFamily="66" charset="0"/>
              </a:rPr>
              <a:t>ASCII etc.</a:t>
            </a:r>
          </a:p>
          <a:p>
            <a:pPr>
              <a:buFont typeface="Arial" panose="020B0604020202020204" pitchFamily="34" charset="0"/>
              <a:buChar char="•"/>
            </a:pPr>
            <a:r>
              <a:rPr lang="en-US" altLang="en-US" dirty="0">
                <a:latin typeface="Comic Sans MS" panose="030F0702030302020204" pitchFamily="66" charset="0"/>
              </a:rPr>
              <a:t>Logical Data</a:t>
            </a:r>
          </a:p>
          <a:p>
            <a:pPr lvl="1"/>
            <a:r>
              <a:rPr lang="en-US" altLang="en-US" sz="2400" dirty="0">
                <a:latin typeface="Comic Sans MS" panose="030F0702030302020204" pitchFamily="66" charset="0"/>
              </a:rPr>
              <a:t>Bits or </a:t>
            </a:r>
            <a:r>
              <a:rPr lang="en-US" altLang="en-US" sz="2400" dirty="0" smtClean="0">
                <a:latin typeface="Comic Sans MS" panose="030F0702030302020204" pitchFamily="66" charset="0"/>
              </a:rPr>
              <a:t>flags</a:t>
            </a:r>
            <a:endParaRPr lang="en-US" altLang="en-US" sz="2400" dirty="0">
              <a:latin typeface="Comic Sans MS" panose="030F0702030302020204" pitchFamily="66" charset="0"/>
            </a:endParaRPr>
          </a:p>
        </p:txBody>
      </p:sp>
      <p:sp>
        <p:nvSpPr>
          <p:cNvPr id="30724"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Types of Operand</a:t>
            </a:r>
          </a:p>
        </p:txBody>
      </p:sp>
    </p:spTree>
    <p:extLst>
      <p:ext uri="{BB962C8B-B14F-4D97-AF65-F5344CB8AC3E}">
        <p14:creationId xmlns:p14="http://schemas.microsoft.com/office/powerpoint/2010/main" val="2865839514"/>
      </p:ext>
    </p:extLst>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solidFill>
                  <a:srgbClr val="C00000"/>
                </a:solidFill>
              </a:rPr>
              <a:t>Byte Ordering</a:t>
            </a:r>
            <a:endParaRPr lang="en-US" dirty="0">
              <a:solidFill>
                <a:srgbClr val="C00000"/>
              </a:solidFill>
            </a:endParaRP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734" y="1752601"/>
            <a:ext cx="9088265" cy="41740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88985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1"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3"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t>8 bit </a:t>
            </a:r>
            <a:r>
              <a:rPr lang="en-US" altLang="en-US" dirty="0" smtClean="0"/>
              <a:t>(Byte)</a:t>
            </a:r>
            <a:endParaRPr lang="en-US" altLang="en-US" dirty="0"/>
          </a:p>
          <a:p>
            <a:pPr>
              <a:buFont typeface="Arial" panose="020B0604020202020204" pitchFamily="34" charset="0"/>
              <a:buChar char="•"/>
            </a:pPr>
            <a:r>
              <a:rPr lang="en-US" altLang="en-US" dirty="0"/>
              <a:t>16 bit </a:t>
            </a:r>
            <a:r>
              <a:rPr lang="en-US" altLang="en-US" dirty="0" smtClean="0"/>
              <a:t>(word)</a:t>
            </a:r>
            <a:endParaRPr lang="en-US" altLang="en-US" dirty="0"/>
          </a:p>
          <a:p>
            <a:pPr>
              <a:buFont typeface="Arial" panose="020B0604020202020204" pitchFamily="34" charset="0"/>
              <a:buChar char="•"/>
            </a:pPr>
            <a:r>
              <a:rPr lang="en-US" altLang="en-US" dirty="0"/>
              <a:t>32 bit </a:t>
            </a:r>
            <a:r>
              <a:rPr lang="en-US" altLang="en-US" dirty="0" smtClean="0"/>
              <a:t>(double word)</a:t>
            </a:r>
            <a:endParaRPr lang="en-US" altLang="en-US" dirty="0"/>
          </a:p>
          <a:p>
            <a:pPr>
              <a:buFont typeface="Arial" panose="020B0604020202020204" pitchFamily="34" charset="0"/>
              <a:buChar char="•"/>
            </a:pPr>
            <a:r>
              <a:rPr lang="en-US" altLang="en-US" dirty="0"/>
              <a:t>64 bit </a:t>
            </a:r>
            <a:r>
              <a:rPr lang="en-US" altLang="en-US" dirty="0" smtClean="0"/>
              <a:t>(quad word)</a:t>
            </a:r>
          </a:p>
          <a:p>
            <a:pPr>
              <a:buFont typeface="Arial" panose="020B0604020202020204" pitchFamily="34" charset="0"/>
              <a:buChar char="•"/>
            </a:pPr>
            <a:r>
              <a:rPr lang="en-US" altLang="en-US" dirty="0" smtClean="0"/>
              <a:t>128 bit (double quad </a:t>
            </a:r>
            <a:r>
              <a:rPr lang="en-US" altLang="en-US" dirty="0"/>
              <a:t>word</a:t>
            </a:r>
            <a:r>
              <a:rPr lang="en-US" altLang="en-US" dirty="0" smtClean="0"/>
              <a:t>)</a:t>
            </a:r>
            <a:endParaRPr lang="en-US" altLang="en-US" dirty="0"/>
          </a:p>
          <a:p>
            <a:pPr>
              <a:buFont typeface="Arial" panose="020B0604020202020204" pitchFamily="34" charset="0"/>
              <a:buChar char="•"/>
            </a:pPr>
            <a:r>
              <a:rPr lang="en-US" altLang="en-US" dirty="0"/>
              <a:t>Addressing is by 8 bit unit</a:t>
            </a:r>
          </a:p>
          <a:p>
            <a:pPr>
              <a:buFont typeface="Arial" panose="020B0604020202020204" pitchFamily="34" charset="0"/>
              <a:buChar char="•"/>
            </a:pPr>
            <a:r>
              <a:rPr lang="en-US" altLang="en-US" dirty="0"/>
              <a:t>A 32 bit double word is read at addresses divisible by 4</a:t>
            </a:r>
          </a:p>
        </p:txBody>
      </p:sp>
      <p:sp>
        <p:nvSpPr>
          <p:cNvPr id="32772"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smtClean="0">
                <a:solidFill>
                  <a:srgbClr val="C00000"/>
                </a:solidFill>
              </a:rPr>
              <a:t>Intel x86 Data </a:t>
            </a:r>
            <a:r>
              <a:rPr lang="en-US" altLang="en-US" dirty="0">
                <a:solidFill>
                  <a:srgbClr val="C00000"/>
                </a:solidFill>
              </a:rPr>
              <a:t>Types</a:t>
            </a:r>
          </a:p>
        </p:txBody>
      </p:sp>
    </p:spTree>
    <p:extLst>
      <p:ext uri="{BB962C8B-B14F-4D97-AF65-F5344CB8AC3E}">
        <p14:creationId xmlns:p14="http://schemas.microsoft.com/office/powerpoint/2010/main" val="4290957035"/>
      </p:ext>
    </p:extLst>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19"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1"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General - arbitrary binary contents</a:t>
            </a:r>
          </a:p>
          <a:p>
            <a:pPr>
              <a:buFont typeface="Arial" panose="020B0604020202020204" pitchFamily="34" charset="0"/>
              <a:buChar char="•"/>
            </a:pPr>
            <a:r>
              <a:rPr lang="en-US" altLang="en-US" dirty="0">
                <a:latin typeface="Comic Sans MS" panose="030F0702030302020204" pitchFamily="66" charset="0"/>
              </a:rPr>
              <a:t>Integer - single binary value</a:t>
            </a:r>
          </a:p>
          <a:p>
            <a:pPr>
              <a:buFont typeface="Arial" panose="020B0604020202020204" pitchFamily="34" charset="0"/>
              <a:buChar char="•"/>
            </a:pPr>
            <a:r>
              <a:rPr lang="en-US" altLang="en-US" dirty="0">
                <a:latin typeface="Comic Sans MS" panose="030F0702030302020204" pitchFamily="66" charset="0"/>
              </a:rPr>
              <a:t>Ordinal - unsigned integer</a:t>
            </a:r>
          </a:p>
          <a:p>
            <a:pPr>
              <a:buFont typeface="Arial" panose="020B0604020202020204" pitchFamily="34" charset="0"/>
              <a:buChar char="•"/>
            </a:pPr>
            <a:r>
              <a:rPr lang="en-US" altLang="en-US" dirty="0">
                <a:latin typeface="Comic Sans MS" panose="030F0702030302020204" pitchFamily="66" charset="0"/>
              </a:rPr>
              <a:t>Unpacked BCD - One digit per byte</a:t>
            </a:r>
          </a:p>
          <a:p>
            <a:pPr>
              <a:buFont typeface="Arial" panose="020B0604020202020204" pitchFamily="34" charset="0"/>
              <a:buChar char="•"/>
            </a:pPr>
            <a:r>
              <a:rPr lang="en-US" altLang="en-US" dirty="0">
                <a:latin typeface="Comic Sans MS" panose="030F0702030302020204" pitchFamily="66" charset="0"/>
              </a:rPr>
              <a:t>Packed BCD - 2 BCD digits per byte</a:t>
            </a:r>
          </a:p>
          <a:p>
            <a:pPr>
              <a:buFont typeface="Arial" panose="020B0604020202020204" pitchFamily="34" charset="0"/>
              <a:buChar char="•"/>
            </a:pPr>
            <a:r>
              <a:rPr lang="en-US" altLang="en-US" dirty="0">
                <a:latin typeface="Comic Sans MS" panose="030F0702030302020204" pitchFamily="66" charset="0"/>
              </a:rPr>
              <a:t>Near Pointer - 32 bit offset within segment</a:t>
            </a:r>
          </a:p>
          <a:p>
            <a:pPr>
              <a:buFont typeface="Arial" panose="020B0604020202020204" pitchFamily="34" charset="0"/>
              <a:buChar char="•"/>
            </a:pPr>
            <a:r>
              <a:rPr lang="en-US" altLang="en-US" dirty="0">
                <a:latin typeface="Comic Sans MS" panose="030F0702030302020204" pitchFamily="66" charset="0"/>
              </a:rPr>
              <a:t>Bit field</a:t>
            </a:r>
          </a:p>
          <a:p>
            <a:pPr>
              <a:buFont typeface="Arial" panose="020B0604020202020204" pitchFamily="34" charset="0"/>
              <a:buChar char="•"/>
            </a:pPr>
            <a:r>
              <a:rPr lang="en-US" altLang="en-US" dirty="0">
                <a:latin typeface="Comic Sans MS" panose="030F0702030302020204" pitchFamily="66" charset="0"/>
              </a:rPr>
              <a:t>Byte String</a:t>
            </a:r>
          </a:p>
          <a:p>
            <a:pPr>
              <a:buFont typeface="Arial" panose="020B0604020202020204" pitchFamily="34" charset="0"/>
              <a:buChar char="•"/>
            </a:pPr>
            <a:r>
              <a:rPr lang="en-US" altLang="en-US" dirty="0">
                <a:latin typeface="Comic Sans MS" panose="030F0702030302020204" pitchFamily="66" charset="0"/>
              </a:rPr>
              <a:t>Floating Point</a:t>
            </a:r>
          </a:p>
        </p:txBody>
      </p:sp>
      <p:sp>
        <p:nvSpPr>
          <p:cNvPr id="34820"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x</a:t>
            </a:r>
            <a:r>
              <a:rPr lang="en-US" altLang="en-US" dirty="0" smtClean="0">
                <a:solidFill>
                  <a:srgbClr val="C00000"/>
                </a:solidFill>
              </a:rPr>
              <a:t>86 Specific </a:t>
            </a:r>
            <a:r>
              <a:rPr lang="en-US" altLang="en-US" dirty="0">
                <a:solidFill>
                  <a:srgbClr val="C00000"/>
                </a:solidFill>
              </a:rPr>
              <a:t>Data Types</a:t>
            </a:r>
          </a:p>
        </p:txBody>
      </p:sp>
    </p:spTree>
    <p:extLst>
      <p:ext uri="{BB962C8B-B14F-4D97-AF65-F5344CB8AC3E}">
        <p14:creationId xmlns:p14="http://schemas.microsoft.com/office/powerpoint/2010/main" val="38894143"/>
      </p:ext>
    </p:extLst>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0"/>
            <a:ext cx="8458200" cy="68516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21027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Arial" panose="020B0604020202020204" pitchFamily="34" charset="0"/>
              <a:buChar char="•"/>
            </a:pPr>
            <a:r>
              <a:rPr lang="en-US" dirty="0" smtClean="0"/>
              <a:t>To support multimedia applications the packed SIMD data types are introduced as extensions</a:t>
            </a:r>
          </a:p>
          <a:p>
            <a:pPr lvl="1">
              <a:buFont typeface="Arial" panose="020B0604020202020204" pitchFamily="34" charset="0"/>
              <a:buChar char="•"/>
            </a:pPr>
            <a:endParaRPr lang="en-US" dirty="0"/>
          </a:p>
        </p:txBody>
      </p:sp>
      <p:sp>
        <p:nvSpPr>
          <p:cNvPr id="3" name="Content Placeholder 2"/>
          <p:cNvSpPr>
            <a:spLocks noGrp="1"/>
          </p:cNvSpPr>
          <p:nvPr>
            <p:ph sz="quarter" idx="10"/>
          </p:nvPr>
        </p:nvSpPr>
        <p:spPr/>
        <p:txBody>
          <a:bodyPr/>
          <a:lstStyle/>
          <a:p>
            <a:r>
              <a:rPr lang="en-US" dirty="0" err="1" smtClean="0">
                <a:solidFill>
                  <a:srgbClr val="C00000"/>
                </a:solidFill>
              </a:rPr>
              <a:t>Contd</a:t>
            </a:r>
            <a:r>
              <a:rPr lang="en-US" dirty="0" smtClean="0">
                <a:solidFill>
                  <a:srgbClr val="C00000"/>
                </a:solidFill>
              </a:rPr>
              <a:t>…</a:t>
            </a:r>
            <a:endParaRPr lang="en-US" dirty="0">
              <a:solidFill>
                <a:srgbClr val="C00000"/>
              </a:solidFill>
            </a:endParaRPr>
          </a:p>
        </p:txBody>
      </p:sp>
    </p:spTree>
    <p:extLst>
      <p:ext uri="{BB962C8B-B14F-4D97-AF65-F5344CB8AC3E}">
        <p14:creationId xmlns:p14="http://schemas.microsoft.com/office/powerpoint/2010/main" val="18318024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67"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68"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fontScale="90000"/>
          </a:bodyPr>
          <a:lstStyle/>
          <a:p>
            <a:r>
              <a:rPr lang="en-US" altLang="en-US" dirty="0" smtClean="0">
                <a:solidFill>
                  <a:srgbClr val="C00000"/>
                </a:solidFill>
              </a:rPr>
              <a:t>x86 </a:t>
            </a:r>
            <a:r>
              <a:rPr lang="en-US" altLang="en-US" dirty="0">
                <a:solidFill>
                  <a:srgbClr val="C00000"/>
                </a:solidFill>
              </a:rPr>
              <a:t>Numeric Data Formats</a:t>
            </a:r>
          </a:p>
        </p:txBody>
      </p:sp>
      <p:pic>
        <p:nvPicPr>
          <p:cNvPr id="36871" name="Picture 7"/>
          <p:cNvPicPr>
            <a:picLocks noChangeAspect="1" noChangeArrowheads="1"/>
          </p:cNvPicPr>
          <p:nvPr/>
        </p:nvPicPr>
        <p:blipFill>
          <a:blip r:embed="rId3">
            <a:extLst>
              <a:ext uri="{28A0092B-C50C-407E-A947-70E740481C1C}">
                <a14:useLocalDpi xmlns:a14="http://schemas.microsoft.com/office/drawing/2010/main" val="0"/>
              </a:ext>
            </a:extLst>
          </a:blip>
          <a:srcRect l="10634" t="12009" r="7820" b="18521"/>
          <a:stretch>
            <a:fillRect/>
          </a:stretch>
        </p:blipFill>
        <p:spPr bwMode="auto">
          <a:xfrm>
            <a:off x="2971800" y="1066800"/>
            <a:ext cx="5248275"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5061189"/>
      </p:ext>
    </p:extLst>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Arial" panose="020B0604020202020204" pitchFamily="34" charset="0"/>
              <a:buChar char="•"/>
            </a:pPr>
            <a:r>
              <a:rPr lang="en-US" dirty="0">
                <a:latin typeface="Comic Sans MS" panose="030F0702030302020204" pitchFamily="66" charset="0"/>
              </a:rPr>
              <a:t>ARM processors support data types of 8 (byte), 16 (</a:t>
            </a:r>
            <a:r>
              <a:rPr lang="en-US" dirty="0" err="1">
                <a:latin typeface="Comic Sans MS" panose="030F0702030302020204" pitchFamily="66" charset="0"/>
              </a:rPr>
              <a:t>halfword</a:t>
            </a:r>
            <a:r>
              <a:rPr lang="en-US" dirty="0">
                <a:latin typeface="Comic Sans MS" panose="030F0702030302020204" pitchFamily="66" charset="0"/>
              </a:rPr>
              <a:t>), and 32 (word) bits </a:t>
            </a:r>
            <a:r>
              <a:rPr lang="en-US" dirty="0" smtClean="0">
                <a:latin typeface="Comic Sans MS" panose="030F0702030302020204" pitchFamily="66" charset="0"/>
              </a:rPr>
              <a:t>in length.</a:t>
            </a:r>
          </a:p>
          <a:p>
            <a:pPr>
              <a:buFont typeface="Arial" panose="020B0604020202020204" pitchFamily="34" charset="0"/>
              <a:buChar char="•"/>
            </a:pPr>
            <a:r>
              <a:rPr lang="en-US" dirty="0">
                <a:latin typeface="Comic Sans MS" panose="030F0702030302020204" pitchFamily="66" charset="0"/>
              </a:rPr>
              <a:t>For all three data types </a:t>
            </a:r>
            <a:r>
              <a:rPr lang="en-US" dirty="0" smtClean="0">
                <a:latin typeface="Comic Sans MS" panose="030F0702030302020204" pitchFamily="66" charset="0"/>
              </a:rPr>
              <a:t>an </a:t>
            </a:r>
            <a:r>
              <a:rPr lang="en-US" dirty="0">
                <a:latin typeface="Comic Sans MS" panose="030F0702030302020204" pitchFamily="66" charset="0"/>
              </a:rPr>
              <a:t>unsigned </a:t>
            </a:r>
            <a:r>
              <a:rPr lang="en-US" dirty="0" smtClean="0">
                <a:latin typeface="Comic Sans MS" panose="030F0702030302020204" pitchFamily="66" charset="0"/>
              </a:rPr>
              <a:t>interpretation is </a:t>
            </a:r>
            <a:r>
              <a:rPr lang="en-US" dirty="0">
                <a:latin typeface="Comic Sans MS" panose="030F0702030302020204" pitchFamily="66" charset="0"/>
              </a:rPr>
              <a:t>supported, in which the value represents an unsigned, nonnegative integer</a:t>
            </a:r>
            <a:r>
              <a:rPr lang="en-US" dirty="0" smtClean="0">
                <a:latin typeface="Comic Sans MS" panose="030F0702030302020204" pitchFamily="66" charset="0"/>
              </a:rPr>
              <a:t>.</a:t>
            </a:r>
          </a:p>
          <a:p>
            <a:pPr>
              <a:buFont typeface="Arial" panose="020B0604020202020204" pitchFamily="34" charset="0"/>
              <a:buChar char="•"/>
            </a:pPr>
            <a:r>
              <a:rPr lang="en-US" dirty="0" smtClean="0">
                <a:latin typeface="Comic Sans MS" panose="030F0702030302020204" pitchFamily="66" charset="0"/>
              </a:rPr>
              <a:t>All three </a:t>
            </a:r>
            <a:r>
              <a:rPr lang="en-US" dirty="0">
                <a:latin typeface="Comic Sans MS" panose="030F0702030302020204" pitchFamily="66" charset="0"/>
              </a:rPr>
              <a:t>data types can also be used for twos complement signed integers.</a:t>
            </a:r>
            <a:endParaRPr lang="en-US" dirty="0" smtClean="0">
              <a:latin typeface="Comic Sans MS" panose="030F0702030302020204" pitchFamily="66" charset="0"/>
            </a:endParaRPr>
          </a:p>
          <a:p>
            <a:pPr>
              <a:buFont typeface="Arial" panose="020B0604020202020204" pitchFamily="34" charset="0"/>
              <a:buChar char="•"/>
            </a:pPr>
            <a:r>
              <a:rPr lang="en-US" dirty="0" smtClean="0">
                <a:latin typeface="Comic Sans MS" panose="030F0702030302020204" pitchFamily="66" charset="0"/>
              </a:rPr>
              <a:t>Majority of ARM processors do not provide floating point hardware ( uses floating point co processor)</a:t>
            </a:r>
          </a:p>
          <a:p>
            <a:pPr lvl="1"/>
            <a:r>
              <a:rPr lang="en-US" sz="2400" dirty="0" smtClean="0">
                <a:latin typeface="Comic Sans MS" panose="030F0702030302020204" pitchFamily="66" charset="0"/>
              </a:rPr>
              <a:t>Supports </a:t>
            </a:r>
            <a:r>
              <a:rPr lang="en-US" sz="2400" dirty="0">
                <a:latin typeface="Comic Sans MS" panose="030F0702030302020204" pitchFamily="66" charset="0"/>
              </a:rPr>
              <a:t>the single- and </a:t>
            </a:r>
            <a:r>
              <a:rPr lang="en-US" sz="2400" dirty="0" smtClean="0">
                <a:latin typeface="Comic Sans MS" panose="030F0702030302020204" pitchFamily="66" charset="0"/>
              </a:rPr>
              <a:t>double-precision floating </a:t>
            </a:r>
            <a:r>
              <a:rPr lang="en-US" sz="2400" dirty="0">
                <a:latin typeface="Comic Sans MS" panose="030F0702030302020204" pitchFamily="66" charset="0"/>
              </a:rPr>
              <a:t>point data types defined in IEEE 754.</a:t>
            </a:r>
          </a:p>
        </p:txBody>
      </p:sp>
      <p:sp>
        <p:nvSpPr>
          <p:cNvPr id="3" name="Content Placeholder 2"/>
          <p:cNvSpPr>
            <a:spLocks noGrp="1"/>
          </p:cNvSpPr>
          <p:nvPr>
            <p:ph sz="quarter" idx="10"/>
          </p:nvPr>
        </p:nvSpPr>
        <p:spPr/>
        <p:txBody>
          <a:bodyPr/>
          <a:lstStyle/>
          <a:p>
            <a:r>
              <a:rPr lang="en-US" dirty="0" smtClean="0">
                <a:solidFill>
                  <a:srgbClr val="C00000"/>
                </a:solidFill>
              </a:rPr>
              <a:t>ARM Data types</a:t>
            </a:r>
            <a:endParaRPr lang="en-US" dirty="0">
              <a:solidFill>
                <a:srgbClr val="C00000"/>
              </a:solidFill>
            </a:endParaRPr>
          </a:p>
        </p:txBody>
      </p:sp>
    </p:spTree>
    <p:extLst>
      <p:ext uri="{BB962C8B-B14F-4D97-AF65-F5344CB8AC3E}">
        <p14:creationId xmlns:p14="http://schemas.microsoft.com/office/powerpoint/2010/main" val="40960172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Arial" panose="020B0604020202020204" pitchFamily="34" charset="0"/>
              <a:buChar char="•"/>
            </a:pPr>
            <a:r>
              <a:rPr lang="en-US" dirty="0" smtClean="0">
                <a:latin typeface="Comic Sans MS" panose="030F0702030302020204" pitchFamily="66" charset="0"/>
              </a:rPr>
              <a:t>ENDIAN Support:</a:t>
            </a:r>
          </a:p>
          <a:p>
            <a:pPr lvl="1">
              <a:buFont typeface="Arial" panose="020B0604020202020204" pitchFamily="34" charset="0"/>
              <a:buChar char="•"/>
            </a:pPr>
            <a:r>
              <a:rPr lang="en-US" sz="2400" dirty="0" smtClean="0">
                <a:latin typeface="Comic Sans MS" panose="030F0702030302020204" pitchFamily="66" charset="0"/>
              </a:rPr>
              <a:t>Uses state bit E</a:t>
            </a:r>
          </a:p>
        </p:txBody>
      </p:sp>
      <p:sp>
        <p:nvSpPr>
          <p:cNvPr id="3" name="Content Placeholder 2"/>
          <p:cNvSpPr>
            <a:spLocks noGrp="1"/>
          </p:cNvSpPr>
          <p:nvPr>
            <p:ph sz="quarter" idx="10"/>
          </p:nvPr>
        </p:nvSpPr>
        <p:spPr/>
        <p:txBody>
          <a:bodyPr/>
          <a:lstStyle/>
          <a:p>
            <a:r>
              <a:rPr lang="en-US" dirty="0" err="1" smtClean="0">
                <a:solidFill>
                  <a:srgbClr val="C00000"/>
                </a:solidFill>
              </a:rPr>
              <a:t>Contd</a:t>
            </a:r>
            <a:r>
              <a:rPr lang="en-US" dirty="0" smtClean="0">
                <a:solidFill>
                  <a:srgbClr val="C00000"/>
                </a:solidFill>
              </a:rPr>
              <a:t>…</a:t>
            </a:r>
            <a:endParaRPr lang="en-US" dirty="0">
              <a:solidFill>
                <a:srgbClr val="C00000"/>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589626"/>
            <a:ext cx="7054619" cy="4254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42028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5"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7"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t>Data Transfer</a:t>
            </a:r>
          </a:p>
          <a:p>
            <a:pPr>
              <a:buFont typeface="Arial" panose="020B0604020202020204" pitchFamily="34" charset="0"/>
              <a:buChar char="•"/>
            </a:pPr>
            <a:r>
              <a:rPr lang="en-US" altLang="en-US" dirty="0"/>
              <a:t>Arithmetic</a:t>
            </a:r>
          </a:p>
          <a:p>
            <a:pPr>
              <a:buFont typeface="Arial" panose="020B0604020202020204" pitchFamily="34" charset="0"/>
              <a:buChar char="•"/>
            </a:pPr>
            <a:r>
              <a:rPr lang="en-US" altLang="en-US" dirty="0"/>
              <a:t>Logical</a:t>
            </a:r>
          </a:p>
          <a:p>
            <a:pPr>
              <a:buFont typeface="Arial" panose="020B0604020202020204" pitchFamily="34" charset="0"/>
              <a:buChar char="•"/>
            </a:pPr>
            <a:r>
              <a:rPr lang="en-US" altLang="en-US" dirty="0"/>
              <a:t>Conversion</a:t>
            </a:r>
          </a:p>
          <a:p>
            <a:pPr>
              <a:buFont typeface="Arial" panose="020B0604020202020204" pitchFamily="34" charset="0"/>
              <a:buChar char="•"/>
            </a:pPr>
            <a:r>
              <a:rPr lang="en-US" altLang="en-US" dirty="0"/>
              <a:t>I/O</a:t>
            </a:r>
          </a:p>
          <a:p>
            <a:pPr>
              <a:buFont typeface="Arial" panose="020B0604020202020204" pitchFamily="34" charset="0"/>
              <a:buChar char="•"/>
            </a:pPr>
            <a:r>
              <a:rPr lang="en-US" altLang="en-US" dirty="0"/>
              <a:t>System Control</a:t>
            </a:r>
          </a:p>
          <a:p>
            <a:pPr>
              <a:buFont typeface="Arial" panose="020B0604020202020204" pitchFamily="34" charset="0"/>
              <a:buChar char="•"/>
            </a:pPr>
            <a:r>
              <a:rPr lang="en-US" altLang="en-US" dirty="0"/>
              <a:t>Transfer of Control</a:t>
            </a:r>
          </a:p>
        </p:txBody>
      </p:sp>
      <p:sp>
        <p:nvSpPr>
          <p:cNvPr id="38916"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solidFill>
                  <a:srgbClr val="C00000"/>
                </a:solidFill>
              </a:rPr>
              <a:t>Types of Operation</a:t>
            </a:r>
          </a:p>
        </p:txBody>
      </p:sp>
    </p:spTree>
    <p:extLst>
      <p:ext uri="{BB962C8B-B14F-4D97-AF65-F5344CB8AC3E}">
        <p14:creationId xmlns:p14="http://schemas.microsoft.com/office/powerpoint/2010/main" val="2915292378"/>
      </p:ext>
    </p:extLst>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3"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5"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Specify</a:t>
            </a:r>
          </a:p>
          <a:p>
            <a:pPr lvl="1"/>
            <a:r>
              <a:rPr lang="en-US" altLang="en-US" sz="2400" dirty="0">
                <a:latin typeface="Comic Sans MS" panose="030F0702030302020204" pitchFamily="66" charset="0"/>
              </a:rPr>
              <a:t>Source</a:t>
            </a:r>
          </a:p>
          <a:p>
            <a:pPr lvl="1"/>
            <a:r>
              <a:rPr lang="en-US" altLang="en-US" sz="2400" dirty="0">
                <a:latin typeface="Comic Sans MS" panose="030F0702030302020204" pitchFamily="66" charset="0"/>
              </a:rPr>
              <a:t>Destination</a:t>
            </a:r>
          </a:p>
          <a:p>
            <a:pPr lvl="1"/>
            <a:r>
              <a:rPr lang="en-US" altLang="en-US" sz="2400" dirty="0">
                <a:latin typeface="Comic Sans MS" panose="030F0702030302020204" pitchFamily="66" charset="0"/>
              </a:rPr>
              <a:t>Amount of data</a:t>
            </a:r>
          </a:p>
          <a:p>
            <a:pPr>
              <a:buFont typeface="Arial" panose="020B0604020202020204" pitchFamily="34" charset="0"/>
              <a:buChar char="•"/>
            </a:pPr>
            <a:r>
              <a:rPr lang="en-US" altLang="en-US" dirty="0">
                <a:latin typeface="Comic Sans MS" panose="030F0702030302020204" pitchFamily="66" charset="0"/>
              </a:rPr>
              <a:t>May be different instructions for different movements</a:t>
            </a:r>
          </a:p>
          <a:p>
            <a:pPr lvl="1"/>
            <a:r>
              <a:rPr lang="en-US" altLang="en-US" sz="2400" dirty="0">
                <a:latin typeface="Comic Sans MS" panose="030F0702030302020204" pitchFamily="66" charset="0"/>
              </a:rPr>
              <a:t>e.g. IBM 370</a:t>
            </a:r>
          </a:p>
          <a:p>
            <a:pPr>
              <a:buFont typeface="Arial" panose="020B0604020202020204" pitchFamily="34" charset="0"/>
              <a:buChar char="•"/>
            </a:pPr>
            <a:r>
              <a:rPr lang="en-US" altLang="en-US" dirty="0">
                <a:latin typeface="Comic Sans MS" panose="030F0702030302020204" pitchFamily="66" charset="0"/>
              </a:rPr>
              <a:t>Or one instruction and different addresses</a:t>
            </a:r>
          </a:p>
          <a:p>
            <a:pPr lvl="1"/>
            <a:r>
              <a:rPr lang="en-US" altLang="en-US" sz="2400" dirty="0">
                <a:latin typeface="Comic Sans MS" panose="030F0702030302020204" pitchFamily="66" charset="0"/>
              </a:rPr>
              <a:t>e.g. VAX</a:t>
            </a:r>
          </a:p>
        </p:txBody>
      </p:sp>
      <p:sp>
        <p:nvSpPr>
          <p:cNvPr id="40964"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solidFill>
                  <a:srgbClr val="C00000"/>
                </a:solidFill>
              </a:rPr>
              <a:t>Data Transfer</a:t>
            </a:r>
          </a:p>
        </p:txBody>
      </p:sp>
    </p:spTree>
    <p:extLst>
      <p:ext uri="{BB962C8B-B14F-4D97-AF65-F5344CB8AC3E}">
        <p14:creationId xmlns:p14="http://schemas.microsoft.com/office/powerpoint/2010/main" val="3531908103"/>
      </p:ext>
    </p:extLst>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1"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3"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Add, Subtract, Multiply, Divide</a:t>
            </a:r>
          </a:p>
          <a:p>
            <a:pPr>
              <a:buFont typeface="Arial" panose="020B0604020202020204" pitchFamily="34" charset="0"/>
              <a:buChar char="•"/>
            </a:pPr>
            <a:r>
              <a:rPr lang="en-US" altLang="en-US" dirty="0">
                <a:latin typeface="Comic Sans MS" panose="030F0702030302020204" pitchFamily="66" charset="0"/>
              </a:rPr>
              <a:t>Signed Integer</a:t>
            </a:r>
          </a:p>
          <a:p>
            <a:pPr>
              <a:buFont typeface="Arial" panose="020B0604020202020204" pitchFamily="34" charset="0"/>
              <a:buChar char="•"/>
            </a:pPr>
            <a:r>
              <a:rPr lang="en-US" altLang="en-US" dirty="0">
                <a:latin typeface="Comic Sans MS" panose="030F0702030302020204" pitchFamily="66" charset="0"/>
              </a:rPr>
              <a:t>Floating point ?</a:t>
            </a:r>
          </a:p>
          <a:p>
            <a:pPr>
              <a:buFont typeface="Arial" panose="020B0604020202020204" pitchFamily="34" charset="0"/>
              <a:buChar char="•"/>
            </a:pPr>
            <a:r>
              <a:rPr lang="en-US" altLang="en-US" dirty="0">
                <a:latin typeface="Comic Sans MS" panose="030F0702030302020204" pitchFamily="66" charset="0"/>
              </a:rPr>
              <a:t>May include</a:t>
            </a:r>
          </a:p>
          <a:p>
            <a:pPr lvl="1"/>
            <a:r>
              <a:rPr lang="en-US" altLang="en-US" sz="2400" dirty="0">
                <a:latin typeface="Comic Sans MS" panose="030F0702030302020204" pitchFamily="66" charset="0"/>
              </a:rPr>
              <a:t>Increment (a++)</a:t>
            </a:r>
          </a:p>
          <a:p>
            <a:pPr lvl="1"/>
            <a:r>
              <a:rPr lang="en-US" altLang="en-US" sz="2400" dirty="0">
                <a:latin typeface="Comic Sans MS" panose="030F0702030302020204" pitchFamily="66" charset="0"/>
              </a:rPr>
              <a:t>Decrement (a--)</a:t>
            </a:r>
          </a:p>
          <a:p>
            <a:pPr lvl="1"/>
            <a:r>
              <a:rPr lang="en-US" altLang="en-US" sz="2400" dirty="0">
                <a:latin typeface="Comic Sans MS" panose="030F0702030302020204" pitchFamily="66" charset="0"/>
              </a:rPr>
              <a:t>Negate (-a)</a:t>
            </a:r>
          </a:p>
        </p:txBody>
      </p:sp>
      <p:sp>
        <p:nvSpPr>
          <p:cNvPr id="43012"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Arithmetic</a:t>
            </a:r>
          </a:p>
        </p:txBody>
      </p:sp>
    </p:spTree>
    <p:extLst>
      <p:ext uri="{BB962C8B-B14F-4D97-AF65-F5344CB8AC3E}">
        <p14:creationId xmlns:p14="http://schemas.microsoft.com/office/powerpoint/2010/main" val="3499320456"/>
      </p:ext>
    </p:extLst>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idx="4294967295"/>
          </p:nvPr>
        </p:nvSpPr>
        <p:spPr>
          <a:xfrm>
            <a:off x="0" y="0"/>
            <a:ext cx="6121400" cy="850900"/>
          </a:xfrm>
        </p:spPr>
        <p:txBody>
          <a:bodyPr>
            <a:normAutofit fontScale="90000"/>
          </a:bodyPr>
          <a:lstStyle/>
          <a:p>
            <a:r>
              <a:rPr lang="en-GB" altLang="en-US" dirty="0">
                <a:solidFill>
                  <a:srgbClr val="C00000"/>
                </a:solidFill>
              </a:rPr>
              <a:t>Shift and Rotate Operations</a:t>
            </a:r>
          </a:p>
        </p:txBody>
      </p:sp>
      <p:pic>
        <p:nvPicPr>
          <p:cNvPr id="78852" name="Picture 4"/>
          <p:cNvPicPr>
            <a:picLocks noChangeAspect="1" noChangeArrowheads="1"/>
          </p:cNvPicPr>
          <p:nvPr/>
        </p:nvPicPr>
        <p:blipFill>
          <a:blip r:embed="rId2">
            <a:extLst>
              <a:ext uri="{28A0092B-C50C-407E-A947-70E740481C1C}">
                <a14:useLocalDpi xmlns:a14="http://schemas.microsoft.com/office/drawing/2010/main" val="0"/>
              </a:ext>
            </a:extLst>
          </a:blip>
          <a:srcRect l="19069" t="8751" r="20474" b="12009"/>
          <a:stretch>
            <a:fillRect/>
          </a:stretch>
        </p:blipFill>
        <p:spPr bwMode="auto">
          <a:xfrm>
            <a:off x="2669771" y="685800"/>
            <a:ext cx="34115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45846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59"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1"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Bitwise operations</a:t>
            </a:r>
          </a:p>
          <a:p>
            <a:pPr>
              <a:buFont typeface="Arial" panose="020B0604020202020204" pitchFamily="34" charset="0"/>
              <a:buChar char="•"/>
            </a:pPr>
            <a:r>
              <a:rPr lang="en-US" altLang="en-US" dirty="0">
                <a:latin typeface="Comic Sans MS" panose="030F0702030302020204" pitchFamily="66" charset="0"/>
              </a:rPr>
              <a:t>AND, OR, NOT</a:t>
            </a:r>
          </a:p>
          <a:p>
            <a:pPr>
              <a:buFont typeface="Arial" panose="020B0604020202020204" pitchFamily="34" charset="0"/>
              <a:buChar char="•"/>
            </a:pPr>
            <a:endParaRPr lang="en-US" altLang="en-US" dirty="0">
              <a:latin typeface="Comic Sans MS" panose="030F0702030302020204" pitchFamily="66" charset="0"/>
            </a:endParaRPr>
          </a:p>
        </p:txBody>
      </p:sp>
      <p:sp>
        <p:nvSpPr>
          <p:cNvPr id="45060"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solidFill>
                  <a:srgbClr val="C00000"/>
                </a:solidFill>
              </a:rPr>
              <a:t>Logical</a:t>
            </a:r>
          </a:p>
        </p:txBody>
      </p:sp>
    </p:spTree>
    <p:extLst>
      <p:ext uri="{BB962C8B-B14F-4D97-AF65-F5344CB8AC3E}">
        <p14:creationId xmlns:p14="http://schemas.microsoft.com/office/powerpoint/2010/main" val="811308740"/>
      </p:ext>
    </p:extLst>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07"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09"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latin typeface="Comic Sans MS" panose="030F0702030302020204" pitchFamily="66" charset="0"/>
              </a:rPr>
              <a:t>E.g. Binary to Decimal</a:t>
            </a:r>
          </a:p>
        </p:txBody>
      </p:sp>
      <p:sp>
        <p:nvSpPr>
          <p:cNvPr id="47108"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Conversion</a:t>
            </a:r>
          </a:p>
        </p:txBody>
      </p:sp>
    </p:spTree>
    <p:extLst>
      <p:ext uri="{BB962C8B-B14F-4D97-AF65-F5344CB8AC3E}">
        <p14:creationId xmlns:p14="http://schemas.microsoft.com/office/powerpoint/2010/main" val="1761840915"/>
      </p:ext>
    </p:extLst>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5"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7"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May be specific instructions</a:t>
            </a:r>
          </a:p>
          <a:p>
            <a:pPr>
              <a:buFont typeface="Arial" panose="020B0604020202020204" pitchFamily="34" charset="0"/>
              <a:buChar char="•"/>
            </a:pPr>
            <a:r>
              <a:rPr lang="en-US" altLang="en-US" dirty="0">
                <a:latin typeface="Comic Sans MS" panose="030F0702030302020204" pitchFamily="66" charset="0"/>
              </a:rPr>
              <a:t>May be done using data movement instructions (memory mapped)</a:t>
            </a:r>
          </a:p>
          <a:p>
            <a:pPr>
              <a:buFont typeface="Arial" panose="020B0604020202020204" pitchFamily="34" charset="0"/>
              <a:buChar char="•"/>
            </a:pPr>
            <a:r>
              <a:rPr lang="en-US" altLang="en-US" dirty="0">
                <a:latin typeface="Comic Sans MS" panose="030F0702030302020204" pitchFamily="66" charset="0"/>
              </a:rPr>
              <a:t>May be done by a separate controller (DMA)</a:t>
            </a:r>
          </a:p>
        </p:txBody>
      </p:sp>
      <p:sp>
        <p:nvSpPr>
          <p:cNvPr id="49156"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solidFill>
                  <a:srgbClr val="C00000"/>
                </a:solidFill>
                <a:latin typeface="Comic Sans MS" panose="030F0702030302020204" pitchFamily="66" charset="0"/>
              </a:rPr>
              <a:t>Input/Output</a:t>
            </a:r>
          </a:p>
        </p:txBody>
      </p:sp>
    </p:spTree>
    <p:extLst>
      <p:ext uri="{BB962C8B-B14F-4D97-AF65-F5344CB8AC3E}">
        <p14:creationId xmlns:p14="http://schemas.microsoft.com/office/powerpoint/2010/main" val="1616777214"/>
      </p:ext>
    </p:extLst>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3"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5"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Privileged instructions</a:t>
            </a:r>
          </a:p>
          <a:p>
            <a:pPr>
              <a:buFont typeface="Arial" panose="020B0604020202020204" pitchFamily="34" charset="0"/>
              <a:buChar char="•"/>
            </a:pPr>
            <a:r>
              <a:rPr lang="en-US" altLang="en-US" dirty="0">
                <a:latin typeface="Comic Sans MS" panose="030F0702030302020204" pitchFamily="66" charset="0"/>
              </a:rPr>
              <a:t>CPU needs to be in specific state </a:t>
            </a:r>
          </a:p>
          <a:p>
            <a:pPr lvl="1"/>
            <a:r>
              <a:rPr lang="en-US" altLang="en-US" sz="2400" dirty="0">
                <a:latin typeface="Comic Sans MS" panose="030F0702030302020204" pitchFamily="66" charset="0"/>
              </a:rPr>
              <a:t>Ring 0 on 80386+</a:t>
            </a:r>
          </a:p>
          <a:p>
            <a:pPr lvl="1"/>
            <a:r>
              <a:rPr lang="en-US" altLang="en-US" sz="2400" dirty="0">
                <a:latin typeface="Comic Sans MS" panose="030F0702030302020204" pitchFamily="66" charset="0"/>
              </a:rPr>
              <a:t>Kernel mode</a:t>
            </a:r>
          </a:p>
          <a:p>
            <a:pPr>
              <a:buFont typeface="Arial" panose="020B0604020202020204" pitchFamily="34" charset="0"/>
              <a:buChar char="•"/>
            </a:pPr>
            <a:r>
              <a:rPr lang="en-US" altLang="en-US" dirty="0">
                <a:latin typeface="Comic Sans MS" panose="030F0702030302020204" pitchFamily="66" charset="0"/>
              </a:rPr>
              <a:t>For operating systems use</a:t>
            </a:r>
          </a:p>
        </p:txBody>
      </p:sp>
      <p:sp>
        <p:nvSpPr>
          <p:cNvPr id="51204"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solidFill>
                  <a:srgbClr val="C00000"/>
                </a:solidFill>
              </a:rPr>
              <a:t>Systems Control</a:t>
            </a:r>
          </a:p>
        </p:txBody>
      </p:sp>
    </p:spTree>
    <p:extLst>
      <p:ext uri="{BB962C8B-B14F-4D97-AF65-F5344CB8AC3E}">
        <p14:creationId xmlns:p14="http://schemas.microsoft.com/office/powerpoint/2010/main" val="844401053"/>
      </p:ext>
    </p:extLst>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51"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53"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latin typeface="Comic Sans MS" panose="030F0702030302020204" pitchFamily="66" charset="0"/>
              </a:rPr>
              <a:t>Branch</a:t>
            </a:r>
          </a:p>
          <a:p>
            <a:pPr lvl="1"/>
            <a:r>
              <a:rPr lang="en-US" altLang="en-US" sz="2400" dirty="0">
                <a:latin typeface="Comic Sans MS" panose="030F0702030302020204" pitchFamily="66" charset="0"/>
              </a:rPr>
              <a:t>e.g. branch to x if result is zero</a:t>
            </a:r>
          </a:p>
          <a:p>
            <a:r>
              <a:rPr lang="en-US" altLang="en-US" dirty="0">
                <a:latin typeface="Comic Sans MS" panose="030F0702030302020204" pitchFamily="66" charset="0"/>
              </a:rPr>
              <a:t>Skip</a:t>
            </a:r>
          </a:p>
          <a:p>
            <a:pPr lvl="1"/>
            <a:r>
              <a:rPr lang="en-US" altLang="en-US" sz="2400" dirty="0">
                <a:latin typeface="Comic Sans MS" panose="030F0702030302020204" pitchFamily="66" charset="0"/>
              </a:rPr>
              <a:t>e.g. increment and skip if zero</a:t>
            </a:r>
          </a:p>
          <a:p>
            <a:pPr lvl="1"/>
            <a:r>
              <a:rPr lang="en-US" altLang="en-US" sz="2400" dirty="0">
                <a:latin typeface="Comic Sans MS" panose="030F0702030302020204" pitchFamily="66" charset="0"/>
              </a:rPr>
              <a:t>ISZ Register1</a:t>
            </a:r>
          </a:p>
          <a:p>
            <a:pPr lvl="1"/>
            <a:r>
              <a:rPr lang="en-US" altLang="en-US" sz="2400" dirty="0">
                <a:latin typeface="Comic Sans MS" panose="030F0702030302020204" pitchFamily="66" charset="0"/>
              </a:rPr>
              <a:t>Branch </a:t>
            </a:r>
            <a:r>
              <a:rPr lang="en-US" altLang="en-US" sz="2400" dirty="0" err="1">
                <a:latin typeface="Comic Sans MS" panose="030F0702030302020204" pitchFamily="66" charset="0"/>
              </a:rPr>
              <a:t>xxxx</a:t>
            </a:r>
            <a:endParaRPr lang="en-US" altLang="en-US" sz="2400" dirty="0">
              <a:latin typeface="Comic Sans MS" panose="030F0702030302020204" pitchFamily="66" charset="0"/>
            </a:endParaRPr>
          </a:p>
          <a:p>
            <a:pPr lvl="1"/>
            <a:r>
              <a:rPr lang="en-US" altLang="en-US" sz="2400" dirty="0">
                <a:latin typeface="Comic Sans MS" panose="030F0702030302020204" pitchFamily="66" charset="0"/>
              </a:rPr>
              <a:t>ADD A</a:t>
            </a:r>
          </a:p>
          <a:p>
            <a:r>
              <a:rPr lang="en-US" altLang="en-US" dirty="0">
                <a:latin typeface="Comic Sans MS" panose="030F0702030302020204" pitchFamily="66" charset="0"/>
              </a:rPr>
              <a:t>Subroutine call</a:t>
            </a:r>
          </a:p>
          <a:p>
            <a:pPr lvl="1"/>
            <a:r>
              <a:rPr lang="en-US" altLang="en-US" sz="2400" dirty="0">
                <a:latin typeface="Comic Sans MS" panose="030F0702030302020204" pitchFamily="66" charset="0"/>
              </a:rPr>
              <a:t>c.f. interrupt call</a:t>
            </a:r>
          </a:p>
        </p:txBody>
      </p:sp>
      <p:sp>
        <p:nvSpPr>
          <p:cNvPr id="53252"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Transfer of Control</a:t>
            </a:r>
          </a:p>
        </p:txBody>
      </p:sp>
    </p:spTree>
    <p:extLst>
      <p:ext uri="{BB962C8B-B14F-4D97-AF65-F5344CB8AC3E}">
        <p14:creationId xmlns:p14="http://schemas.microsoft.com/office/powerpoint/2010/main" val="4051156982"/>
      </p:ext>
    </p:extLst>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0" y="274638"/>
            <a:ext cx="6121400" cy="850900"/>
          </a:xfrm>
        </p:spPr>
        <p:txBody>
          <a:bodyPr/>
          <a:lstStyle/>
          <a:p>
            <a:r>
              <a:rPr lang="en-GB" altLang="en-US" dirty="0">
                <a:solidFill>
                  <a:srgbClr val="C00000"/>
                </a:solidFill>
              </a:rPr>
              <a:t>Branch Instruction</a:t>
            </a:r>
          </a:p>
        </p:txBody>
      </p:sp>
      <p:pic>
        <p:nvPicPr>
          <p:cNvPr id="79876" name="Picture 4"/>
          <p:cNvPicPr>
            <a:picLocks noChangeAspect="1" noChangeArrowheads="1"/>
          </p:cNvPicPr>
          <p:nvPr/>
        </p:nvPicPr>
        <p:blipFill>
          <a:blip r:embed="rId2">
            <a:extLst>
              <a:ext uri="{28A0092B-C50C-407E-A947-70E740481C1C}">
                <a14:useLocalDpi xmlns:a14="http://schemas.microsoft.com/office/drawing/2010/main" val="0"/>
              </a:ext>
            </a:extLst>
          </a:blip>
          <a:srcRect l="11951" t="20692" r="9842" b="36974"/>
          <a:stretch>
            <a:fillRect/>
          </a:stretch>
        </p:blipFill>
        <p:spPr bwMode="auto">
          <a:xfrm>
            <a:off x="457200" y="1035050"/>
            <a:ext cx="8077200" cy="566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66169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0" y="274638"/>
            <a:ext cx="6121400" cy="850900"/>
          </a:xfrm>
        </p:spPr>
        <p:txBody>
          <a:bodyPr/>
          <a:lstStyle/>
          <a:p>
            <a:r>
              <a:rPr lang="en-GB" altLang="en-US">
                <a:solidFill>
                  <a:srgbClr val="C00000"/>
                </a:solidFill>
              </a:rPr>
              <a:t>Nested Procedure Calls</a:t>
            </a:r>
          </a:p>
        </p:txBody>
      </p:sp>
      <p:pic>
        <p:nvPicPr>
          <p:cNvPr id="80900" name="Picture 4"/>
          <p:cNvPicPr>
            <a:picLocks noChangeAspect="1" noChangeArrowheads="1"/>
          </p:cNvPicPr>
          <p:nvPr/>
        </p:nvPicPr>
        <p:blipFill>
          <a:blip r:embed="rId2">
            <a:extLst>
              <a:ext uri="{28A0092B-C50C-407E-A947-70E740481C1C}">
                <a14:useLocalDpi xmlns:a14="http://schemas.microsoft.com/office/drawing/2010/main" val="0"/>
              </a:ext>
            </a:extLst>
          </a:blip>
          <a:srcRect l="5009" t="14178" r="9227" b="25034"/>
          <a:stretch>
            <a:fillRect/>
          </a:stretch>
        </p:blipFill>
        <p:spPr bwMode="auto">
          <a:xfrm>
            <a:off x="1524000" y="1066800"/>
            <a:ext cx="6248400" cy="573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70926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0" y="274638"/>
            <a:ext cx="6121400" cy="850900"/>
          </a:xfrm>
        </p:spPr>
        <p:txBody>
          <a:bodyPr/>
          <a:lstStyle/>
          <a:p>
            <a:r>
              <a:rPr lang="en-GB" altLang="en-US" dirty="0">
                <a:solidFill>
                  <a:srgbClr val="C00000"/>
                </a:solidFill>
              </a:rPr>
              <a:t>Use of Stack</a:t>
            </a:r>
          </a:p>
        </p:txBody>
      </p:sp>
      <p:pic>
        <p:nvPicPr>
          <p:cNvPr id="81925" name="Picture 5"/>
          <p:cNvPicPr>
            <a:picLocks noChangeAspect="1" noChangeArrowheads="1"/>
          </p:cNvPicPr>
          <p:nvPr/>
        </p:nvPicPr>
        <p:blipFill>
          <a:blip r:embed="rId2">
            <a:extLst>
              <a:ext uri="{28A0092B-C50C-407E-A947-70E740481C1C}">
                <a14:useLocalDpi xmlns:a14="http://schemas.microsoft.com/office/drawing/2010/main" val="0"/>
              </a:ext>
            </a:extLst>
          </a:blip>
          <a:srcRect l="5428" t="13152" r="7735" b="57820"/>
          <a:stretch>
            <a:fillRect/>
          </a:stretch>
        </p:blipFill>
        <p:spPr bwMode="auto">
          <a:xfrm>
            <a:off x="0" y="2176463"/>
            <a:ext cx="8991600" cy="231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98637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a:xfrm>
            <a:off x="0" y="274638"/>
            <a:ext cx="6121400" cy="850900"/>
          </a:xfrm>
        </p:spPr>
        <p:txBody>
          <a:bodyPr>
            <a:normAutofit fontScale="90000"/>
          </a:bodyPr>
          <a:lstStyle/>
          <a:p>
            <a:r>
              <a:rPr lang="en-GB" altLang="en-US" dirty="0">
                <a:solidFill>
                  <a:srgbClr val="C00000"/>
                </a:solidFill>
              </a:rPr>
              <a:t>Stack Frame Growth Using Sample Procedures P and Q</a:t>
            </a:r>
          </a:p>
        </p:txBody>
      </p:sp>
      <p:pic>
        <p:nvPicPr>
          <p:cNvPr id="88068" name="Picture 4"/>
          <p:cNvPicPr>
            <a:picLocks noChangeAspect="1" noChangeArrowheads="1"/>
          </p:cNvPicPr>
          <p:nvPr/>
        </p:nvPicPr>
        <p:blipFill>
          <a:blip r:embed="rId2">
            <a:extLst>
              <a:ext uri="{28A0092B-C50C-407E-A947-70E740481C1C}">
                <a14:useLocalDpi xmlns:a14="http://schemas.microsoft.com/office/drawing/2010/main" val="0"/>
              </a:ext>
            </a:extLst>
          </a:blip>
          <a:srcRect b="11362"/>
          <a:stretch>
            <a:fillRect/>
          </a:stretch>
        </p:blipFill>
        <p:spPr bwMode="auto">
          <a:xfrm>
            <a:off x="609600" y="1524000"/>
            <a:ext cx="7395993" cy="520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598619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9"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Immediate</a:t>
            </a:r>
          </a:p>
          <a:p>
            <a:pPr>
              <a:buFont typeface="Arial" panose="020B0604020202020204" pitchFamily="34" charset="0"/>
              <a:buChar char="•"/>
            </a:pPr>
            <a:r>
              <a:rPr lang="en-US" altLang="en-US" dirty="0">
                <a:latin typeface="Comic Sans MS" panose="030F0702030302020204" pitchFamily="66" charset="0"/>
              </a:rPr>
              <a:t>Direct</a:t>
            </a:r>
          </a:p>
          <a:p>
            <a:pPr>
              <a:buFont typeface="Arial" panose="020B0604020202020204" pitchFamily="34" charset="0"/>
              <a:buChar char="•"/>
            </a:pPr>
            <a:r>
              <a:rPr lang="en-US" altLang="en-US" dirty="0">
                <a:latin typeface="Comic Sans MS" panose="030F0702030302020204" pitchFamily="66" charset="0"/>
              </a:rPr>
              <a:t>Indirect</a:t>
            </a:r>
          </a:p>
          <a:p>
            <a:pPr>
              <a:buFont typeface="Arial" panose="020B0604020202020204" pitchFamily="34" charset="0"/>
              <a:buChar char="•"/>
            </a:pPr>
            <a:r>
              <a:rPr lang="en-US" altLang="en-US" dirty="0">
                <a:latin typeface="Comic Sans MS" panose="030F0702030302020204" pitchFamily="66" charset="0"/>
              </a:rPr>
              <a:t>Register</a:t>
            </a:r>
          </a:p>
          <a:p>
            <a:pPr>
              <a:buFont typeface="Arial" panose="020B0604020202020204" pitchFamily="34" charset="0"/>
              <a:buChar char="•"/>
            </a:pPr>
            <a:r>
              <a:rPr lang="en-US" altLang="en-US" dirty="0">
                <a:latin typeface="Comic Sans MS" panose="030F0702030302020204" pitchFamily="66" charset="0"/>
              </a:rPr>
              <a:t>Register Indirect</a:t>
            </a:r>
          </a:p>
          <a:p>
            <a:pPr>
              <a:buFont typeface="Arial" panose="020B0604020202020204" pitchFamily="34" charset="0"/>
              <a:buChar char="•"/>
            </a:pPr>
            <a:r>
              <a:rPr lang="en-US" altLang="en-US" dirty="0">
                <a:latin typeface="Comic Sans MS" panose="030F0702030302020204" pitchFamily="66" charset="0"/>
              </a:rPr>
              <a:t>Displacement (Indexed) </a:t>
            </a:r>
          </a:p>
          <a:p>
            <a:pPr>
              <a:buFont typeface="Arial" panose="020B0604020202020204" pitchFamily="34" charset="0"/>
              <a:buChar char="•"/>
            </a:pPr>
            <a:r>
              <a:rPr lang="en-US" altLang="en-US" dirty="0">
                <a:latin typeface="Comic Sans MS" panose="030F0702030302020204" pitchFamily="66" charset="0"/>
              </a:rPr>
              <a:t>Stack</a:t>
            </a:r>
          </a:p>
        </p:txBody>
      </p:sp>
      <p:sp>
        <p:nvSpPr>
          <p:cNvPr id="6148"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Addressing Modes</a:t>
            </a:r>
          </a:p>
        </p:txBody>
      </p:sp>
    </p:spTree>
    <p:extLst>
      <p:ext uri="{BB962C8B-B14F-4D97-AF65-F5344CB8AC3E}">
        <p14:creationId xmlns:p14="http://schemas.microsoft.com/office/powerpoint/2010/main" val="3433948050"/>
      </p:ext>
    </p:extLst>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5"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9" name="Rectangle 7"/>
          <p:cNvSpPr>
            <a:spLocks noGrp="1" noChangeArrowheads="1"/>
          </p:cNvSpPr>
          <p:nvPr>
            <p:ph idx="1"/>
          </p:nvPr>
        </p:nvSpPr>
        <p:spPr/>
        <p:txBody>
          <a:bodyPr/>
          <a:lstStyle/>
          <a:p>
            <a:pPr>
              <a:buFont typeface="Arial" panose="020B0604020202020204" pitchFamily="34" charset="0"/>
              <a:buChar char="•"/>
            </a:pPr>
            <a:r>
              <a:rPr lang="en-US" altLang="en-US" dirty="0">
                <a:latin typeface="Comic Sans MS" panose="030F0702030302020204" pitchFamily="66" charset="0"/>
              </a:rPr>
              <a:t>Operand is part of instruction</a:t>
            </a:r>
          </a:p>
          <a:p>
            <a:pPr>
              <a:buFont typeface="Arial" panose="020B0604020202020204" pitchFamily="34" charset="0"/>
              <a:buChar char="•"/>
            </a:pPr>
            <a:r>
              <a:rPr lang="en-US" altLang="en-US" dirty="0">
                <a:latin typeface="Comic Sans MS" panose="030F0702030302020204" pitchFamily="66" charset="0"/>
              </a:rPr>
              <a:t>Operand = address field</a:t>
            </a:r>
          </a:p>
          <a:p>
            <a:pPr>
              <a:buFont typeface="Arial" panose="020B0604020202020204" pitchFamily="34" charset="0"/>
              <a:buChar char="•"/>
            </a:pPr>
            <a:r>
              <a:rPr lang="en-US" altLang="en-US" dirty="0">
                <a:latin typeface="Comic Sans MS" panose="030F0702030302020204" pitchFamily="66" charset="0"/>
              </a:rPr>
              <a:t>e.g. ADD 5</a:t>
            </a:r>
          </a:p>
          <a:p>
            <a:pPr lvl="1"/>
            <a:r>
              <a:rPr lang="en-US" altLang="en-US" sz="2400" dirty="0">
                <a:latin typeface="Comic Sans MS" panose="030F0702030302020204" pitchFamily="66" charset="0"/>
              </a:rPr>
              <a:t>Add 5 to contents of accumulator</a:t>
            </a:r>
          </a:p>
          <a:p>
            <a:pPr lvl="1"/>
            <a:r>
              <a:rPr lang="en-US" altLang="en-US" sz="2400" dirty="0">
                <a:latin typeface="Comic Sans MS" panose="030F0702030302020204" pitchFamily="66" charset="0"/>
              </a:rPr>
              <a:t>5 is operand</a:t>
            </a:r>
          </a:p>
          <a:p>
            <a:pPr>
              <a:buFont typeface="Arial" panose="020B0604020202020204" pitchFamily="34" charset="0"/>
              <a:buChar char="•"/>
            </a:pPr>
            <a:r>
              <a:rPr lang="en-US" altLang="en-US" dirty="0">
                <a:latin typeface="Comic Sans MS" panose="030F0702030302020204" pitchFamily="66" charset="0"/>
              </a:rPr>
              <a:t>No memory reference to fetch data</a:t>
            </a:r>
          </a:p>
          <a:p>
            <a:pPr>
              <a:buFont typeface="Arial" panose="020B0604020202020204" pitchFamily="34" charset="0"/>
              <a:buChar char="•"/>
            </a:pPr>
            <a:r>
              <a:rPr lang="en-US" altLang="en-US" dirty="0">
                <a:latin typeface="Comic Sans MS" panose="030F0702030302020204" pitchFamily="66" charset="0"/>
              </a:rPr>
              <a:t>Fast</a:t>
            </a:r>
          </a:p>
          <a:p>
            <a:pPr>
              <a:buFont typeface="Arial" panose="020B0604020202020204" pitchFamily="34" charset="0"/>
              <a:buChar char="•"/>
            </a:pPr>
            <a:r>
              <a:rPr lang="en-US" altLang="en-US" dirty="0">
                <a:latin typeface="Comic Sans MS" panose="030F0702030302020204" pitchFamily="66" charset="0"/>
              </a:rPr>
              <a:t>Limited range</a:t>
            </a:r>
          </a:p>
        </p:txBody>
      </p:sp>
      <p:sp>
        <p:nvSpPr>
          <p:cNvPr id="8198" name="Rectangle 6"/>
          <p:cNvSpPr>
            <a:spLocks noGrp="1" noChangeArrowheads="1"/>
          </p:cNvSpPr>
          <p:nvPr>
            <p:ph type="title" idx="4294967295"/>
          </p:nvPr>
        </p:nvSpPr>
        <p:spPr>
          <a:xfrm>
            <a:off x="0" y="274638"/>
            <a:ext cx="6121400" cy="850900"/>
          </a:xfrm>
        </p:spPr>
        <p:txBody>
          <a:bodyPr/>
          <a:lstStyle/>
          <a:p>
            <a:r>
              <a:rPr lang="en-US" altLang="en-US">
                <a:solidFill>
                  <a:srgbClr val="C00000"/>
                </a:solidFill>
              </a:rPr>
              <a:t>Immediate Addressing</a:t>
            </a:r>
          </a:p>
        </p:txBody>
      </p:sp>
    </p:spTree>
    <p:extLst>
      <p:ext uri="{BB962C8B-B14F-4D97-AF65-F5344CB8AC3E}">
        <p14:creationId xmlns:p14="http://schemas.microsoft.com/office/powerpoint/2010/main" val="2098314403"/>
      </p:ext>
    </p:extLst>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3"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fontScale="90000"/>
          </a:bodyPr>
          <a:lstStyle/>
          <a:p>
            <a:r>
              <a:rPr lang="en-US" altLang="en-US" dirty="0">
                <a:solidFill>
                  <a:srgbClr val="C00000"/>
                </a:solidFill>
                <a:latin typeface="Comic Sans MS" panose="030F0702030302020204" pitchFamily="66" charset="0"/>
              </a:rPr>
              <a:t>Immediate Addressing Diagram</a:t>
            </a:r>
          </a:p>
        </p:txBody>
      </p:sp>
      <p:grpSp>
        <p:nvGrpSpPr>
          <p:cNvPr id="10247" name="Group 7"/>
          <p:cNvGrpSpPr>
            <a:grpSpLocks/>
          </p:cNvGrpSpPr>
          <p:nvPr/>
        </p:nvGrpSpPr>
        <p:grpSpPr bwMode="auto">
          <a:xfrm>
            <a:off x="1754188" y="2287588"/>
            <a:ext cx="4722812" cy="604837"/>
            <a:chOff x="1105" y="1441"/>
            <a:chExt cx="2975" cy="381"/>
          </a:xfrm>
        </p:grpSpPr>
        <p:sp>
          <p:nvSpPr>
            <p:cNvPr id="10245" name="Rectangle 5"/>
            <p:cNvSpPr>
              <a:spLocks noChangeArrowheads="1"/>
            </p:cNvSpPr>
            <p:nvPr/>
          </p:nvSpPr>
          <p:spPr bwMode="auto">
            <a:xfrm>
              <a:off x="1105" y="1441"/>
              <a:ext cx="2975" cy="38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10246" name="Line 6"/>
            <p:cNvSpPr>
              <a:spLocks noChangeShapeType="1"/>
            </p:cNvSpPr>
            <p:nvPr/>
          </p:nvSpPr>
          <p:spPr bwMode="auto">
            <a:xfrm>
              <a:off x="1729" y="1446"/>
              <a:ext cx="0" cy="3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grpSp>
      <p:sp>
        <p:nvSpPr>
          <p:cNvPr id="10248" name="Rectangle 8"/>
          <p:cNvSpPr>
            <a:spLocks noChangeArrowheads="1"/>
          </p:cNvSpPr>
          <p:nvPr/>
        </p:nvSpPr>
        <p:spPr bwMode="auto">
          <a:xfrm>
            <a:off x="3887788" y="2363788"/>
            <a:ext cx="11798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000"/>
              <a:t>Operand</a:t>
            </a:r>
          </a:p>
        </p:txBody>
      </p:sp>
      <p:sp>
        <p:nvSpPr>
          <p:cNvPr id="10249" name="Rectangle 9"/>
          <p:cNvSpPr>
            <a:spLocks noChangeArrowheads="1"/>
          </p:cNvSpPr>
          <p:nvPr/>
        </p:nvSpPr>
        <p:spPr bwMode="auto">
          <a:xfrm>
            <a:off x="1677988" y="2363788"/>
            <a:ext cx="108042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000"/>
              <a:t>Opcode</a:t>
            </a:r>
          </a:p>
        </p:txBody>
      </p:sp>
      <p:sp>
        <p:nvSpPr>
          <p:cNvPr id="10250" name="Rectangle 10"/>
          <p:cNvSpPr>
            <a:spLocks noChangeArrowheads="1"/>
          </p:cNvSpPr>
          <p:nvPr/>
        </p:nvSpPr>
        <p:spPr bwMode="auto">
          <a:xfrm>
            <a:off x="3125788" y="1830388"/>
            <a:ext cx="136415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000"/>
              <a:t>Instruction</a:t>
            </a:r>
          </a:p>
        </p:txBody>
      </p:sp>
    </p:spTree>
    <p:extLst>
      <p:ext uri="{BB962C8B-B14F-4D97-AF65-F5344CB8AC3E}">
        <p14:creationId xmlns:p14="http://schemas.microsoft.com/office/powerpoint/2010/main" val="2301945138"/>
      </p:ext>
    </p:extLst>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1"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5" name="Rectangle 7"/>
          <p:cNvSpPr>
            <a:spLocks noGrp="1" noChangeArrowheads="1"/>
          </p:cNvSpPr>
          <p:nvPr>
            <p:ph idx="1"/>
          </p:nvPr>
        </p:nvSpPr>
        <p:spPr/>
        <p:txBody>
          <a:bodyPr/>
          <a:lstStyle/>
          <a:p>
            <a:pPr>
              <a:buFont typeface="Arial" panose="020B0604020202020204" pitchFamily="34" charset="0"/>
              <a:buChar char="•"/>
            </a:pPr>
            <a:r>
              <a:rPr lang="en-US" altLang="en-US" dirty="0">
                <a:latin typeface="Comic Sans MS" panose="030F0702030302020204" pitchFamily="66" charset="0"/>
              </a:rPr>
              <a:t>Address field contains address of operand</a:t>
            </a:r>
          </a:p>
          <a:p>
            <a:pPr>
              <a:buFont typeface="Arial" panose="020B0604020202020204" pitchFamily="34" charset="0"/>
              <a:buChar char="•"/>
            </a:pPr>
            <a:r>
              <a:rPr lang="en-US" altLang="en-US" dirty="0">
                <a:latin typeface="Comic Sans MS" panose="030F0702030302020204" pitchFamily="66" charset="0"/>
              </a:rPr>
              <a:t>Effective address (EA) = address field (A)</a:t>
            </a:r>
          </a:p>
          <a:p>
            <a:pPr>
              <a:buFont typeface="Arial" panose="020B0604020202020204" pitchFamily="34" charset="0"/>
              <a:buChar char="•"/>
            </a:pPr>
            <a:r>
              <a:rPr lang="en-US" altLang="en-US" dirty="0">
                <a:latin typeface="Comic Sans MS" panose="030F0702030302020204" pitchFamily="66" charset="0"/>
              </a:rPr>
              <a:t>e.g.  ADD A</a:t>
            </a:r>
          </a:p>
          <a:p>
            <a:pPr lvl="1"/>
            <a:r>
              <a:rPr lang="en-US" altLang="en-US" sz="2400" dirty="0">
                <a:latin typeface="Comic Sans MS" panose="030F0702030302020204" pitchFamily="66" charset="0"/>
              </a:rPr>
              <a:t>Add contents of cell A to accumulator</a:t>
            </a:r>
          </a:p>
          <a:p>
            <a:pPr lvl="1"/>
            <a:r>
              <a:rPr lang="en-US" altLang="en-US" sz="2400" dirty="0">
                <a:latin typeface="Comic Sans MS" panose="030F0702030302020204" pitchFamily="66" charset="0"/>
              </a:rPr>
              <a:t>Look in memory at address A for operand</a:t>
            </a:r>
          </a:p>
          <a:p>
            <a:pPr>
              <a:buFont typeface="Arial" panose="020B0604020202020204" pitchFamily="34" charset="0"/>
              <a:buChar char="•"/>
            </a:pPr>
            <a:r>
              <a:rPr lang="en-US" altLang="en-US" dirty="0">
                <a:latin typeface="Comic Sans MS" panose="030F0702030302020204" pitchFamily="66" charset="0"/>
              </a:rPr>
              <a:t>Single memory reference to access data</a:t>
            </a:r>
          </a:p>
          <a:p>
            <a:pPr>
              <a:buFont typeface="Arial" panose="020B0604020202020204" pitchFamily="34" charset="0"/>
              <a:buChar char="•"/>
            </a:pPr>
            <a:r>
              <a:rPr lang="en-US" altLang="en-US" dirty="0">
                <a:latin typeface="Comic Sans MS" panose="030F0702030302020204" pitchFamily="66" charset="0"/>
              </a:rPr>
              <a:t>No additional calculations to work out effective address</a:t>
            </a:r>
          </a:p>
          <a:p>
            <a:pPr>
              <a:buFont typeface="Arial" panose="020B0604020202020204" pitchFamily="34" charset="0"/>
              <a:buChar char="•"/>
            </a:pPr>
            <a:r>
              <a:rPr lang="en-US" altLang="en-US" dirty="0">
                <a:latin typeface="Comic Sans MS" panose="030F0702030302020204" pitchFamily="66" charset="0"/>
              </a:rPr>
              <a:t>Limited address space</a:t>
            </a:r>
          </a:p>
        </p:txBody>
      </p:sp>
      <p:sp>
        <p:nvSpPr>
          <p:cNvPr id="12294" name="Rectangle 6"/>
          <p:cNvSpPr>
            <a:spLocks noGrp="1" noChangeArrowheads="1"/>
          </p:cNvSpPr>
          <p:nvPr>
            <p:ph type="title" idx="4294967295"/>
          </p:nvPr>
        </p:nvSpPr>
        <p:spPr>
          <a:xfrm>
            <a:off x="0" y="274638"/>
            <a:ext cx="6121400" cy="850900"/>
          </a:xfrm>
        </p:spPr>
        <p:txBody>
          <a:bodyPr/>
          <a:lstStyle/>
          <a:p>
            <a:r>
              <a:rPr lang="en-US" altLang="en-US" dirty="0">
                <a:solidFill>
                  <a:srgbClr val="C00000"/>
                </a:solidFill>
              </a:rPr>
              <a:t>Direct Addressing</a:t>
            </a:r>
          </a:p>
        </p:txBody>
      </p:sp>
    </p:spTree>
    <p:extLst>
      <p:ext uri="{BB962C8B-B14F-4D97-AF65-F5344CB8AC3E}">
        <p14:creationId xmlns:p14="http://schemas.microsoft.com/office/powerpoint/2010/main" val="3474954930"/>
      </p:ext>
    </p:extLst>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9"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0"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fontScale="90000"/>
          </a:bodyPr>
          <a:lstStyle/>
          <a:p>
            <a:r>
              <a:rPr lang="en-US" altLang="en-US" dirty="0">
                <a:solidFill>
                  <a:srgbClr val="C00000"/>
                </a:solidFill>
              </a:rPr>
              <a:t>Direct Addressing Diagram</a:t>
            </a:r>
          </a:p>
        </p:txBody>
      </p:sp>
      <p:grpSp>
        <p:nvGrpSpPr>
          <p:cNvPr id="14343" name="Group 7"/>
          <p:cNvGrpSpPr>
            <a:grpSpLocks/>
          </p:cNvGrpSpPr>
          <p:nvPr/>
        </p:nvGrpSpPr>
        <p:grpSpPr bwMode="auto">
          <a:xfrm>
            <a:off x="838200" y="2287588"/>
            <a:ext cx="4722813" cy="604837"/>
            <a:chOff x="913" y="1441"/>
            <a:chExt cx="2975" cy="381"/>
          </a:xfrm>
        </p:grpSpPr>
        <p:sp>
          <p:nvSpPr>
            <p:cNvPr id="14341" name="Rectangle 5"/>
            <p:cNvSpPr>
              <a:spLocks noChangeArrowheads="1"/>
            </p:cNvSpPr>
            <p:nvPr/>
          </p:nvSpPr>
          <p:spPr bwMode="auto">
            <a:xfrm>
              <a:off x="913" y="1441"/>
              <a:ext cx="2975" cy="38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2" name="Line 6"/>
            <p:cNvSpPr>
              <a:spLocks noChangeShapeType="1"/>
            </p:cNvSpPr>
            <p:nvPr/>
          </p:nvSpPr>
          <p:spPr bwMode="auto">
            <a:xfrm>
              <a:off x="1537" y="1446"/>
              <a:ext cx="0" cy="3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4344" name="Rectangle 8"/>
          <p:cNvSpPr>
            <a:spLocks noChangeArrowheads="1"/>
          </p:cNvSpPr>
          <p:nvPr/>
        </p:nvSpPr>
        <p:spPr bwMode="auto">
          <a:xfrm>
            <a:off x="2971800" y="2363788"/>
            <a:ext cx="147796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Address A</a:t>
            </a:r>
          </a:p>
        </p:txBody>
      </p:sp>
      <p:sp>
        <p:nvSpPr>
          <p:cNvPr id="14345" name="Rectangle 9"/>
          <p:cNvSpPr>
            <a:spLocks noChangeArrowheads="1"/>
          </p:cNvSpPr>
          <p:nvPr/>
        </p:nvSpPr>
        <p:spPr bwMode="auto">
          <a:xfrm>
            <a:off x="762000" y="2363788"/>
            <a:ext cx="11287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Opcode</a:t>
            </a:r>
          </a:p>
        </p:txBody>
      </p:sp>
      <p:sp>
        <p:nvSpPr>
          <p:cNvPr id="14346" name="Rectangle 10"/>
          <p:cNvSpPr>
            <a:spLocks noChangeArrowheads="1"/>
          </p:cNvSpPr>
          <p:nvPr/>
        </p:nvSpPr>
        <p:spPr bwMode="auto">
          <a:xfrm>
            <a:off x="2514600" y="1830388"/>
            <a:ext cx="150018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Instruction</a:t>
            </a:r>
          </a:p>
        </p:txBody>
      </p:sp>
      <p:sp>
        <p:nvSpPr>
          <p:cNvPr id="14347" name="Rectangle 11"/>
          <p:cNvSpPr>
            <a:spLocks noChangeArrowheads="1"/>
          </p:cNvSpPr>
          <p:nvPr/>
        </p:nvSpPr>
        <p:spPr bwMode="auto">
          <a:xfrm>
            <a:off x="5791200" y="32019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8" name="Rectangle 12"/>
          <p:cNvSpPr>
            <a:spLocks noChangeArrowheads="1"/>
          </p:cNvSpPr>
          <p:nvPr/>
        </p:nvSpPr>
        <p:spPr bwMode="auto">
          <a:xfrm>
            <a:off x="5791200" y="38877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9" name="Rectangle 13"/>
          <p:cNvSpPr>
            <a:spLocks noChangeArrowheads="1"/>
          </p:cNvSpPr>
          <p:nvPr/>
        </p:nvSpPr>
        <p:spPr bwMode="auto">
          <a:xfrm>
            <a:off x="5791200" y="45735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0" name="Rectangle 14"/>
          <p:cNvSpPr>
            <a:spLocks noChangeArrowheads="1"/>
          </p:cNvSpPr>
          <p:nvPr/>
        </p:nvSpPr>
        <p:spPr bwMode="auto">
          <a:xfrm>
            <a:off x="5791200" y="52593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1" name="Rectangle 15"/>
          <p:cNvSpPr>
            <a:spLocks noChangeArrowheads="1"/>
          </p:cNvSpPr>
          <p:nvPr/>
        </p:nvSpPr>
        <p:spPr bwMode="auto">
          <a:xfrm>
            <a:off x="5791200" y="59451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2" name="Rectangle 16"/>
          <p:cNvSpPr>
            <a:spLocks noChangeArrowheads="1"/>
          </p:cNvSpPr>
          <p:nvPr/>
        </p:nvSpPr>
        <p:spPr bwMode="auto">
          <a:xfrm>
            <a:off x="6324600" y="2668588"/>
            <a:ext cx="12303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Memory</a:t>
            </a:r>
          </a:p>
        </p:txBody>
      </p:sp>
      <p:sp>
        <p:nvSpPr>
          <p:cNvPr id="14353" name="Rectangle 17"/>
          <p:cNvSpPr>
            <a:spLocks noChangeArrowheads="1"/>
          </p:cNvSpPr>
          <p:nvPr/>
        </p:nvSpPr>
        <p:spPr bwMode="auto">
          <a:xfrm>
            <a:off x="6477000" y="4725988"/>
            <a:ext cx="12303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Operand</a:t>
            </a:r>
          </a:p>
        </p:txBody>
      </p:sp>
      <p:sp>
        <p:nvSpPr>
          <p:cNvPr id="14354" name="Freeform 18"/>
          <p:cNvSpPr>
            <a:spLocks/>
          </p:cNvSpPr>
          <p:nvPr/>
        </p:nvSpPr>
        <p:spPr bwMode="auto">
          <a:xfrm>
            <a:off x="3200400" y="2894013"/>
            <a:ext cx="2590800" cy="2022475"/>
          </a:xfrm>
          <a:custGeom>
            <a:avLst/>
            <a:gdLst>
              <a:gd name="T0" fmla="*/ 0 w 1632"/>
              <a:gd name="T1" fmla="*/ 0 h 1274"/>
              <a:gd name="T2" fmla="*/ 0 w 1632"/>
              <a:gd name="T3" fmla="*/ 1273 h 1274"/>
              <a:gd name="T4" fmla="*/ 1631 w 1632"/>
              <a:gd name="T5" fmla="*/ 1273 h 1274"/>
            </a:gdLst>
            <a:ahLst/>
            <a:cxnLst>
              <a:cxn ang="0">
                <a:pos x="T0" y="T1"/>
              </a:cxn>
              <a:cxn ang="0">
                <a:pos x="T2" y="T3"/>
              </a:cxn>
              <a:cxn ang="0">
                <a:pos x="T4" y="T5"/>
              </a:cxn>
            </a:cxnLst>
            <a:rect l="0" t="0" r="r" b="b"/>
            <a:pathLst>
              <a:path w="1632" h="1274">
                <a:moveTo>
                  <a:pt x="0" y="0"/>
                </a:moveTo>
                <a:lnTo>
                  <a:pt x="0" y="1273"/>
                </a:lnTo>
                <a:lnTo>
                  <a:pt x="1631" y="1273"/>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877255970"/>
      </p:ext>
    </p:extLst>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7"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9"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t>Memory cell pointed to by address field contains the address of (pointer to) the operand</a:t>
            </a:r>
          </a:p>
          <a:p>
            <a:pPr>
              <a:buFont typeface="Arial" panose="020B0604020202020204" pitchFamily="34" charset="0"/>
              <a:buChar char="•"/>
            </a:pPr>
            <a:r>
              <a:rPr lang="en-US" altLang="en-US" dirty="0"/>
              <a:t>EA = (A)</a:t>
            </a:r>
          </a:p>
          <a:p>
            <a:pPr lvl="1"/>
            <a:r>
              <a:rPr lang="en-US" altLang="en-US" sz="2400" dirty="0"/>
              <a:t>Look in A, find address (A) and look there for operand</a:t>
            </a:r>
          </a:p>
          <a:p>
            <a:pPr>
              <a:buFont typeface="Arial" panose="020B0604020202020204" pitchFamily="34" charset="0"/>
              <a:buChar char="•"/>
            </a:pPr>
            <a:r>
              <a:rPr lang="en-US" altLang="en-US" dirty="0"/>
              <a:t>e.g. ADD (A)</a:t>
            </a:r>
          </a:p>
          <a:p>
            <a:pPr lvl="1"/>
            <a:r>
              <a:rPr lang="en-US" altLang="en-US" sz="2400" dirty="0"/>
              <a:t>Add contents of cell pointed to by contents of A to accumulator</a:t>
            </a:r>
          </a:p>
        </p:txBody>
      </p:sp>
      <p:sp>
        <p:nvSpPr>
          <p:cNvPr id="16388"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Indirect Addressing (1)</a:t>
            </a:r>
          </a:p>
        </p:txBody>
      </p:sp>
    </p:spTree>
    <p:extLst>
      <p:ext uri="{BB962C8B-B14F-4D97-AF65-F5344CB8AC3E}">
        <p14:creationId xmlns:p14="http://schemas.microsoft.com/office/powerpoint/2010/main" val="3137372403"/>
      </p:ext>
    </p:extLst>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5"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7"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t>Large address space </a:t>
            </a:r>
          </a:p>
          <a:p>
            <a:pPr>
              <a:buFont typeface="Arial" panose="020B0604020202020204" pitchFamily="34" charset="0"/>
              <a:buChar char="•"/>
            </a:pPr>
            <a:r>
              <a:rPr lang="en-US" altLang="en-US" dirty="0"/>
              <a:t>2</a:t>
            </a:r>
            <a:r>
              <a:rPr lang="en-US" altLang="en-US" baseline="30000" dirty="0"/>
              <a:t>n</a:t>
            </a:r>
            <a:r>
              <a:rPr lang="en-US" altLang="en-US" dirty="0"/>
              <a:t> where n = word length</a:t>
            </a:r>
          </a:p>
          <a:p>
            <a:pPr>
              <a:buFont typeface="Arial" panose="020B0604020202020204" pitchFamily="34" charset="0"/>
              <a:buChar char="•"/>
            </a:pPr>
            <a:r>
              <a:rPr lang="en-US" altLang="en-US" dirty="0"/>
              <a:t>May be nested, multilevel, cascaded</a:t>
            </a:r>
          </a:p>
          <a:p>
            <a:pPr lvl="1"/>
            <a:r>
              <a:rPr lang="en-US" altLang="en-US" sz="2400" dirty="0"/>
              <a:t>e.g. EA = (((A)))</a:t>
            </a:r>
          </a:p>
          <a:p>
            <a:pPr>
              <a:buFont typeface="Arial" panose="020B0604020202020204" pitchFamily="34" charset="0"/>
              <a:buChar char="•"/>
            </a:pPr>
            <a:r>
              <a:rPr lang="en-US" altLang="en-US" dirty="0" smtClean="0"/>
              <a:t>Multiple </a:t>
            </a:r>
            <a:r>
              <a:rPr lang="en-US" altLang="en-US" dirty="0"/>
              <a:t>memory accesses to find operand</a:t>
            </a:r>
          </a:p>
          <a:p>
            <a:pPr>
              <a:buFont typeface="Arial" panose="020B0604020202020204" pitchFamily="34" charset="0"/>
              <a:buChar char="•"/>
            </a:pPr>
            <a:r>
              <a:rPr lang="en-US" altLang="en-US" dirty="0"/>
              <a:t>Hence slower</a:t>
            </a:r>
          </a:p>
        </p:txBody>
      </p:sp>
      <p:sp>
        <p:nvSpPr>
          <p:cNvPr id="18436"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Indirect Addressing (2)</a:t>
            </a:r>
          </a:p>
        </p:txBody>
      </p:sp>
    </p:spTree>
    <p:extLst>
      <p:ext uri="{BB962C8B-B14F-4D97-AF65-F5344CB8AC3E}">
        <p14:creationId xmlns:p14="http://schemas.microsoft.com/office/powerpoint/2010/main" val="1668559183"/>
      </p:ext>
    </p:extLst>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431800" y="5692775"/>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3" name="Rectangle 3"/>
          <p:cNvSpPr>
            <a:spLocks noChangeArrowheads="1"/>
          </p:cNvSpPr>
          <p:nvPr/>
        </p:nvSpPr>
        <p:spPr bwMode="auto">
          <a:xfrm>
            <a:off x="3124200" y="5692775"/>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4"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fontScale="90000"/>
          </a:bodyPr>
          <a:lstStyle/>
          <a:p>
            <a:r>
              <a:rPr lang="en-US" altLang="en-US">
                <a:solidFill>
                  <a:srgbClr val="C00000"/>
                </a:solidFill>
              </a:rPr>
              <a:t>Indirect Addressing Diagram</a:t>
            </a:r>
          </a:p>
        </p:txBody>
      </p:sp>
      <p:grpSp>
        <p:nvGrpSpPr>
          <p:cNvPr id="20488" name="Group 8"/>
          <p:cNvGrpSpPr>
            <a:grpSpLocks/>
          </p:cNvGrpSpPr>
          <p:nvPr/>
        </p:nvGrpSpPr>
        <p:grpSpPr bwMode="auto">
          <a:xfrm>
            <a:off x="533400" y="1828800"/>
            <a:ext cx="4722813" cy="604838"/>
            <a:chOff x="336" y="1490"/>
            <a:chExt cx="2975" cy="381"/>
          </a:xfrm>
        </p:grpSpPr>
        <p:sp>
          <p:nvSpPr>
            <p:cNvPr id="20486" name="Rectangle 6"/>
            <p:cNvSpPr>
              <a:spLocks noChangeArrowheads="1"/>
            </p:cNvSpPr>
            <p:nvPr/>
          </p:nvSpPr>
          <p:spPr bwMode="auto">
            <a:xfrm>
              <a:off x="336" y="1490"/>
              <a:ext cx="2975" cy="38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7" name="Line 7"/>
            <p:cNvSpPr>
              <a:spLocks noChangeShapeType="1"/>
            </p:cNvSpPr>
            <p:nvPr/>
          </p:nvSpPr>
          <p:spPr bwMode="auto">
            <a:xfrm>
              <a:off x="960" y="1495"/>
              <a:ext cx="0" cy="3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0489" name="Rectangle 9"/>
          <p:cNvSpPr>
            <a:spLocks noChangeArrowheads="1"/>
          </p:cNvSpPr>
          <p:nvPr/>
        </p:nvSpPr>
        <p:spPr bwMode="auto">
          <a:xfrm>
            <a:off x="2667000" y="1905000"/>
            <a:ext cx="147796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Address A</a:t>
            </a:r>
          </a:p>
        </p:txBody>
      </p:sp>
      <p:sp>
        <p:nvSpPr>
          <p:cNvPr id="20490" name="Rectangle 10"/>
          <p:cNvSpPr>
            <a:spLocks noChangeArrowheads="1"/>
          </p:cNvSpPr>
          <p:nvPr/>
        </p:nvSpPr>
        <p:spPr bwMode="auto">
          <a:xfrm>
            <a:off x="457200" y="1905000"/>
            <a:ext cx="11287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Opcode</a:t>
            </a:r>
          </a:p>
        </p:txBody>
      </p:sp>
      <p:sp>
        <p:nvSpPr>
          <p:cNvPr id="20491" name="Rectangle 11"/>
          <p:cNvSpPr>
            <a:spLocks noChangeArrowheads="1"/>
          </p:cNvSpPr>
          <p:nvPr/>
        </p:nvSpPr>
        <p:spPr bwMode="auto">
          <a:xfrm>
            <a:off x="2209800" y="1371600"/>
            <a:ext cx="150018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Instruction</a:t>
            </a:r>
          </a:p>
        </p:txBody>
      </p:sp>
      <p:sp>
        <p:nvSpPr>
          <p:cNvPr id="20492" name="Rectangle 12"/>
          <p:cNvSpPr>
            <a:spLocks noChangeArrowheads="1"/>
          </p:cNvSpPr>
          <p:nvPr/>
        </p:nvSpPr>
        <p:spPr bwMode="auto">
          <a:xfrm>
            <a:off x="5486400" y="2743200"/>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3" name="Rectangle 13"/>
          <p:cNvSpPr>
            <a:spLocks noChangeArrowheads="1"/>
          </p:cNvSpPr>
          <p:nvPr/>
        </p:nvSpPr>
        <p:spPr bwMode="auto">
          <a:xfrm>
            <a:off x="5486400" y="3429000"/>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4" name="Rectangle 14"/>
          <p:cNvSpPr>
            <a:spLocks noChangeArrowheads="1"/>
          </p:cNvSpPr>
          <p:nvPr/>
        </p:nvSpPr>
        <p:spPr bwMode="auto">
          <a:xfrm>
            <a:off x="5486400" y="4114800"/>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5" name="Rectangle 15"/>
          <p:cNvSpPr>
            <a:spLocks noChangeArrowheads="1"/>
          </p:cNvSpPr>
          <p:nvPr/>
        </p:nvSpPr>
        <p:spPr bwMode="auto">
          <a:xfrm>
            <a:off x="5486400" y="4800600"/>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6" name="Rectangle 16"/>
          <p:cNvSpPr>
            <a:spLocks noChangeArrowheads="1"/>
          </p:cNvSpPr>
          <p:nvPr/>
        </p:nvSpPr>
        <p:spPr bwMode="auto">
          <a:xfrm>
            <a:off x="5486400" y="5486400"/>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7" name="Rectangle 17"/>
          <p:cNvSpPr>
            <a:spLocks noChangeArrowheads="1"/>
          </p:cNvSpPr>
          <p:nvPr/>
        </p:nvSpPr>
        <p:spPr bwMode="auto">
          <a:xfrm>
            <a:off x="6019800" y="2209800"/>
            <a:ext cx="12303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Memory</a:t>
            </a:r>
          </a:p>
        </p:txBody>
      </p:sp>
      <p:sp>
        <p:nvSpPr>
          <p:cNvPr id="20498" name="Rectangle 18"/>
          <p:cNvSpPr>
            <a:spLocks noChangeArrowheads="1"/>
          </p:cNvSpPr>
          <p:nvPr/>
        </p:nvSpPr>
        <p:spPr bwMode="auto">
          <a:xfrm>
            <a:off x="6172200" y="4267200"/>
            <a:ext cx="12303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Operand</a:t>
            </a:r>
          </a:p>
        </p:txBody>
      </p:sp>
      <p:sp>
        <p:nvSpPr>
          <p:cNvPr id="20499" name="Freeform 19"/>
          <p:cNvSpPr>
            <a:spLocks/>
          </p:cNvSpPr>
          <p:nvPr/>
        </p:nvSpPr>
        <p:spPr bwMode="auto">
          <a:xfrm>
            <a:off x="2895600" y="2435225"/>
            <a:ext cx="2590800" cy="650875"/>
          </a:xfrm>
          <a:custGeom>
            <a:avLst/>
            <a:gdLst>
              <a:gd name="T0" fmla="*/ 0 w 1632"/>
              <a:gd name="T1" fmla="*/ 0 h 410"/>
              <a:gd name="T2" fmla="*/ 0 w 1632"/>
              <a:gd name="T3" fmla="*/ 409 h 410"/>
              <a:gd name="T4" fmla="*/ 1631 w 1632"/>
              <a:gd name="T5" fmla="*/ 409 h 410"/>
            </a:gdLst>
            <a:ahLst/>
            <a:cxnLst>
              <a:cxn ang="0">
                <a:pos x="T0" y="T1"/>
              </a:cxn>
              <a:cxn ang="0">
                <a:pos x="T2" y="T3"/>
              </a:cxn>
              <a:cxn ang="0">
                <a:pos x="T4" y="T5"/>
              </a:cxn>
            </a:cxnLst>
            <a:rect l="0" t="0" r="r" b="b"/>
            <a:pathLst>
              <a:path w="1632" h="410">
                <a:moveTo>
                  <a:pt x="0" y="0"/>
                </a:moveTo>
                <a:lnTo>
                  <a:pt x="0" y="409"/>
                </a:lnTo>
                <a:lnTo>
                  <a:pt x="1631" y="409"/>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00" name="Rectangle 20"/>
          <p:cNvSpPr>
            <a:spLocks noChangeArrowheads="1"/>
          </p:cNvSpPr>
          <p:nvPr/>
        </p:nvSpPr>
        <p:spPr bwMode="auto">
          <a:xfrm>
            <a:off x="5564188" y="2894013"/>
            <a:ext cx="243046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Pointer to operand</a:t>
            </a:r>
          </a:p>
        </p:txBody>
      </p:sp>
      <p:sp>
        <p:nvSpPr>
          <p:cNvPr id="20501" name="Freeform 21"/>
          <p:cNvSpPr>
            <a:spLocks/>
          </p:cNvSpPr>
          <p:nvPr/>
        </p:nvSpPr>
        <p:spPr bwMode="auto">
          <a:xfrm>
            <a:off x="8075613" y="3084513"/>
            <a:ext cx="230187" cy="1373187"/>
          </a:xfrm>
          <a:custGeom>
            <a:avLst/>
            <a:gdLst>
              <a:gd name="T0" fmla="*/ 0 w 145"/>
              <a:gd name="T1" fmla="*/ 0 h 865"/>
              <a:gd name="T2" fmla="*/ 144 w 145"/>
              <a:gd name="T3" fmla="*/ 0 h 865"/>
              <a:gd name="T4" fmla="*/ 144 w 145"/>
              <a:gd name="T5" fmla="*/ 864 h 865"/>
              <a:gd name="T6" fmla="*/ 1 w 145"/>
              <a:gd name="T7" fmla="*/ 864 h 865"/>
            </a:gdLst>
            <a:ahLst/>
            <a:cxnLst>
              <a:cxn ang="0">
                <a:pos x="T0" y="T1"/>
              </a:cxn>
              <a:cxn ang="0">
                <a:pos x="T2" y="T3"/>
              </a:cxn>
              <a:cxn ang="0">
                <a:pos x="T4" y="T5"/>
              </a:cxn>
              <a:cxn ang="0">
                <a:pos x="T6" y="T7"/>
              </a:cxn>
            </a:cxnLst>
            <a:rect l="0" t="0" r="r" b="b"/>
            <a:pathLst>
              <a:path w="145" h="865">
                <a:moveTo>
                  <a:pt x="0" y="0"/>
                </a:moveTo>
                <a:lnTo>
                  <a:pt x="144" y="0"/>
                </a:lnTo>
                <a:lnTo>
                  <a:pt x="144" y="864"/>
                </a:lnTo>
                <a:lnTo>
                  <a:pt x="1" y="864"/>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966650007"/>
      </p:ext>
    </p:extLst>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1"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3"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Operand is held in register named in address filed</a:t>
            </a:r>
          </a:p>
          <a:p>
            <a:pPr>
              <a:buFont typeface="Arial" panose="020B0604020202020204" pitchFamily="34" charset="0"/>
              <a:buChar char="•"/>
            </a:pPr>
            <a:r>
              <a:rPr lang="en-US" altLang="en-US" dirty="0">
                <a:latin typeface="Comic Sans MS" panose="030F0702030302020204" pitchFamily="66" charset="0"/>
              </a:rPr>
              <a:t>EA = R</a:t>
            </a:r>
          </a:p>
          <a:p>
            <a:pPr>
              <a:buFont typeface="Arial" panose="020B0604020202020204" pitchFamily="34" charset="0"/>
              <a:buChar char="•"/>
            </a:pPr>
            <a:r>
              <a:rPr lang="en-US" altLang="en-US" dirty="0">
                <a:latin typeface="Comic Sans MS" panose="030F0702030302020204" pitchFamily="66" charset="0"/>
              </a:rPr>
              <a:t>Limited number of registers</a:t>
            </a:r>
          </a:p>
          <a:p>
            <a:pPr>
              <a:buFont typeface="Arial" panose="020B0604020202020204" pitchFamily="34" charset="0"/>
              <a:buChar char="•"/>
            </a:pPr>
            <a:r>
              <a:rPr lang="en-US" altLang="en-US" dirty="0">
                <a:latin typeface="Comic Sans MS" panose="030F0702030302020204" pitchFamily="66" charset="0"/>
              </a:rPr>
              <a:t>Very small address field needed </a:t>
            </a:r>
          </a:p>
          <a:p>
            <a:pPr lvl="1"/>
            <a:r>
              <a:rPr lang="en-US" altLang="en-US" sz="2400" dirty="0">
                <a:latin typeface="Comic Sans MS" panose="030F0702030302020204" pitchFamily="66" charset="0"/>
              </a:rPr>
              <a:t>Shorter instructions</a:t>
            </a:r>
          </a:p>
          <a:p>
            <a:pPr lvl="1"/>
            <a:r>
              <a:rPr lang="en-US" altLang="en-US" sz="2400" dirty="0">
                <a:latin typeface="Comic Sans MS" panose="030F0702030302020204" pitchFamily="66" charset="0"/>
              </a:rPr>
              <a:t>Faster instruction fetch</a:t>
            </a:r>
          </a:p>
        </p:txBody>
      </p:sp>
      <p:sp>
        <p:nvSpPr>
          <p:cNvPr id="22532"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Register Addressing (1)</a:t>
            </a:r>
          </a:p>
        </p:txBody>
      </p:sp>
    </p:spTree>
    <p:extLst>
      <p:ext uri="{BB962C8B-B14F-4D97-AF65-F5344CB8AC3E}">
        <p14:creationId xmlns:p14="http://schemas.microsoft.com/office/powerpoint/2010/main" val="1279349560"/>
      </p:ext>
    </p:extLst>
  </p:cSld>
  <p:clrMapOvr>
    <a:masterClrMapping/>
  </p:clrMapOvr>
  <p:transition spd="slow"/>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79"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3" name="Rectangle 7"/>
          <p:cNvSpPr>
            <a:spLocks noGrp="1" noChangeArrowheads="1"/>
          </p:cNvSpPr>
          <p:nvPr>
            <p:ph idx="1"/>
          </p:nvPr>
        </p:nvSpPr>
        <p:spPr/>
        <p:txBody>
          <a:bodyPr/>
          <a:lstStyle/>
          <a:p>
            <a:pPr>
              <a:buFont typeface="Arial" panose="020B0604020202020204" pitchFamily="34" charset="0"/>
              <a:buChar char="•"/>
            </a:pPr>
            <a:r>
              <a:rPr lang="en-US" altLang="en-US" dirty="0">
                <a:latin typeface="Comic Sans MS" panose="030F0702030302020204" pitchFamily="66" charset="0"/>
              </a:rPr>
              <a:t>No memory access</a:t>
            </a:r>
          </a:p>
          <a:p>
            <a:pPr>
              <a:buFont typeface="Arial" panose="020B0604020202020204" pitchFamily="34" charset="0"/>
              <a:buChar char="•"/>
            </a:pPr>
            <a:r>
              <a:rPr lang="en-US" altLang="en-US" dirty="0">
                <a:latin typeface="Comic Sans MS" panose="030F0702030302020204" pitchFamily="66" charset="0"/>
              </a:rPr>
              <a:t>Very fast execution</a:t>
            </a:r>
          </a:p>
          <a:p>
            <a:pPr>
              <a:buFont typeface="Arial" panose="020B0604020202020204" pitchFamily="34" charset="0"/>
              <a:buChar char="•"/>
            </a:pPr>
            <a:r>
              <a:rPr lang="en-US" altLang="en-US" dirty="0">
                <a:latin typeface="Comic Sans MS" panose="030F0702030302020204" pitchFamily="66" charset="0"/>
              </a:rPr>
              <a:t>Very limited address space</a:t>
            </a:r>
          </a:p>
          <a:p>
            <a:pPr>
              <a:buFont typeface="Arial" panose="020B0604020202020204" pitchFamily="34" charset="0"/>
              <a:buChar char="•"/>
            </a:pPr>
            <a:r>
              <a:rPr lang="en-US" altLang="en-US" dirty="0">
                <a:latin typeface="Comic Sans MS" panose="030F0702030302020204" pitchFamily="66" charset="0"/>
              </a:rPr>
              <a:t>Multiple registers helps performance</a:t>
            </a:r>
          </a:p>
          <a:p>
            <a:pPr lvl="1"/>
            <a:r>
              <a:rPr lang="en-US" altLang="en-US" sz="2400" dirty="0">
                <a:latin typeface="Comic Sans MS" panose="030F0702030302020204" pitchFamily="66" charset="0"/>
              </a:rPr>
              <a:t>Requires good assembly programming or compiler writing</a:t>
            </a:r>
          </a:p>
          <a:p>
            <a:pPr lvl="1"/>
            <a:r>
              <a:rPr lang="en-US" altLang="en-US" sz="2400" dirty="0" smtClean="0">
                <a:latin typeface="Comic Sans MS" panose="030F0702030302020204" pitchFamily="66" charset="0"/>
              </a:rPr>
              <a:t>C </a:t>
            </a:r>
            <a:r>
              <a:rPr lang="en-US" altLang="en-US" sz="2400" dirty="0">
                <a:latin typeface="Comic Sans MS" panose="030F0702030302020204" pitchFamily="66" charset="0"/>
              </a:rPr>
              <a:t>programming </a:t>
            </a:r>
          </a:p>
          <a:p>
            <a:pPr lvl="2"/>
            <a:r>
              <a:rPr lang="en-US" altLang="en-US" dirty="0">
                <a:latin typeface="Comic Sans MS" panose="030F0702030302020204" pitchFamily="66" charset="0"/>
              </a:rPr>
              <a:t>register </a:t>
            </a:r>
            <a:r>
              <a:rPr lang="en-US" altLang="en-US" dirty="0" err="1">
                <a:latin typeface="Comic Sans MS" panose="030F0702030302020204" pitchFamily="66" charset="0"/>
              </a:rPr>
              <a:t>int</a:t>
            </a:r>
            <a:r>
              <a:rPr lang="en-US" altLang="en-US" dirty="0">
                <a:latin typeface="Comic Sans MS" panose="030F0702030302020204" pitchFamily="66" charset="0"/>
              </a:rPr>
              <a:t> a;</a:t>
            </a:r>
          </a:p>
          <a:p>
            <a:pPr marL="0" indent="0"/>
            <a:endParaRPr lang="en-US" altLang="en-US" dirty="0">
              <a:latin typeface="Comic Sans MS" panose="030F0702030302020204" pitchFamily="66" charset="0"/>
            </a:endParaRPr>
          </a:p>
        </p:txBody>
      </p:sp>
      <p:sp>
        <p:nvSpPr>
          <p:cNvPr id="24582" name="Rectangle 6"/>
          <p:cNvSpPr>
            <a:spLocks noGrp="1" noChangeArrowheads="1"/>
          </p:cNvSpPr>
          <p:nvPr>
            <p:ph type="title" idx="4294967295"/>
          </p:nvPr>
        </p:nvSpPr>
        <p:spPr>
          <a:xfrm>
            <a:off x="0" y="274638"/>
            <a:ext cx="6121400" cy="850900"/>
          </a:xfrm>
        </p:spPr>
        <p:txBody>
          <a:bodyPr/>
          <a:lstStyle/>
          <a:p>
            <a:r>
              <a:rPr lang="en-US" altLang="en-US">
                <a:solidFill>
                  <a:srgbClr val="C00000"/>
                </a:solidFill>
              </a:rPr>
              <a:t>Register Addressing (2)</a:t>
            </a:r>
          </a:p>
        </p:txBody>
      </p:sp>
    </p:spTree>
    <p:extLst>
      <p:ext uri="{BB962C8B-B14F-4D97-AF65-F5344CB8AC3E}">
        <p14:creationId xmlns:p14="http://schemas.microsoft.com/office/powerpoint/2010/main" val="2826007992"/>
      </p:ext>
    </p:extLst>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ChangeArrowheads="1"/>
          </p:cNvSpPr>
          <p:nvPr/>
        </p:nvSpPr>
        <p:spPr bwMode="auto">
          <a:xfrm>
            <a:off x="2439988"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28"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fontScale="90000"/>
          </a:bodyPr>
          <a:lstStyle/>
          <a:p>
            <a:r>
              <a:rPr lang="en-US" altLang="en-US" dirty="0">
                <a:solidFill>
                  <a:srgbClr val="C00000"/>
                </a:solidFill>
              </a:rPr>
              <a:t>Register Addressing Diagram</a:t>
            </a:r>
          </a:p>
        </p:txBody>
      </p:sp>
      <p:grpSp>
        <p:nvGrpSpPr>
          <p:cNvPr id="26631" name="Group 7"/>
          <p:cNvGrpSpPr>
            <a:grpSpLocks/>
          </p:cNvGrpSpPr>
          <p:nvPr/>
        </p:nvGrpSpPr>
        <p:grpSpPr bwMode="auto">
          <a:xfrm>
            <a:off x="765175" y="2287588"/>
            <a:ext cx="4722813" cy="604837"/>
            <a:chOff x="913" y="1441"/>
            <a:chExt cx="2975" cy="381"/>
          </a:xfrm>
        </p:grpSpPr>
        <p:sp>
          <p:nvSpPr>
            <p:cNvPr id="26629" name="Rectangle 5"/>
            <p:cNvSpPr>
              <a:spLocks noChangeArrowheads="1"/>
            </p:cNvSpPr>
            <p:nvPr/>
          </p:nvSpPr>
          <p:spPr bwMode="auto">
            <a:xfrm>
              <a:off x="913" y="1441"/>
              <a:ext cx="2975" cy="38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0" name="Line 6"/>
            <p:cNvSpPr>
              <a:spLocks noChangeShapeType="1"/>
            </p:cNvSpPr>
            <p:nvPr/>
          </p:nvSpPr>
          <p:spPr bwMode="auto">
            <a:xfrm>
              <a:off x="1537" y="1446"/>
              <a:ext cx="0" cy="3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6632" name="Rectangle 8"/>
          <p:cNvSpPr>
            <a:spLocks noChangeArrowheads="1"/>
          </p:cNvSpPr>
          <p:nvPr/>
        </p:nvSpPr>
        <p:spPr bwMode="auto">
          <a:xfrm>
            <a:off x="2060575" y="2363788"/>
            <a:ext cx="25511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Register Address R</a:t>
            </a:r>
          </a:p>
        </p:txBody>
      </p:sp>
      <p:sp>
        <p:nvSpPr>
          <p:cNvPr id="26633" name="Rectangle 9"/>
          <p:cNvSpPr>
            <a:spLocks noChangeArrowheads="1"/>
          </p:cNvSpPr>
          <p:nvPr/>
        </p:nvSpPr>
        <p:spPr bwMode="auto">
          <a:xfrm>
            <a:off x="688975" y="2363788"/>
            <a:ext cx="11287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Opcode</a:t>
            </a:r>
          </a:p>
        </p:txBody>
      </p:sp>
      <p:sp>
        <p:nvSpPr>
          <p:cNvPr id="26634" name="Rectangle 10"/>
          <p:cNvSpPr>
            <a:spLocks noChangeArrowheads="1"/>
          </p:cNvSpPr>
          <p:nvPr/>
        </p:nvSpPr>
        <p:spPr bwMode="auto">
          <a:xfrm>
            <a:off x="2441575" y="1830388"/>
            <a:ext cx="150018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Instruction</a:t>
            </a:r>
          </a:p>
        </p:txBody>
      </p:sp>
      <p:sp>
        <p:nvSpPr>
          <p:cNvPr id="26635" name="Rectangle 11"/>
          <p:cNvSpPr>
            <a:spLocks noChangeArrowheads="1"/>
          </p:cNvSpPr>
          <p:nvPr/>
        </p:nvSpPr>
        <p:spPr bwMode="auto">
          <a:xfrm>
            <a:off x="5718175" y="32019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6" name="Rectangle 12"/>
          <p:cNvSpPr>
            <a:spLocks noChangeArrowheads="1"/>
          </p:cNvSpPr>
          <p:nvPr/>
        </p:nvSpPr>
        <p:spPr bwMode="auto">
          <a:xfrm>
            <a:off x="5718175" y="38877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7" name="Rectangle 13"/>
          <p:cNvSpPr>
            <a:spLocks noChangeArrowheads="1"/>
          </p:cNvSpPr>
          <p:nvPr/>
        </p:nvSpPr>
        <p:spPr bwMode="auto">
          <a:xfrm>
            <a:off x="5718175" y="45735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8" name="Rectangle 14"/>
          <p:cNvSpPr>
            <a:spLocks noChangeArrowheads="1"/>
          </p:cNvSpPr>
          <p:nvPr/>
        </p:nvSpPr>
        <p:spPr bwMode="auto">
          <a:xfrm>
            <a:off x="5718175" y="52593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9" name="Rectangle 15"/>
          <p:cNvSpPr>
            <a:spLocks noChangeArrowheads="1"/>
          </p:cNvSpPr>
          <p:nvPr/>
        </p:nvSpPr>
        <p:spPr bwMode="auto">
          <a:xfrm>
            <a:off x="5718175" y="59451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40" name="Rectangle 16"/>
          <p:cNvSpPr>
            <a:spLocks noChangeArrowheads="1"/>
          </p:cNvSpPr>
          <p:nvPr/>
        </p:nvSpPr>
        <p:spPr bwMode="auto">
          <a:xfrm>
            <a:off x="6251575" y="2668588"/>
            <a:ext cx="13144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Registers</a:t>
            </a:r>
          </a:p>
        </p:txBody>
      </p:sp>
      <p:sp>
        <p:nvSpPr>
          <p:cNvPr id="26641" name="Rectangle 17"/>
          <p:cNvSpPr>
            <a:spLocks noChangeArrowheads="1"/>
          </p:cNvSpPr>
          <p:nvPr/>
        </p:nvSpPr>
        <p:spPr bwMode="auto">
          <a:xfrm>
            <a:off x="6403975" y="4725988"/>
            <a:ext cx="12303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Operand</a:t>
            </a:r>
          </a:p>
        </p:txBody>
      </p:sp>
      <p:sp>
        <p:nvSpPr>
          <p:cNvPr id="26642" name="Freeform 18"/>
          <p:cNvSpPr>
            <a:spLocks/>
          </p:cNvSpPr>
          <p:nvPr/>
        </p:nvSpPr>
        <p:spPr bwMode="auto">
          <a:xfrm>
            <a:off x="3127375" y="2894013"/>
            <a:ext cx="2590800" cy="2022475"/>
          </a:xfrm>
          <a:custGeom>
            <a:avLst/>
            <a:gdLst>
              <a:gd name="T0" fmla="*/ 0 w 1632"/>
              <a:gd name="T1" fmla="*/ 0 h 1274"/>
              <a:gd name="T2" fmla="*/ 0 w 1632"/>
              <a:gd name="T3" fmla="*/ 1273 h 1274"/>
              <a:gd name="T4" fmla="*/ 1631 w 1632"/>
              <a:gd name="T5" fmla="*/ 1273 h 1274"/>
            </a:gdLst>
            <a:ahLst/>
            <a:cxnLst>
              <a:cxn ang="0">
                <a:pos x="T0" y="T1"/>
              </a:cxn>
              <a:cxn ang="0">
                <a:pos x="T2" y="T3"/>
              </a:cxn>
              <a:cxn ang="0">
                <a:pos x="T4" y="T5"/>
              </a:cxn>
            </a:cxnLst>
            <a:rect l="0" t="0" r="r" b="b"/>
            <a:pathLst>
              <a:path w="1632" h="1274">
                <a:moveTo>
                  <a:pt x="0" y="0"/>
                </a:moveTo>
                <a:lnTo>
                  <a:pt x="0" y="1273"/>
                </a:lnTo>
                <a:lnTo>
                  <a:pt x="1631" y="1273"/>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375155343"/>
      </p:ext>
    </p:extLst>
  </p:cSld>
  <p:clrMapOvr>
    <a:masterClrMapping/>
  </p:clrMapOvr>
  <p:transition spd="slow"/>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75"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77"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smtClean="0">
                <a:latin typeface="Comic Sans MS" panose="030F0702030302020204" pitchFamily="66" charset="0"/>
              </a:rPr>
              <a:t>Similar to indirect </a:t>
            </a:r>
            <a:r>
              <a:rPr lang="en-US" altLang="en-US" dirty="0">
                <a:latin typeface="Comic Sans MS" panose="030F0702030302020204" pitchFamily="66" charset="0"/>
              </a:rPr>
              <a:t>addressing</a:t>
            </a:r>
          </a:p>
          <a:p>
            <a:pPr>
              <a:buFont typeface="Arial" panose="020B0604020202020204" pitchFamily="34" charset="0"/>
              <a:buChar char="•"/>
            </a:pPr>
            <a:r>
              <a:rPr lang="en-US" altLang="en-US" dirty="0">
                <a:latin typeface="Comic Sans MS" panose="030F0702030302020204" pitchFamily="66" charset="0"/>
              </a:rPr>
              <a:t>EA = (R)</a:t>
            </a:r>
          </a:p>
          <a:p>
            <a:pPr>
              <a:buFont typeface="Arial" panose="020B0604020202020204" pitchFamily="34" charset="0"/>
              <a:buChar char="•"/>
            </a:pPr>
            <a:r>
              <a:rPr lang="en-US" altLang="en-US" dirty="0">
                <a:latin typeface="Comic Sans MS" panose="030F0702030302020204" pitchFamily="66" charset="0"/>
              </a:rPr>
              <a:t>Operand is in memory cell pointed to by contents of register R</a:t>
            </a:r>
          </a:p>
          <a:p>
            <a:pPr>
              <a:buFont typeface="Arial" panose="020B0604020202020204" pitchFamily="34" charset="0"/>
              <a:buChar char="•"/>
            </a:pPr>
            <a:r>
              <a:rPr lang="en-US" altLang="en-US" dirty="0">
                <a:latin typeface="Comic Sans MS" panose="030F0702030302020204" pitchFamily="66" charset="0"/>
              </a:rPr>
              <a:t>Large address space (2</a:t>
            </a:r>
            <a:r>
              <a:rPr lang="en-US" altLang="en-US" baseline="30000" dirty="0">
                <a:latin typeface="Comic Sans MS" panose="030F0702030302020204" pitchFamily="66" charset="0"/>
              </a:rPr>
              <a:t>n</a:t>
            </a:r>
            <a:r>
              <a:rPr lang="en-US" altLang="en-US" dirty="0">
                <a:latin typeface="Comic Sans MS" panose="030F0702030302020204" pitchFamily="66" charset="0"/>
              </a:rPr>
              <a:t>)</a:t>
            </a:r>
          </a:p>
          <a:p>
            <a:pPr>
              <a:buFont typeface="Arial" panose="020B0604020202020204" pitchFamily="34" charset="0"/>
              <a:buChar char="•"/>
            </a:pPr>
            <a:r>
              <a:rPr lang="en-US" altLang="en-US" dirty="0">
                <a:latin typeface="Comic Sans MS" panose="030F0702030302020204" pitchFamily="66" charset="0"/>
              </a:rPr>
              <a:t>One fewer memory access than indirect addressing</a:t>
            </a:r>
          </a:p>
        </p:txBody>
      </p:sp>
      <p:sp>
        <p:nvSpPr>
          <p:cNvPr id="28676"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a:bodyPr>
          <a:lstStyle/>
          <a:p>
            <a:r>
              <a:rPr lang="en-US" altLang="en-US" sz="3600" dirty="0">
                <a:solidFill>
                  <a:srgbClr val="C00000"/>
                </a:solidFill>
              </a:rPr>
              <a:t>Register Indirect Addressing</a:t>
            </a:r>
          </a:p>
        </p:txBody>
      </p:sp>
    </p:spTree>
    <p:extLst>
      <p:ext uri="{BB962C8B-B14F-4D97-AF65-F5344CB8AC3E}">
        <p14:creationId xmlns:p14="http://schemas.microsoft.com/office/powerpoint/2010/main" val="1032806567"/>
      </p:ext>
    </p:extLst>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3"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4"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Autofit/>
          </a:bodyPr>
          <a:lstStyle/>
          <a:p>
            <a:r>
              <a:rPr lang="en-US" altLang="en-US" sz="3600" dirty="0">
                <a:solidFill>
                  <a:srgbClr val="C00000"/>
                </a:solidFill>
              </a:rPr>
              <a:t>Register Indirect Addressing Diagram</a:t>
            </a:r>
            <a:endParaRPr lang="en-US" altLang="en-US" dirty="0">
              <a:solidFill>
                <a:srgbClr val="C00000"/>
              </a:solidFill>
            </a:endParaRPr>
          </a:p>
        </p:txBody>
      </p:sp>
      <p:grpSp>
        <p:nvGrpSpPr>
          <p:cNvPr id="30727" name="Group 7"/>
          <p:cNvGrpSpPr>
            <a:grpSpLocks/>
          </p:cNvGrpSpPr>
          <p:nvPr/>
        </p:nvGrpSpPr>
        <p:grpSpPr bwMode="auto">
          <a:xfrm>
            <a:off x="1449388" y="2287588"/>
            <a:ext cx="4722812" cy="604837"/>
            <a:chOff x="913" y="1441"/>
            <a:chExt cx="2975" cy="381"/>
          </a:xfrm>
        </p:grpSpPr>
        <p:sp>
          <p:nvSpPr>
            <p:cNvPr id="30725" name="Rectangle 5"/>
            <p:cNvSpPr>
              <a:spLocks noChangeArrowheads="1"/>
            </p:cNvSpPr>
            <p:nvPr/>
          </p:nvSpPr>
          <p:spPr bwMode="auto">
            <a:xfrm>
              <a:off x="913" y="1441"/>
              <a:ext cx="2975" cy="38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6" name="Line 6"/>
            <p:cNvSpPr>
              <a:spLocks noChangeShapeType="1"/>
            </p:cNvSpPr>
            <p:nvPr/>
          </p:nvSpPr>
          <p:spPr bwMode="auto">
            <a:xfrm>
              <a:off x="1537" y="1446"/>
              <a:ext cx="0" cy="3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0728" name="Rectangle 8"/>
          <p:cNvSpPr>
            <a:spLocks noChangeArrowheads="1"/>
          </p:cNvSpPr>
          <p:nvPr/>
        </p:nvSpPr>
        <p:spPr bwMode="auto">
          <a:xfrm>
            <a:off x="3009900" y="2363788"/>
            <a:ext cx="25511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Register Address R</a:t>
            </a:r>
          </a:p>
        </p:txBody>
      </p:sp>
      <p:sp>
        <p:nvSpPr>
          <p:cNvPr id="30729" name="Rectangle 9"/>
          <p:cNvSpPr>
            <a:spLocks noChangeArrowheads="1"/>
          </p:cNvSpPr>
          <p:nvPr/>
        </p:nvSpPr>
        <p:spPr bwMode="auto">
          <a:xfrm>
            <a:off x="1373188" y="2363788"/>
            <a:ext cx="112871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Opcode</a:t>
            </a:r>
          </a:p>
        </p:txBody>
      </p:sp>
      <p:sp>
        <p:nvSpPr>
          <p:cNvPr id="30730" name="Rectangle 10"/>
          <p:cNvSpPr>
            <a:spLocks noChangeArrowheads="1"/>
          </p:cNvSpPr>
          <p:nvPr/>
        </p:nvSpPr>
        <p:spPr bwMode="auto">
          <a:xfrm>
            <a:off x="3125788" y="1830388"/>
            <a:ext cx="150018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Instruction</a:t>
            </a:r>
          </a:p>
        </p:txBody>
      </p:sp>
      <p:sp>
        <p:nvSpPr>
          <p:cNvPr id="30731" name="Rectangle 11"/>
          <p:cNvSpPr>
            <a:spLocks noChangeArrowheads="1"/>
          </p:cNvSpPr>
          <p:nvPr/>
        </p:nvSpPr>
        <p:spPr bwMode="auto">
          <a:xfrm>
            <a:off x="6402388" y="3124200"/>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32" name="Rectangle 12"/>
          <p:cNvSpPr>
            <a:spLocks noChangeArrowheads="1"/>
          </p:cNvSpPr>
          <p:nvPr/>
        </p:nvSpPr>
        <p:spPr bwMode="auto">
          <a:xfrm>
            <a:off x="6402388" y="3810000"/>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33" name="Rectangle 13"/>
          <p:cNvSpPr>
            <a:spLocks noChangeArrowheads="1"/>
          </p:cNvSpPr>
          <p:nvPr/>
        </p:nvSpPr>
        <p:spPr bwMode="auto">
          <a:xfrm>
            <a:off x="6402388" y="4495800"/>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34" name="Rectangle 14"/>
          <p:cNvSpPr>
            <a:spLocks noChangeArrowheads="1"/>
          </p:cNvSpPr>
          <p:nvPr/>
        </p:nvSpPr>
        <p:spPr bwMode="auto">
          <a:xfrm>
            <a:off x="6402388" y="5181600"/>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35" name="Rectangle 15"/>
          <p:cNvSpPr>
            <a:spLocks noChangeArrowheads="1"/>
          </p:cNvSpPr>
          <p:nvPr/>
        </p:nvSpPr>
        <p:spPr bwMode="auto">
          <a:xfrm>
            <a:off x="6402388" y="5867400"/>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36" name="Rectangle 16"/>
          <p:cNvSpPr>
            <a:spLocks noChangeArrowheads="1"/>
          </p:cNvSpPr>
          <p:nvPr/>
        </p:nvSpPr>
        <p:spPr bwMode="auto">
          <a:xfrm>
            <a:off x="6935788" y="2590800"/>
            <a:ext cx="123031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Memory</a:t>
            </a:r>
          </a:p>
        </p:txBody>
      </p:sp>
      <p:sp>
        <p:nvSpPr>
          <p:cNvPr id="30737" name="Rectangle 17"/>
          <p:cNvSpPr>
            <a:spLocks noChangeArrowheads="1"/>
          </p:cNvSpPr>
          <p:nvPr/>
        </p:nvSpPr>
        <p:spPr bwMode="auto">
          <a:xfrm>
            <a:off x="7088188" y="4648200"/>
            <a:ext cx="123031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Operand</a:t>
            </a:r>
          </a:p>
        </p:txBody>
      </p:sp>
      <p:sp>
        <p:nvSpPr>
          <p:cNvPr id="30738" name="Rectangle 18"/>
          <p:cNvSpPr>
            <a:spLocks noChangeArrowheads="1"/>
          </p:cNvSpPr>
          <p:nvPr/>
        </p:nvSpPr>
        <p:spPr bwMode="auto">
          <a:xfrm>
            <a:off x="1449388" y="38115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39" name="Rectangle 19"/>
          <p:cNvSpPr>
            <a:spLocks noChangeArrowheads="1"/>
          </p:cNvSpPr>
          <p:nvPr/>
        </p:nvSpPr>
        <p:spPr bwMode="auto">
          <a:xfrm>
            <a:off x="1449388" y="44973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40" name="Rectangle 20"/>
          <p:cNvSpPr>
            <a:spLocks noChangeArrowheads="1"/>
          </p:cNvSpPr>
          <p:nvPr/>
        </p:nvSpPr>
        <p:spPr bwMode="auto">
          <a:xfrm>
            <a:off x="1449388" y="51831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41" name="Rectangle 21"/>
          <p:cNvSpPr>
            <a:spLocks noChangeArrowheads="1"/>
          </p:cNvSpPr>
          <p:nvPr/>
        </p:nvSpPr>
        <p:spPr bwMode="auto">
          <a:xfrm>
            <a:off x="1449388" y="58689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42" name="Rectangle 22"/>
          <p:cNvSpPr>
            <a:spLocks noChangeArrowheads="1"/>
          </p:cNvSpPr>
          <p:nvPr/>
        </p:nvSpPr>
        <p:spPr bwMode="auto">
          <a:xfrm>
            <a:off x="1525588" y="4649788"/>
            <a:ext cx="249872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Pointer to Operand</a:t>
            </a:r>
          </a:p>
        </p:txBody>
      </p:sp>
      <p:sp>
        <p:nvSpPr>
          <p:cNvPr id="30743" name="Line 23"/>
          <p:cNvSpPr>
            <a:spLocks noChangeShapeType="1"/>
          </p:cNvSpPr>
          <p:nvPr/>
        </p:nvSpPr>
        <p:spPr bwMode="auto">
          <a:xfrm>
            <a:off x="3429000" y="2903538"/>
            <a:ext cx="0" cy="519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44" name="Line 24"/>
          <p:cNvSpPr>
            <a:spLocks noChangeShapeType="1"/>
          </p:cNvSpPr>
          <p:nvPr/>
        </p:nvSpPr>
        <p:spPr bwMode="auto">
          <a:xfrm flipH="1">
            <a:off x="681038" y="3429000"/>
            <a:ext cx="27543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45" name="Rectangle 25"/>
          <p:cNvSpPr>
            <a:spLocks noChangeArrowheads="1"/>
          </p:cNvSpPr>
          <p:nvPr/>
        </p:nvSpPr>
        <p:spPr bwMode="auto">
          <a:xfrm>
            <a:off x="2135188" y="3430588"/>
            <a:ext cx="13144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Registers</a:t>
            </a:r>
          </a:p>
        </p:txBody>
      </p:sp>
      <p:sp>
        <p:nvSpPr>
          <p:cNvPr id="30746" name="Freeform 26"/>
          <p:cNvSpPr>
            <a:spLocks/>
          </p:cNvSpPr>
          <p:nvPr/>
        </p:nvSpPr>
        <p:spPr bwMode="auto">
          <a:xfrm>
            <a:off x="685800" y="3429000"/>
            <a:ext cx="763588" cy="1411288"/>
          </a:xfrm>
          <a:custGeom>
            <a:avLst/>
            <a:gdLst>
              <a:gd name="T0" fmla="*/ 0 w 481"/>
              <a:gd name="T1" fmla="*/ 0 h 889"/>
              <a:gd name="T2" fmla="*/ 0 w 481"/>
              <a:gd name="T3" fmla="*/ 888 h 889"/>
              <a:gd name="T4" fmla="*/ 480 w 481"/>
              <a:gd name="T5" fmla="*/ 888 h 889"/>
            </a:gdLst>
            <a:ahLst/>
            <a:cxnLst>
              <a:cxn ang="0">
                <a:pos x="T0" y="T1"/>
              </a:cxn>
              <a:cxn ang="0">
                <a:pos x="T2" y="T3"/>
              </a:cxn>
              <a:cxn ang="0">
                <a:pos x="T4" y="T5"/>
              </a:cxn>
            </a:cxnLst>
            <a:rect l="0" t="0" r="r" b="b"/>
            <a:pathLst>
              <a:path w="481" h="889">
                <a:moveTo>
                  <a:pt x="0" y="0"/>
                </a:moveTo>
                <a:lnTo>
                  <a:pt x="0" y="888"/>
                </a:lnTo>
                <a:lnTo>
                  <a:pt x="480" y="888"/>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48" name="Line 28"/>
          <p:cNvSpPr>
            <a:spLocks noChangeShapeType="1"/>
          </p:cNvSpPr>
          <p:nvPr/>
        </p:nvSpPr>
        <p:spPr bwMode="auto">
          <a:xfrm>
            <a:off x="4038600" y="4800600"/>
            <a:ext cx="2362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Tree>
    <p:extLst>
      <p:ext uri="{BB962C8B-B14F-4D97-AF65-F5344CB8AC3E}">
        <p14:creationId xmlns:p14="http://schemas.microsoft.com/office/powerpoint/2010/main" val="3589750998"/>
      </p:ext>
    </p:extLst>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1"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3"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latin typeface="Comic Sans MS" panose="030F0702030302020204" pitchFamily="66" charset="0"/>
              </a:rPr>
              <a:t>EA = A + (R)</a:t>
            </a:r>
          </a:p>
          <a:p>
            <a:r>
              <a:rPr lang="en-US" altLang="en-US" dirty="0">
                <a:latin typeface="Comic Sans MS" panose="030F0702030302020204" pitchFamily="66" charset="0"/>
              </a:rPr>
              <a:t>Address field hold two values</a:t>
            </a:r>
          </a:p>
          <a:p>
            <a:pPr lvl="1"/>
            <a:r>
              <a:rPr lang="en-US" altLang="en-US" sz="2400" dirty="0">
                <a:latin typeface="Comic Sans MS" panose="030F0702030302020204" pitchFamily="66" charset="0"/>
              </a:rPr>
              <a:t>A = base value</a:t>
            </a:r>
          </a:p>
          <a:p>
            <a:pPr lvl="1"/>
            <a:r>
              <a:rPr lang="en-US" altLang="en-US" sz="2400" dirty="0">
                <a:latin typeface="Comic Sans MS" panose="030F0702030302020204" pitchFamily="66" charset="0"/>
              </a:rPr>
              <a:t>R = register that holds displacement</a:t>
            </a:r>
          </a:p>
          <a:p>
            <a:pPr lvl="1"/>
            <a:r>
              <a:rPr lang="en-US" altLang="en-US" sz="2400" dirty="0">
                <a:latin typeface="Comic Sans MS" panose="030F0702030302020204" pitchFamily="66" charset="0"/>
              </a:rPr>
              <a:t>or vice versa</a:t>
            </a:r>
          </a:p>
          <a:p>
            <a:pPr>
              <a:buFont typeface="Monotype Sorts" pitchFamily="2" charset="2"/>
              <a:buChar char="y"/>
            </a:pPr>
            <a:endParaRPr lang="en-US" altLang="en-US" dirty="0">
              <a:latin typeface="Comic Sans MS" panose="030F0702030302020204" pitchFamily="66" charset="0"/>
            </a:endParaRPr>
          </a:p>
        </p:txBody>
      </p:sp>
      <p:sp>
        <p:nvSpPr>
          <p:cNvPr id="32772"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Displacement Addressing</a:t>
            </a:r>
          </a:p>
        </p:txBody>
      </p:sp>
    </p:spTree>
    <p:extLst>
      <p:ext uri="{BB962C8B-B14F-4D97-AF65-F5344CB8AC3E}">
        <p14:creationId xmlns:p14="http://schemas.microsoft.com/office/powerpoint/2010/main" val="1635908680"/>
      </p:ext>
    </p:extLst>
  </p:cSld>
  <p:clrMapOvr>
    <a:masterClrMapping/>
  </p:clrMapOvr>
  <p:transition spd="slow"/>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ChangeArrowheads="1"/>
          </p:cNvSpPr>
          <p:nvPr/>
        </p:nvSpPr>
        <p:spPr bwMode="auto">
          <a:xfrm>
            <a:off x="28448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0"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Autofit/>
          </a:bodyPr>
          <a:lstStyle/>
          <a:p>
            <a:r>
              <a:rPr lang="en-US" altLang="en-US" sz="3600">
                <a:solidFill>
                  <a:srgbClr val="C00000"/>
                </a:solidFill>
              </a:rPr>
              <a:t>Displacement Addressing Diagram</a:t>
            </a:r>
          </a:p>
        </p:txBody>
      </p:sp>
      <p:grpSp>
        <p:nvGrpSpPr>
          <p:cNvPr id="34823" name="Group 7"/>
          <p:cNvGrpSpPr>
            <a:grpSpLocks/>
          </p:cNvGrpSpPr>
          <p:nvPr/>
        </p:nvGrpSpPr>
        <p:grpSpPr bwMode="auto">
          <a:xfrm>
            <a:off x="1169988" y="2287588"/>
            <a:ext cx="4722812" cy="604837"/>
            <a:chOff x="913" y="1441"/>
            <a:chExt cx="2975" cy="381"/>
          </a:xfrm>
        </p:grpSpPr>
        <p:sp>
          <p:nvSpPr>
            <p:cNvPr id="34821" name="Rectangle 5"/>
            <p:cNvSpPr>
              <a:spLocks noChangeArrowheads="1"/>
            </p:cNvSpPr>
            <p:nvPr/>
          </p:nvSpPr>
          <p:spPr bwMode="auto">
            <a:xfrm>
              <a:off x="913" y="1441"/>
              <a:ext cx="2975" cy="38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2" name="Line 6"/>
            <p:cNvSpPr>
              <a:spLocks noChangeShapeType="1"/>
            </p:cNvSpPr>
            <p:nvPr/>
          </p:nvSpPr>
          <p:spPr bwMode="auto">
            <a:xfrm>
              <a:off x="1537" y="1446"/>
              <a:ext cx="0" cy="3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4824" name="Rectangle 8"/>
          <p:cNvSpPr>
            <a:spLocks noChangeArrowheads="1"/>
          </p:cNvSpPr>
          <p:nvPr/>
        </p:nvSpPr>
        <p:spPr bwMode="auto">
          <a:xfrm>
            <a:off x="2084388" y="2363788"/>
            <a:ext cx="147478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Register R</a:t>
            </a:r>
          </a:p>
        </p:txBody>
      </p:sp>
      <p:sp>
        <p:nvSpPr>
          <p:cNvPr id="34825" name="Rectangle 9"/>
          <p:cNvSpPr>
            <a:spLocks noChangeArrowheads="1"/>
          </p:cNvSpPr>
          <p:nvPr/>
        </p:nvSpPr>
        <p:spPr bwMode="auto">
          <a:xfrm>
            <a:off x="1093788" y="2363788"/>
            <a:ext cx="112871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Opcode</a:t>
            </a:r>
          </a:p>
        </p:txBody>
      </p:sp>
      <p:sp>
        <p:nvSpPr>
          <p:cNvPr id="34826" name="Rectangle 10"/>
          <p:cNvSpPr>
            <a:spLocks noChangeArrowheads="1"/>
          </p:cNvSpPr>
          <p:nvPr/>
        </p:nvSpPr>
        <p:spPr bwMode="auto">
          <a:xfrm>
            <a:off x="2846388" y="1830388"/>
            <a:ext cx="150018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Instruction</a:t>
            </a:r>
          </a:p>
        </p:txBody>
      </p:sp>
      <p:sp>
        <p:nvSpPr>
          <p:cNvPr id="34827" name="Rectangle 11"/>
          <p:cNvSpPr>
            <a:spLocks noChangeArrowheads="1"/>
          </p:cNvSpPr>
          <p:nvPr/>
        </p:nvSpPr>
        <p:spPr bwMode="auto">
          <a:xfrm>
            <a:off x="6122988" y="32019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8" name="Rectangle 12"/>
          <p:cNvSpPr>
            <a:spLocks noChangeArrowheads="1"/>
          </p:cNvSpPr>
          <p:nvPr/>
        </p:nvSpPr>
        <p:spPr bwMode="auto">
          <a:xfrm>
            <a:off x="6122988" y="38877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9" name="Rectangle 13"/>
          <p:cNvSpPr>
            <a:spLocks noChangeArrowheads="1"/>
          </p:cNvSpPr>
          <p:nvPr/>
        </p:nvSpPr>
        <p:spPr bwMode="auto">
          <a:xfrm>
            <a:off x="6122988" y="45735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0" name="Rectangle 14"/>
          <p:cNvSpPr>
            <a:spLocks noChangeArrowheads="1"/>
          </p:cNvSpPr>
          <p:nvPr/>
        </p:nvSpPr>
        <p:spPr bwMode="auto">
          <a:xfrm>
            <a:off x="6122988" y="52593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1" name="Rectangle 15"/>
          <p:cNvSpPr>
            <a:spLocks noChangeArrowheads="1"/>
          </p:cNvSpPr>
          <p:nvPr/>
        </p:nvSpPr>
        <p:spPr bwMode="auto">
          <a:xfrm>
            <a:off x="6122988" y="59451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2" name="Rectangle 16"/>
          <p:cNvSpPr>
            <a:spLocks noChangeArrowheads="1"/>
          </p:cNvSpPr>
          <p:nvPr/>
        </p:nvSpPr>
        <p:spPr bwMode="auto">
          <a:xfrm>
            <a:off x="6656388" y="2668588"/>
            <a:ext cx="123031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Memory</a:t>
            </a:r>
          </a:p>
        </p:txBody>
      </p:sp>
      <p:sp>
        <p:nvSpPr>
          <p:cNvPr id="34833" name="Rectangle 17"/>
          <p:cNvSpPr>
            <a:spLocks noChangeArrowheads="1"/>
          </p:cNvSpPr>
          <p:nvPr/>
        </p:nvSpPr>
        <p:spPr bwMode="auto">
          <a:xfrm>
            <a:off x="6808788" y="4725988"/>
            <a:ext cx="123031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Operand</a:t>
            </a:r>
          </a:p>
        </p:txBody>
      </p:sp>
      <p:sp>
        <p:nvSpPr>
          <p:cNvPr id="34834" name="Rectangle 18"/>
          <p:cNvSpPr>
            <a:spLocks noChangeArrowheads="1"/>
          </p:cNvSpPr>
          <p:nvPr/>
        </p:nvSpPr>
        <p:spPr bwMode="auto">
          <a:xfrm>
            <a:off x="1169988" y="38115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5" name="Rectangle 19"/>
          <p:cNvSpPr>
            <a:spLocks noChangeArrowheads="1"/>
          </p:cNvSpPr>
          <p:nvPr/>
        </p:nvSpPr>
        <p:spPr bwMode="auto">
          <a:xfrm>
            <a:off x="1169988" y="44973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6" name="Rectangle 20"/>
          <p:cNvSpPr>
            <a:spLocks noChangeArrowheads="1"/>
          </p:cNvSpPr>
          <p:nvPr/>
        </p:nvSpPr>
        <p:spPr bwMode="auto">
          <a:xfrm>
            <a:off x="1169988" y="51831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7" name="Rectangle 21"/>
          <p:cNvSpPr>
            <a:spLocks noChangeArrowheads="1"/>
          </p:cNvSpPr>
          <p:nvPr/>
        </p:nvSpPr>
        <p:spPr bwMode="auto">
          <a:xfrm>
            <a:off x="1169988" y="5868988"/>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8" name="Rectangle 22"/>
          <p:cNvSpPr>
            <a:spLocks noChangeArrowheads="1"/>
          </p:cNvSpPr>
          <p:nvPr/>
        </p:nvSpPr>
        <p:spPr bwMode="auto">
          <a:xfrm>
            <a:off x="1246188" y="4649788"/>
            <a:ext cx="249872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Pointer to Operand</a:t>
            </a:r>
          </a:p>
        </p:txBody>
      </p:sp>
      <p:sp>
        <p:nvSpPr>
          <p:cNvPr id="34839" name="Line 23"/>
          <p:cNvSpPr>
            <a:spLocks noChangeShapeType="1"/>
          </p:cNvSpPr>
          <p:nvPr/>
        </p:nvSpPr>
        <p:spPr bwMode="auto">
          <a:xfrm>
            <a:off x="3149600" y="2903538"/>
            <a:ext cx="0" cy="519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0" name="Line 24"/>
          <p:cNvSpPr>
            <a:spLocks noChangeShapeType="1"/>
          </p:cNvSpPr>
          <p:nvPr/>
        </p:nvSpPr>
        <p:spPr bwMode="auto">
          <a:xfrm flipH="1">
            <a:off x="401638" y="3429000"/>
            <a:ext cx="27543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1" name="Rectangle 25"/>
          <p:cNvSpPr>
            <a:spLocks noChangeArrowheads="1"/>
          </p:cNvSpPr>
          <p:nvPr/>
        </p:nvSpPr>
        <p:spPr bwMode="auto">
          <a:xfrm>
            <a:off x="1855788" y="3430588"/>
            <a:ext cx="13144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Registers</a:t>
            </a:r>
          </a:p>
        </p:txBody>
      </p:sp>
      <p:sp>
        <p:nvSpPr>
          <p:cNvPr id="34842" name="Freeform 26"/>
          <p:cNvSpPr>
            <a:spLocks/>
          </p:cNvSpPr>
          <p:nvPr/>
        </p:nvSpPr>
        <p:spPr bwMode="auto">
          <a:xfrm>
            <a:off x="406400" y="3429000"/>
            <a:ext cx="763588" cy="1411288"/>
          </a:xfrm>
          <a:custGeom>
            <a:avLst/>
            <a:gdLst>
              <a:gd name="T0" fmla="*/ 0 w 481"/>
              <a:gd name="T1" fmla="*/ 0 h 889"/>
              <a:gd name="T2" fmla="*/ 0 w 481"/>
              <a:gd name="T3" fmla="*/ 888 h 889"/>
              <a:gd name="T4" fmla="*/ 480 w 481"/>
              <a:gd name="T5" fmla="*/ 888 h 889"/>
            </a:gdLst>
            <a:ahLst/>
            <a:cxnLst>
              <a:cxn ang="0">
                <a:pos x="T0" y="T1"/>
              </a:cxn>
              <a:cxn ang="0">
                <a:pos x="T2" y="T3"/>
              </a:cxn>
              <a:cxn ang="0">
                <a:pos x="T4" y="T5"/>
              </a:cxn>
            </a:cxnLst>
            <a:rect l="0" t="0" r="r" b="b"/>
            <a:pathLst>
              <a:path w="481" h="889">
                <a:moveTo>
                  <a:pt x="0" y="0"/>
                </a:moveTo>
                <a:lnTo>
                  <a:pt x="0" y="888"/>
                </a:lnTo>
                <a:lnTo>
                  <a:pt x="480" y="888"/>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43" name="Line 27"/>
          <p:cNvSpPr>
            <a:spLocks noChangeShapeType="1"/>
          </p:cNvSpPr>
          <p:nvPr/>
        </p:nvSpPr>
        <p:spPr bwMode="auto">
          <a:xfrm>
            <a:off x="3530600" y="2293938"/>
            <a:ext cx="0" cy="595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4" name="Rectangle 28"/>
          <p:cNvSpPr>
            <a:spLocks noChangeArrowheads="1"/>
          </p:cNvSpPr>
          <p:nvPr/>
        </p:nvSpPr>
        <p:spPr bwMode="auto">
          <a:xfrm>
            <a:off x="3592513" y="2328863"/>
            <a:ext cx="147796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Address A</a:t>
            </a:r>
          </a:p>
        </p:txBody>
      </p:sp>
      <p:sp>
        <p:nvSpPr>
          <p:cNvPr id="34845" name="Oval 29"/>
          <p:cNvSpPr>
            <a:spLocks noChangeArrowheads="1"/>
          </p:cNvSpPr>
          <p:nvPr/>
        </p:nvSpPr>
        <p:spPr bwMode="auto">
          <a:xfrm>
            <a:off x="4522788" y="4727575"/>
            <a:ext cx="530225" cy="454025"/>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6" name="Rectangle 30"/>
          <p:cNvSpPr>
            <a:spLocks noChangeArrowheads="1"/>
          </p:cNvSpPr>
          <p:nvPr/>
        </p:nvSpPr>
        <p:spPr bwMode="auto">
          <a:xfrm>
            <a:off x="4624388" y="4727575"/>
            <a:ext cx="35242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t>+</a:t>
            </a:r>
          </a:p>
        </p:txBody>
      </p:sp>
      <p:sp>
        <p:nvSpPr>
          <p:cNvPr id="34848" name="Line 32"/>
          <p:cNvSpPr>
            <a:spLocks noChangeShapeType="1"/>
          </p:cNvSpPr>
          <p:nvPr/>
        </p:nvSpPr>
        <p:spPr bwMode="auto">
          <a:xfrm>
            <a:off x="4749800" y="2903538"/>
            <a:ext cx="0" cy="166211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50" name="Line 34"/>
          <p:cNvSpPr>
            <a:spLocks noChangeShapeType="1"/>
          </p:cNvSpPr>
          <p:nvPr/>
        </p:nvSpPr>
        <p:spPr bwMode="auto">
          <a:xfrm>
            <a:off x="5029200" y="4953000"/>
            <a:ext cx="1066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en-US"/>
          </a:p>
        </p:txBody>
      </p:sp>
      <p:sp>
        <p:nvSpPr>
          <p:cNvPr id="34851" name="Line 35"/>
          <p:cNvSpPr>
            <a:spLocks noChangeShapeType="1"/>
          </p:cNvSpPr>
          <p:nvPr/>
        </p:nvSpPr>
        <p:spPr bwMode="auto">
          <a:xfrm>
            <a:off x="3810000" y="4953000"/>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en-US"/>
          </a:p>
        </p:txBody>
      </p:sp>
    </p:spTree>
    <p:extLst>
      <p:ext uri="{BB962C8B-B14F-4D97-AF65-F5344CB8AC3E}">
        <p14:creationId xmlns:p14="http://schemas.microsoft.com/office/powerpoint/2010/main" val="2878637805"/>
      </p:ext>
    </p:extLst>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67"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69"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A version of displacement addressing</a:t>
            </a:r>
          </a:p>
          <a:p>
            <a:pPr>
              <a:buFont typeface="Arial" panose="020B0604020202020204" pitchFamily="34" charset="0"/>
              <a:buChar char="•"/>
            </a:pPr>
            <a:r>
              <a:rPr lang="en-US" altLang="en-US" dirty="0">
                <a:latin typeface="Comic Sans MS" panose="030F0702030302020204" pitchFamily="66" charset="0"/>
              </a:rPr>
              <a:t>R = Program counter, PC</a:t>
            </a:r>
          </a:p>
          <a:p>
            <a:pPr>
              <a:buFont typeface="Arial" panose="020B0604020202020204" pitchFamily="34" charset="0"/>
              <a:buChar char="•"/>
            </a:pPr>
            <a:r>
              <a:rPr lang="en-US" altLang="en-US" dirty="0">
                <a:latin typeface="Comic Sans MS" panose="030F0702030302020204" pitchFamily="66" charset="0"/>
              </a:rPr>
              <a:t>EA = A + (PC)</a:t>
            </a:r>
          </a:p>
          <a:p>
            <a:pPr>
              <a:buFont typeface="Arial" panose="020B0604020202020204" pitchFamily="34" charset="0"/>
              <a:buChar char="•"/>
            </a:pPr>
            <a:r>
              <a:rPr lang="en-US" altLang="en-US" dirty="0">
                <a:latin typeface="Comic Sans MS" panose="030F0702030302020204" pitchFamily="66" charset="0"/>
              </a:rPr>
              <a:t>i.e. get operand from A cells from current location pointed to by PC</a:t>
            </a:r>
          </a:p>
          <a:p>
            <a:pPr>
              <a:buFont typeface="Arial" panose="020B0604020202020204" pitchFamily="34" charset="0"/>
              <a:buChar char="•"/>
            </a:pPr>
            <a:endParaRPr lang="en-US" altLang="en-US" dirty="0">
              <a:latin typeface="Comic Sans MS" panose="030F0702030302020204" pitchFamily="66" charset="0"/>
            </a:endParaRPr>
          </a:p>
        </p:txBody>
      </p:sp>
      <p:sp>
        <p:nvSpPr>
          <p:cNvPr id="36868"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Relative Addressing</a:t>
            </a:r>
          </a:p>
        </p:txBody>
      </p:sp>
    </p:spTree>
    <p:extLst>
      <p:ext uri="{BB962C8B-B14F-4D97-AF65-F5344CB8AC3E}">
        <p14:creationId xmlns:p14="http://schemas.microsoft.com/office/powerpoint/2010/main" val="2506898332"/>
      </p:ext>
    </p:extLst>
  </p:cSld>
  <p:clrMapOvr>
    <a:masterClrMapping/>
  </p:clrMapOvr>
  <p:transition spd="slow"/>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5"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7"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A holds displacement</a:t>
            </a:r>
          </a:p>
          <a:p>
            <a:pPr>
              <a:buFont typeface="Arial" panose="020B0604020202020204" pitchFamily="34" charset="0"/>
              <a:buChar char="•"/>
            </a:pPr>
            <a:r>
              <a:rPr lang="en-US" altLang="en-US" dirty="0">
                <a:latin typeface="Comic Sans MS" panose="030F0702030302020204" pitchFamily="66" charset="0"/>
              </a:rPr>
              <a:t>R holds pointer to base address</a:t>
            </a:r>
          </a:p>
          <a:p>
            <a:pPr>
              <a:buFont typeface="Arial" panose="020B0604020202020204" pitchFamily="34" charset="0"/>
              <a:buChar char="•"/>
            </a:pPr>
            <a:r>
              <a:rPr lang="en-US" altLang="en-US" dirty="0">
                <a:latin typeface="Comic Sans MS" panose="030F0702030302020204" pitchFamily="66" charset="0"/>
              </a:rPr>
              <a:t>R may be explicit or implicit</a:t>
            </a:r>
          </a:p>
          <a:p>
            <a:pPr>
              <a:buFont typeface="Arial" panose="020B0604020202020204" pitchFamily="34" charset="0"/>
              <a:buChar char="•"/>
            </a:pPr>
            <a:r>
              <a:rPr lang="en-US" altLang="en-US" dirty="0">
                <a:latin typeface="Comic Sans MS" panose="030F0702030302020204" pitchFamily="66" charset="0"/>
              </a:rPr>
              <a:t>e.g. segment registers in 80x86</a:t>
            </a:r>
          </a:p>
          <a:p>
            <a:pPr>
              <a:buFont typeface="Arial" panose="020B0604020202020204" pitchFamily="34" charset="0"/>
              <a:buChar char="•"/>
            </a:pPr>
            <a:endParaRPr lang="en-US" altLang="en-US" dirty="0">
              <a:latin typeface="Comic Sans MS" panose="030F0702030302020204" pitchFamily="66" charset="0"/>
            </a:endParaRPr>
          </a:p>
        </p:txBody>
      </p:sp>
      <p:sp>
        <p:nvSpPr>
          <p:cNvPr id="38916"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solidFill>
                  <a:srgbClr val="C00000"/>
                </a:solidFill>
              </a:rPr>
              <a:t>Base-Register Addressing</a:t>
            </a:r>
          </a:p>
        </p:txBody>
      </p:sp>
    </p:spTree>
    <p:extLst>
      <p:ext uri="{BB962C8B-B14F-4D97-AF65-F5344CB8AC3E}">
        <p14:creationId xmlns:p14="http://schemas.microsoft.com/office/powerpoint/2010/main" val="1297179554"/>
      </p:ext>
    </p:extLst>
  </p:cSld>
  <p:clrMapOvr>
    <a:masterClrMapping/>
  </p:clrMapOvr>
  <p:transition spd="slow"/>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3"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5"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latin typeface="Comic Sans MS" panose="030F0702030302020204" pitchFamily="66" charset="0"/>
              </a:rPr>
              <a:t>A = base</a:t>
            </a:r>
          </a:p>
          <a:p>
            <a:pPr>
              <a:buFont typeface="Arial" panose="020B0604020202020204" pitchFamily="34" charset="0"/>
              <a:buChar char="•"/>
            </a:pPr>
            <a:r>
              <a:rPr lang="en-US" altLang="en-US" dirty="0">
                <a:latin typeface="Comic Sans MS" panose="030F0702030302020204" pitchFamily="66" charset="0"/>
              </a:rPr>
              <a:t>R = displacement</a:t>
            </a:r>
          </a:p>
          <a:p>
            <a:pPr>
              <a:buFont typeface="Arial" panose="020B0604020202020204" pitchFamily="34" charset="0"/>
              <a:buChar char="•"/>
            </a:pPr>
            <a:r>
              <a:rPr lang="en-US" altLang="en-US" dirty="0">
                <a:latin typeface="Comic Sans MS" panose="030F0702030302020204" pitchFamily="66" charset="0"/>
              </a:rPr>
              <a:t>EA = A + R</a:t>
            </a:r>
          </a:p>
          <a:p>
            <a:pPr>
              <a:buFont typeface="Arial" panose="020B0604020202020204" pitchFamily="34" charset="0"/>
              <a:buChar char="•"/>
            </a:pPr>
            <a:r>
              <a:rPr lang="en-US" altLang="en-US" dirty="0">
                <a:latin typeface="Comic Sans MS" panose="030F0702030302020204" pitchFamily="66" charset="0"/>
              </a:rPr>
              <a:t>Good for accessing arrays</a:t>
            </a:r>
          </a:p>
          <a:p>
            <a:pPr lvl="1"/>
            <a:r>
              <a:rPr lang="en-US" altLang="en-US" sz="2400" dirty="0">
                <a:latin typeface="Comic Sans MS" panose="030F0702030302020204" pitchFamily="66" charset="0"/>
              </a:rPr>
              <a:t>EA = A + R</a:t>
            </a:r>
          </a:p>
          <a:p>
            <a:pPr lvl="1"/>
            <a:r>
              <a:rPr lang="en-US" altLang="en-US" sz="2400" dirty="0">
                <a:latin typeface="Comic Sans MS" panose="030F0702030302020204" pitchFamily="66" charset="0"/>
              </a:rPr>
              <a:t>R++</a:t>
            </a:r>
          </a:p>
          <a:p>
            <a:pPr>
              <a:buFont typeface="Monotype Sorts" pitchFamily="2" charset="2"/>
              <a:buChar char="y"/>
            </a:pPr>
            <a:endParaRPr lang="en-US" altLang="en-US" dirty="0">
              <a:latin typeface="Comic Sans MS" panose="030F0702030302020204" pitchFamily="66" charset="0"/>
            </a:endParaRPr>
          </a:p>
        </p:txBody>
      </p:sp>
      <p:sp>
        <p:nvSpPr>
          <p:cNvPr id="40964"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Indexed Addressing</a:t>
            </a:r>
          </a:p>
        </p:txBody>
      </p:sp>
    </p:spTree>
    <p:extLst>
      <p:ext uri="{BB962C8B-B14F-4D97-AF65-F5344CB8AC3E}">
        <p14:creationId xmlns:p14="http://schemas.microsoft.com/office/powerpoint/2010/main" val="3640169836"/>
      </p:ext>
    </p:extLst>
  </p:cSld>
  <p:clrMapOvr>
    <a:masterClrMapping/>
  </p:clrMapOvr>
  <p:transition spd="slow"/>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1"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3"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Postindex</a:t>
            </a:r>
          </a:p>
          <a:p>
            <a:r>
              <a:rPr lang="en-US" altLang="en-US"/>
              <a:t>EA = (A) + (R)</a:t>
            </a:r>
          </a:p>
          <a:p>
            <a:endParaRPr lang="en-US" altLang="en-US"/>
          </a:p>
          <a:p>
            <a:r>
              <a:rPr lang="en-US" altLang="en-US"/>
              <a:t>Preindex</a:t>
            </a:r>
          </a:p>
          <a:p>
            <a:r>
              <a:rPr lang="en-US" altLang="en-US"/>
              <a:t>EA = (A+(R))</a:t>
            </a:r>
          </a:p>
          <a:p>
            <a:endParaRPr lang="en-US" altLang="en-US"/>
          </a:p>
          <a:p>
            <a:r>
              <a:rPr lang="en-US" altLang="en-US"/>
              <a:t>(Draw the diagrams)</a:t>
            </a:r>
          </a:p>
          <a:p>
            <a:endParaRPr lang="en-US" altLang="en-US"/>
          </a:p>
        </p:txBody>
      </p:sp>
      <p:sp>
        <p:nvSpPr>
          <p:cNvPr id="43012"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Combinations</a:t>
            </a:r>
          </a:p>
        </p:txBody>
      </p:sp>
    </p:spTree>
    <p:extLst>
      <p:ext uri="{BB962C8B-B14F-4D97-AF65-F5344CB8AC3E}">
        <p14:creationId xmlns:p14="http://schemas.microsoft.com/office/powerpoint/2010/main" val="3518250910"/>
      </p:ext>
    </p:extLst>
  </p:cSld>
  <p:clrMapOvr>
    <a:masterClrMapping/>
  </p:clrMapOvr>
  <p:transition spd="slow"/>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59"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1"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buFont typeface="Arial" panose="020B0604020202020204" pitchFamily="34" charset="0"/>
              <a:buChar char="•"/>
            </a:pPr>
            <a:r>
              <a:rPr lang="en-US" altLang="en-US" dirty="0"/>
              <a:t>Operand is (implicitly) on top of stack</a:t>
            </a:r>
          </a:p>
          <a:p>
            <a:pPr>
              <a:buFont typeface="Arial" panose="020B0604020202020204" pitchFamily="34" charset="0"/>
              <a:buChar char="•"/>
            </a:pPr>
            <a:r>
              <a:rPr lang="en-US" altLang="en-US" dirty="0"/>
              <a:t>e.g. </a:t>
            </a:r>
          </a:p>
          <a:p>
            <a:pPr lvl="1"/>
            <a:r>
              <a:rPr lang="en-US" altLang="en-US" sz="2400" dirty="0"/>
              <a:t>ADD	Pop top two items from </a:t>
            </a:r>
            <a:r>
              <a:rPr lang="en-US" altLang="en-US" sz="2400" dirty="0" smtClean="0"/>
              <a:t>stack and </a:t>
            </a:r>
            <a:r>
              <a:rPr lang="en-US" altLang="en-US" sz="2400" dirty="0"/>
              <a:t>add</a:t>
            </a:r>
          </a:p>
          <a:p>
            <a:pPr>
              <a:buFont typeface="Monotype Sorts" pitchFamily="2" charset="2"/>
              <a:buChar char="y"/>
            </a:pPr>
            <a:endParaRPr lang="en-US" altLang="en-US" dirty="0"/>
          </a:p>
        </p:txBody>
      </p:sp>
      <p:sp>
        <p:nvSpPr>
          <p:cNvPr id="45060" name="Rectangle 4"/>
          <p:cNvSpPr>
            <a:spLocks noGrp="1" noChangeArrowheads="1"/>
          </p:cNvSpPr>
          <p:nvPr>
            <p:ph type="title" idx="4294967295"/>
          </p:nvPr>
        </p:nvSpPr>
        <p:spPr>
          <a:xfrm>
            <a:off x="0" y="274638"/>
            <a:ext cx="6121400" cy="850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dirty="0">
                <a:solidFill>
                  <a:srgbClr val="C00000"/>
                </a:solidFill>
              </a:rPr>
              <a:t>Stack Addressing</a:t>
            </a:r>
          </a:p>
        </p:txBody>
      </p:sp>
    </p:spTree>
    <p:extLst>
      <p:ext uri="{BB962C8B-B14F-4D97-AF65-F5344CB8AC3E}">
        <p14:creationId xmlns:p14="http://schemas.microsoft.com/office/powerpoint/2010/main" val="3329179759"/>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94405D97371449A1F1274BEB9B26D" ma:contentTypeVersion="7" ma:contentTypeDescription="Create a new document." ma:contentTypeScope="" ma:versionID="4d714d6f4e02b8797c18bae80915866a">
  <xsd:schema xmlns:xsd="http://www.w3.org/2001/XMLSchema" xmlns:xs="http://www.w3.org/2001/XMLSchema" xmlns:p="http://schemas.microsoft.com/office/2006/metadata/properties" xmlns:ns2="682cbc32-fee7-4912-b25f-d1e036e61d30" targetNamespace="http://schemas.microsoft.com/office/2006/metadata/properties" ma:root="true" ma:fieldsID="89d7d93295ea2ddc158f52b603a4dbe0" ns2:_="">
    <xsd:import namespace="682cbc32-fee7-4912-b25f-d1e036e61d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cbc32-fee7-4912-b25f-d1e036e61d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E6D9449-EB94-4FFC-BFE2-3A31F769178F}"/>
</file>

<file path=customXml/itemProps2.xml><?xml version="1.0" encoding="utf-8"?>
<ds:datastoreItem xmlns:ds="http://schemas.openxmlformats.org/officeDocument/2006/customXml" ds:itemID="{82F04EDC-1C38-4AF3-B3F7-081B165DBA24}"/>
</file>

<file path=customXml/itemProps3.xml><?xml version="1.0" encoding="utf-8"?>
<ds:datastoreItem xmlns:ds="http://schemas.openxmlformats.org/officeDocument/2006/customXml" ds:itemID="{FF513439-9D4D-4B02-BFA0-1E317CF53323}"/>
</file>

<file path=docProps/app.xml><?xml version="1.0" encoding="utf-8"?>
<Properties xmlns="http://schemas.openxmlformats.org/officeDocument/2006/extended-properties" xmlns:vt="http://schemas.openxmlformats.org/officeDocument/2006/docPropsVTypes">
  <Template/>
  <TotalTime>2966</TotalTime>
  <Words>1792</Words>
  <Application>Microsoft Office PowerPoint</Application>
  <PresentationFormat>On-screen Show (4:3)</PresentationFormat>
  <Paragraphs>412</Paragraphs>
  <Slides>58</Slides>
  <Notes>45</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Office Theme</vt:lpstr>
      <vt:lpstr>Computer Organization and Architecture Session 5</vt:lpstr>
      <vt:lpstr>Today’s Session</vt:lpstr>
      <vt:lpstr>What is an Instruction Set?</vt:lpstr>
      <vt:lpstr>Elements of an Instruction</vt:lpstr>
      <vt:lpstr>Source and Destination Operands</vt:lpstr>
      <vt:lpstr>Instruction Cycle State Diagram</vt:lpstr>
      <vt:lpstr>Instruction Representation</vt:lpstr>
      <vt:lpstr>Simple Instruction Format</vt:lpstr>
      <vt:lpstr>Instruction Types</vt:lpstr>
      <vt:lpstr>Number of Addresses (a)</vt:lpstr>
      <vt:lpstr>Number of Addresses (b)</vt:lpstr>
      <vt:lpstr>Number of Addresses (c)</vt:lpstr>
      <vt:lpstr>Number of Addresses (d)</vt:lpstr>
      <vt:lpstr>PowerPoint Presentation</vt:lpstr>
      <vt:lpstr>How Many Addresses</vt:lpstr>
      <vt:lpstr>Instruction set Design Decisions </vt:lpstr>
      <vt:lpstr>Types of Operand</vt:lpstr>
      <vt:lpstr>PowerPoint Presentation</vt:lpstr>
      <vt:lpstr>Intel x86 Data Types</vt:lpstr>
      <vt:lpstr>x86 Specific Data Types</vt:lpstr>
      <vt:lpstr>PowerPoint Presentation</vt:lpstr>
      <vt:lpstr>PowerPoint Presentation</vt:lpstr>
      <vt:lpstr>x86 Numeric Data Formats</vt:lpstr>
      <vt:lpstr>PowerPoint Presentation</vt:lpstr>
      <vt:lpstr>PowerPoint Presentation</vt:lpstr>
      <vt:lpstr>Types of Operation</vt:lpstr>
      <vt:lpstr>Data Transfer</vt:lpstr>
      <vt:lpstr>Arithmetic</vt:lpstr>
      <vt:lpstr>Shift and Rotate Operations</vt:lpstr>
      <vt:lpstr>Logical</vt:lpstr>
      <vt:lpstr>Conversion</vt:lpstr>
      <vt:lpstr>Input/Output</vt:lpstr>
      <vt:lpstr>Systems Control</vt:lpstr>
      <vt:lpstr>Transfer of Control</vt:lpstr>
      <vt:lpstr>Branch Instruction</vt:lpstr>
      <vt:lpstr>Nested Procedure Calls</vt:lpstr>
      <vt:lpstr>Use of Stack</vt:lpstr>
      <vt:lpstr>Stack Frame Growth Using Sample Procedures P and Q</vt:lpstr>
      <vt:lpstr>Addressing Modes</vt:lpstr>
      <vt:lpstr>Immediate Addressing</vt:lpstr>
      <vt:lpstr>Immediate Addressing Diagram</vt:lpstr>
      <vt:lpstr>Direct Addressing</vt:lpstr>
      <vt:lpstr>Direct Addressing Diagram</vt:lpstr>
      <vt:lpstr>Indirect Addressing (1)</vt:lpstr>
      <vt:lpstr>Indirect Addressing (2)</vt:lpstr>
      <vt:lpstr>Indirect Addressing Diagram</vt:lpstr>
      <vt:lpstr>Register Addressing (1)</vt:lpstr>
      <vt:lpstr>Register Addressing (2)</vt:lpstr>
      <vt:lpstr>Register Addressing Diagram</vt:lpstr>
      <vt:lpstr>Register Indirect Addressing</vt:lpstr>
      <vt:lpstr>Register Indirect Addressing Diagram</vt:lpstr>
      <vt:lpstr>Displacement Addressing</vt:lpstr>
      <vt:lpstr>Displacement Addressing Diagram</vt:lpstr>
      <vt:lpstr>Relative Addressing</vt:lpstr>
      <vt:lpstr>Base-Register Addressing</vt:lpstr>
      <vt:lpstr>Indexed Addressing</vt:lpstr>
      <vt:lpstr>Combinations</vt:lpstr>
      <vt:lpstr>Stack Addressing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Lucy J Gudino</cp:lastModifiedBy>
  <cp:revision>371</cp:revision>
  <dcterms:created xsi:type="dcterms:W3CDTF">2011-09-14T09:42:05Z</dcterms:created>
  <dcterms:modified xsi:type="dcterms:W3CDTF">2017-04-05T05:25:21Z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0x01010028994405D97371449A1F1274BEB9B26D</vt:lpwstr>
  </property>
</Properties>
</file>