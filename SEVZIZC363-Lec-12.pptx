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60" r:id="rId2"/>
    <p:sldId id="257" r:id="rId3"/>
    <p:sldId id="1496" r:id="rId4"/>
    <p:sldId id="601" r:id="rId5"/>
    <p:sldId id="269" r:id="rId6"/>
    <p:sldId id="1473" r:id="rId7"/>
    <p:sldId id="1471" r:id="rId8"/>
    <p:sldId id="1475" r:id="rId9"/>
    <p:sldId id="1476" r:id="rId10"/>
    <p:sldId id="1477" r:id="rId11"/>
    <p:sldId id="1478" r:id="rId12"/>
    <p:sldId id="1474" r:id="rId13"/>
    <p:sldId id="1487" r:id="rId14"/>
    <p:sldId id="1488" r:id="rId15"/>
    <p:sldId id="1490" r:id="rId16"/>
    <p:sldId id="1491" r:id="rId17"/>
    <p:sldId id="1492" r:id="rId18"/>
    <p:sldId id="1493" r:id="rId19"/>
    <p:sldId id="1494" r:id="rId20"/>
    <p:sldId id="1495" r:id="rId21"/>
    <p:sldId id="1472" r:id="rId22"/>
    <p:sldId id="1479" r:id="rId23"/>
    <p:sldId id="1480" r:id="rId24"/>
    <p:sldId id="1484" r:id="rId25"/>
    <p:sldId id="1485" r:id="rId26"/>
    <p:sldId id="1486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7C18207-F25A-4EAF-AFF7-23242646E77D}">
          <p14:sldIdLst>
            <p14:sldId id="260"/>
            <p14:sldId id="257"/>
            <p14:sldId id="1496"/>
            <p14:sldId id="601"/>
            <p14:sldId id="269"/>
            <p14:sldId id="1473"/>
            <p14:sldId id="1471"/>
            <p14:sldId id="1475"/>
            <p14:sldId id="1476"/>
            <p14:sldId id="1477"/>
            <p14:sldId id="1478"/>
            <p14:sldId id="1474"/>
            <p14:sldId id="1487"/>
            <p14:sldId id="1488"/>
            <p14:sldId id="1490"/>
            <p14:sldId id="1491"/>
            <p14:sldId id="1492"/>
            <p14:sldId id="1493"/>
            <p14:sldId id="1494"/>
            <p14:sldId id="1495"/>
            <p14:sldId id="1472"/>
            <p14:sldId id="1479"/>
            <p14:sldId id="1480"/>
            <p14:sldId id="1484"/>
            <p14:sldId id="1485"/>
            <p14:sldId id="14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11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1986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B4E8DC-0834-4650-9D61-C4E340743F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DAC8CB-8A01-44F9-850C-16FE848F51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AC79B6-C1D5-4ED8-A556-C696C4587616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148502-FD76-4E89-AE94-AA0CB984F0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28A08-D39B-4959-9CF9-CD46C1288B9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62BC3D-0DAC-4FAD-B9FD-6500134C6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9129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54E17E-ACDA-4D33-BCAE-677FB616DBEF}" type="datetimeFigureOut">
              <a:rPr lang="en-IN" smtClean="0"/>
              <a:pPr/>
              <a:t>11-10-2025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BC08CD-08CE-4BE9-82DB-405CF9CCA28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785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l"/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Rectangle 22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Rectangle 23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grpSp>
        <p:nvGrpSpPr>
          <p:cNvPr id="32" name="Group 31"/>
          <p:cNvGrpSpPr/>
          <p:nvPr userDrawn="1"/>
        </p:nvGrpSpPr>
        <p:grpSpPr>
          <a:xfrm>
            <a:off x="-76200" y="5257800"/>
            <a:ext cx="2209800" cy="685800"/>
            <a:chOff x="76200" y="2209800"/>
            <a:chExt cx="2209800" cy="685800"/>
          </a:xfrm>
        </p:grpSpPr>
        <p:sp>
          <p:nvSpPr>
            <p:cNvPr id="30" name="TextBox 29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31" name="TextBox 30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89C1E6-9A33-4660-8215-AD7CFB9E2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0A9E00-0706-4B0C-9543-052F61768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3FD4A-D7E4-4CFD-9684-6D45C1BA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06762" y="6356352"/>
            <a:ext cx="1937238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9" name="Picture 8" descr="BITS_university_logo_whitevert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grpSp>
        <p:nvGrpSpPr>
          <p:cNvPr id="10" name="Group 9"/>
          <p:cNvGrpSpPr/>
          <p:nvPr userDrawn="1"/>
        </p:nvGrpSpPr>
        <p:grpSpPr>
          <a:xfrm>
            <a:off x="-76200" y="5257800"/>
            <a:ext cx="2209800" cy="685800"/>
            <a:chOff x="76200" y="2209800"/>
            <a:chExt cx="2209800" cy="68580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0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Presenter details comes here</a:t>
            </a:r>
          </a:p>
          <a:p>
            <a:pPr lvl="0"/>
            <a:r>
              <a:rPr lang="en-GB" dirty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140E3B-903D-44FF-B76A-1A74F8CAA9C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AF849AF-005D-45B2-8B61-4DDF84849F3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81B6769-8356-43BB-A576-AD606E33301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315200" y="6340477"/>
            <a:ext cx="18288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24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headings here </a:t>
            </a:r>
          </a:p>
          <a:p>
            <a:pPr lvl="0"/>
            <a:r>
              <a:rPr lang="en-US" dirty="0"/>
              <a:t>(separator - can run in two lines)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6858000" y="762000"/>
            <a:ext cx="2209800" cy="685800"/>
            <a:chOff x="76200" y="2209800"/>
            <a:chExt cx="2209800" cy="685800"/>
          </a:xfrm>
        </p:grpSpPr>
        <p:sp>
          <p:nvSpPr>
            <p:cNvPr id="13" name="TextBox 12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14" name="TextBox 13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33449E-F921-4097-ACEB-2539608ECFE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FB3AF7-233A-45D2-85EE-5EC3FDF5EF5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D4B6A-FADE-4F8D-8A09-32D7B6587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7010400" y="631349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3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4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113943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2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9" name="Group 28"/>
          <p:cNvGrpSpPr/>
          <p:nvPr userDrawn="1"/>
        </p:nvGrpSpPr>
        <p:grpSpPr>
          <a:xfrm>
            <a:off x="2133600" y="6553202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3" name="TextBox 32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D4B0F8-D031-4A9E-92CA-E8B9C130C6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88829-EECA-49B6-9EB3-BCB216DDBB9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03438-FC3D-42A9-8AF7-A14C2054D94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972300" y="6142576"/>
            <a:ext cx="2133600" cy="403541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201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362201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6" name="Group 15"/>
          <p:cNvGrpSpPr/>
          <p:nvPr userDrawn="1"/>
        </p:nvGrpSpPr>
        <p:grpSpPr>
          <a:xfrm>
            <a:off x="2133600" y="6553202"/>
            <a:ext cx="7010400" cy="45719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314700" y="6598919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79A58594-808C-449C-B483-BE1860649E7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972300" y="6142576"/>
            <a:ext cx="2133600" cy="403541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133600" y="6553202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5DD9E3-F004-45EE-BC53-8795F8E8816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C770E-EF70-4FCE-A166-B9462D1C0F8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FC222-269D-47E2-8242-B002730600B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7010400" y="6217262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2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600202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4" name="Group 13"/>
          <p:cNvGrpSpPr/>
          <p:nvPr userDrawn="1"/>
        </p:nvGrpSpPr>
        <p:grpSpPr>
          <a:xfrm>
            <a:off x="2133600" y="6553202"/>
            <a:ext cx="7010400" cy="4571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74CF8A-883F-4144-AB15-923DF648E0C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C6268-F619-48BB-933B-E115CE93C62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9EFE8-733E-4AFB-BDAB-0CE5D93733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010400" y="6206027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>
            <a:normAutofit/>
          </a:bodyPr>
          <a:lstStyle>
            <a:lvl1pPr algn="l">
              <a:defRPr sz="1800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133600" y="6553202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B6E1B0A-851E-4A0C-B89D-3CC106FF0C5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224DB619-8B4A-4430-9A32-51334D35E4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8986382B-03E0-49E8-ABB3-DDB76510459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7010400" y="6210936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5" name="Group 24"/>
          <p:cNvGrpSpPr/>
          <p:nvPr userDrawn="1"/>
        </p:nvGrpSpPr>
        <p:grpSpPr>
          <a:xfrm>
            <a:off x="2133600" y="6553202"/>
            <a:ext cx="7010400" cy="45719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sp>
        <p:nvSpPr>
          <p:cNvPr id="30" name="TextBox 29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05D9FA3-A275-4FFC-BD28-8294B363B96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972300" y="6142576"/>
            <a:ext cx="2133600" cy="403541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2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5410200" y="2743200"/>
            <a:ext cx="58674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8" name="Group 7"/>
          <p:cNvGrpSpPr/>
          <p:nvPr userDrawn="1"/>
        </p:nvGrpSpPr>
        <p:grpSpPr>
          <a:xfrm rot="5400000">
            <a:off x="5006340" y="2567942"/>
            <a:ext cx="5181600" cy="4571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758714" y="1131249"/>
            <a:ext cx="2193193" cy="692697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 rot="5400000">
            <a:off x="-2794428" y="3808884"/>
            <a:ext cx="5867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9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9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1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2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95800" y="6363741"/>
            <a:ext cx="914400" cy="914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10400" y="6101551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08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dirty="0"/>
              <a:t>Pilani, Deemed</a:t>
            </a:r>
            <a:r>
              <a:rPr spc="-1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be</a:t>
            </a:r>
            <a:r>
              <a:rPr spc="-20" dirty="0"/>
              <a:t> </a:t>
            </a:r>
            <a:r>
              <a:rPr dirty="0"/>
              <a:t>University</a:t>
            </a:r>
            <a:r>
              <a:rPr spc="5" dirty="0"/>
              <a:t> </a:t>
            </a:r>
            <a:r>
              <a:rPr dirty="0"/>
              <a:t>under</a:t>
            </a:r>
            <a:r>
              <a:rPr spc="-30" dirty="0"/>
              <a:t> </a:t>
            </a:r>
            <a:r>
              <a:rPr dirty="0"/>
              <a:t>Section</a:t>
            </a:r>
            <a:r>
              <a:rPr spc="-20" dirty="0"/>
              <a:t> </a:t>
            </a:r>
            <a:r>
              <a:rPr dirty="0"/>
              <a:t>3</a:t>
            </a:r>
            <a:r>
              <a:rPr spc="-2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UGC</a:t>
            </a:r>
            <a:r>
              <a:rPr spc="-25" dirty="0"/>
              <a:t> </a:t>
            </a:r>
            <a:r>
              <a:rPr dirty="0"/>
              <a:t>Act,</a:t>
            </a:r>
            <a:r>
              <a:rPr spc="-30" dirty="0"/>
              <a:t> </a:t>
            </a:r>
            <a:r>
              <a:rPr spc="-20" dirty="0"/>
              <a:t>1956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7493114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dirty="0"/>
              <a:t>Pilani, Deemed</a:t>
            </a:r>
            <a:r>
              <a:rPr spc="-1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be</a:t>
            </a:r>
            <a:r>
              <a:rPr spc="-20" dirty="0"/>
              <a:t> </a:t>
            </a:r>
            <a:r>
              <a:rPr dirty="0"/>
              <a:t>University</a:t>
            </a:r>
            <a:r>
              <a:rPr spc="5" dirty="0"/>
              <a:t> </a:t>
            </a:r>
            <a:r>
              <a:rPr dirty="0"/>
              <a:t>under</a:t>
            </a:r>
            <a:r>
              <a:rPr spc="-30" dirty="0"/>
              <a:t> </a:t>
            </a:r>
            <a:r>
              <a:rPr dirty="0"/>
              <a:t>Section</a:t>
            </a:r>
            <a:r>
              <a:rPr spc="-20" dirty="0"/>
              <a:t> </a:t>
            </a:r>
            <a:r>
              <a:rPr dirty="0"/>
              <a:t>3</a:t>
            </a:r>
            <a:r>
              <a:rPr spc="-2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UGC</a:t>
            </a:r>
            <a:r>
              <a:rPr spc="-25" dirty="0"/>
              <a:t> </a:t>
            </a:r>
            <a:r>
              <a:rPr dirty="0"/>
              <a:t>Act,</a:t>
            </a:r>
            <a:r>
              <a:rPr spc="-30" dirty="0"/>
              <a:t> </a:t>
            </a:r>
            <a:r>
              <a:rPr spc="-20" dirty="0"/>
              <a:t>1956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133829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0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1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1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1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90C164-BD80-4958-B5AD-15C0024F6F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FCE4EB96-C0BE-4CCE-B15C-C776F702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810000"/>
            <a:ext cx="6705600" cy="1524000"/>
          </a:xfrm>
        </p:spPr>
        <p:txBody>
          <a:bodyPr/>
          <a:lstStyle/>
          <a:p>
            <a:pPr algn="ctr"/>
            <a:r>
              <a:rPr lang="en-US" sz="2800"/>
              <a:t>Data </a:t>
            </a:r>
            <a:r>
              <a:rPr lang="en-US" sz="2800" dirty="0"/>
              <a:t>Structures and Algorithms Design</a:t>
            </a:r>
            <a:endParaRPr lang="en-US" sz="40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2514600" y="5257802"/>
            <a:ext cx="6019800" cy="685799"/>
          </a:xfrm>
        </p:spPr>
        <p:txBody>
          <a:bodyPr/>
          <a:lstStyle/>
          <a:p>
            <a:r>
              <a:rPr lang="en-US" sz="1600" dirty="0"/>
              <a:t>Harish Aggarwal</a:t>
            </a:r>
          </a:p>
          <a:p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1445644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905000"/>
          </a:xfrm>
        </p:spPr>
        <p:txBody>
          <a:bodyPr anchor="ctr"/>
          <a:lstStyle/>
          <a:p>
            <a:pPr algn="ctr"/>
            <a:r>
              <a:rPr lang="en-US" sz="3200" dirty="0"/>
              <a:t>Greedy - Shortest Path – </a:t>
            </a:r>
          </a:p>
          <a:p>
            <a:pPr algn="ctr"/>
            <a:r>
              <a:rPr lang="en-US" sz="3200" dirty="0"/>
              <a:t>Dijkstra’s Algorithm</a:t>
            </a:r>
          </a:p>
          <a:p>
            <a:pPr algn="ctr"/>
            <a:r>
              <a:rPr lang="en-US" sz="3200" dirty="0"/>
              <a:t>Bellman Ford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BFEEC9-39FE-4ED3-9492-253B21FC616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2">
            <a:extLst>
              <a:ext uri="{FF2B5EF4-FFF2-40B4-BE49-F238E27FC236}">
                <a16:creationId xmlns:a16="http://schemas.microsoft.com/office/drawing/2014/main" id="{FF0E3EC0-DFF9-6DE8-5288-0BA5364B6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93838"/>
            <a:ext cx="4343400" cy="4906962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 fontAlgn="base">
              <a:spcAft>
                <a:spcPct val="0"/>
              </a:spcAft>
            </a:pPr>
            <a:r>
              <a:rPr lang="en-US" altLang="en-US" sz="1200" b="1" dirty="0"/>
              <a:t>Lecture-01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Introduction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Handout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Text Books, Reference Books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Marks Distribution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Algorithm Analysis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Pseudo Code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Random Access model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Time Complexity of Algorithms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Asymptotic Notations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Basic Maths Needed in the course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1200" b="1" dirty="0"/>
              <a:t>Lecture-02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General Rules and Problems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Mathematical analysis of Non-recursive algorithms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Mathematical analysis of Recursive algorithms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Iteration vs Recursion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Recurrence Tree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Iterative Substitution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Masters Theorem with example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US" altLang="en-US" sz="1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0699E7-A7D3-5596-4AF6-3A94B70F49A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Re-Cap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B9483A-C0FA-DFF6-CA0F-97CFF3211246}"/>
              </a:ext>
            </a:extLst>
          </p:cNvPr>
          <p:cNvSpPr txBox="1">
            <a:spLocks/>
          </p:cNvSpPr>
          <p:nvPr/>
        </p:nvSpPr>
        <p:spPr bwMode="auto">
          <a:xfrm>
            <a:off x="4572000" y="1493838"/>
            <a:ext cx="4343400" cy="49069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spcAft>
                <a:spcPct val="0"/>
              </a:spcAft>
            </a:pPr>
            <a:r>
              <a:rPr lang="en-US" altLang="en-US" sz="1200" b="1" dirty="0"/>
              <a:t>Lecture-03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Abstract Data Types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Arrays and Linked Lists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List, Stack, Queues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Array and Linked Implementation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Add, Remove operations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Applications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Infix, </a:t>
            </a:r>
            <a:r>
              <a:rPr lang="en-US" altLang="en-US" sz="1200" dirty="0" err="1"/>
              <a:t>PreFix</a:t>
            </a:r>
            <a:r>
              <a:rPr lang="en-US" altLang="en-US" sz="1200" dirty="0"/>
              <a:t>, </a:t>
            </a:r>
            <a:r>
              <a:rPr lang="en-US" altLang="en-US" sz="1200" dirty="0" err="1"/>
              <a:t>PostFix</a:t>
            </a:r>
            <a:r>
              <a:rPr lang="en-US" altLang="en-US" sz="1200" dirty="0"/>
              <a:t> Notations</a:t>
            </a:r>
          </a:p>
          <a:p>
            <a:pPr lvl="1" fontAlgn="base">
              <a:spcAft>
                <a:spcPct val="0"/>
              </a:spcAft>
              <a:buFont typeface="Arial" pitchFamily="34" charset="0"/>
              <a:buChar char="•"/>
            </a:pPr>
            <a:endParaRPr lang="en-US" altLang="en-US" sz="1200" dirty="0"/>
          </a:p>
          <a:p>
            <a:pPr marL="0" indent="0" fontAlgn="base">
              <a:spcAft>
                <a:spcPct val="0"/>
              </a:spcAft>
            </a:pPr>
            <a:r>
              <a:rPr lang="en-US" altLang="en-US" sz="1200" b="1" dirty="0"/>
              <a:t>Lecture-04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Recurrence relation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Recursion Method (With help from Merge sort)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Substitution Method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Tree – Definitions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Binary Tree – 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Proper, (Strict/Full), Complete, Perfect</a:t>
            </a:r>
          </a:p>
          <a:p>
            <a:pPr marL="182880" lvl="1" indent="-182880" fontAlgn="base">
              <a:spcAft>
                <a:spcPct val="0"/>
              </a:spcAft>
              <a:buClr>
                <a:srgbClr val="101141"/>
              </a:buClr>
              <a:buFont typeface="Arial" pitchFamily="34" charset="0"/>
              <a:buChar char="•"/>
            </a:pPr>
            <a:r>
              <a:rPr lang="en-US" altLang="en-US" sz="1200" dirty="0"/>
              <a:t>Tree Traversal – </a:t>
            </a:r>
            <a:r>
              <a:rPr lang="en-US" altLang="en-US" sz="1200" dirty="0" err="1"/>
              <a:t>PreOrder</a:t>
            </a:r>
            <a:r>
              <a:rPr lang="en-US" altLang="en-US" sz="1200" dirty="0"/>
              <a:t>, </a:t>
            </a:r>
            <a:r>
              <a:rPr lang="en-US" altLang="en-US" sz="1200" dirty="0" err="1"/>
              <a:t>InOrder</a:t>
            </a:r>
            <a:r>
              <a:rPr lang="en-US" altLang="en-US" sz="1200" dirty="0"/>
              <a:t>, </a:t>
            </a:r>
            <a:r>
              <a:rPr lang="en-US" altLang="en-US" sz="1200" dirty="0" err="1"/>
              <a:t>PostOrder</a:t>
            </a:r>
            <a:endParaRPr lang="en-US" altLang="en-US" sz="1200" dirty="0"/>
          </a:p>
          <a:p>
            <a:pPr marL="0" indent="0" fontAlgn="base">
              <a:spcAft>
                <a:spcPct val="0"/>
              </a:spcAft>
            </a:pPr>
            <a:endParaRPr lang="en-US" altLang="en-US" sz="1200" b="1" dirty="0"/>
          </a:p>
          <a:p>
            <a:pPr marL="0" indent="0" fontAlgn="base">
              <a:spcAft>
                <a:spcPct val="0"/>
              </a:spcAft>
            </a:pPr>
            <a:endParaRPr lang="en-US" alt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2">
            <a:extLst>
              <a:ext uri="{FF2B5EF4-FFF2-40B4-BE49-F238E27FC236}">
                <a16:creationId xmlns:a16="http://schemas.microsoft.com/office/drawing/2014/main" id="{FF0E3EC0-DFF9-6DE8-5288-0BA5364B6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93838"/>
            <a:ext cx="4343400" cy="4906962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 fontAlgn="base">
              <a:spcAft>
                <a:spcPct val="0"/>
              </a:spcAft>
            </a:pPr>
            <a:r>
              <a:rPr lang="en-US" altLang="en-US" sz="1200" b="1" dirty="0"/>
              <a:t>Lecture-05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Sorting –</a:t>
            </a:r>
          </a:p>
          <a:p>
            <a:pPr marL="45720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Bubble Sort</a:t>
            </a:r>
          </a:p>
          <a:p>
            <a:pPr marL="45720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Insertion Sort</a:t>
            </a:r>
          </a:p>
          <a:p>
            <a:pPr marL="45720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Selection Sort</a:t>
            </a:r>
          </a:p>
          <a:p>
            <a:pPr marL="45720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Bucket Sort</a:t>
            </a:r>
          </a:p>
          <a:p>
            <a:pPr marL="45720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Quick Sort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Complexity of Sorting Algorithms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Heaps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Heaps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 err="1"/>
              <a:t>Heapify</a:t>
            </a:r>
            <a:endParaRPr lang="en-US" altLang="en-US" sz="1200" dirty="0"/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Heap Sort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endParaRPr lang="en-US" altLang="en-US" sz="1200" dirty="0"/>
          </a:p>
          <a:p>
            <a:pPr marL="0" indent="0" fontAlgn="base">
              <a:spcAft>
                <a:spcPct val="0"/>
              </a:spcAft>
            </a:pPr>
            <a:r>
              <a:rPr lang="en-US" altLang="en-US" sz="1200" b="1" dirty="0"/>
              <a:t>Lecture-06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Hashing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Collisions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Handling collisions – </a:t>
            </a:r>
          </a:p>
          <a:p>
            <a:pPr marL="58293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100" dirty="0"/>
              <a:t>Chaining, </a:t>
            </a:r>
          </a:p>
          <a:p>
            <a:pPr marL="58293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100" dirty="0"/>
              <a:t>Linear Probing, </a:t>
            </a:r>
          </a:p>
          <a:p>
            <a:pPr marL="58293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100" dirty="0"/>
              <a:t>Quadratic Probing </a:t>
            </a:r>
          </a:p>
          <a:p>
            <a:pPr marL="58293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100" dirty="0"/>
              <a:t>Double Hashing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 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endParaRPr lang="en-US" altLang="en-US" sz="12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0699E7-A7D3-5596-4AF6-3A94B70F49A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Re-Cap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B9483A-C0FA-DFF6-CA0F-97CFF3211246}"/>
              </a:ext>
            </a:extLst>
          </p:cNvPr>
          <p:cNvSpPr txBox="1">
            <a:spLocks/>
          </p:cNvSpPr>
          <p:nvPr/>
        </p:nvSpPr>
        <p:spPr bwMode="auto">
          <a:xfrm>
            <a:off x="4572000" y="1493838"/>
            <a:ext cx="4343400" cy="49069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spcAft>
                <a:spcPct val="0"/>
              </a:spcAft>
            </a:pPr>
            <a:r>
              <a:rPr lang="en-US" altLang="en-US" sz="1200" b="1" dirty="0"/>
              <a:t>Lecture-07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Binary Search Tree</a:t>
            </a:r>
          </a:p>
          <a:p>
            <a:pPr marL="58293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100" dirty="0"/>
              <a:t>Addition, Deletion of Node </a:t>
            </a:r>
          </a:p>
          <a:p>
            <a:pPr marL="58293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100" dirty="0"/>
              <a:t>Search</a:t>
            </a:r>
          </a:p>
          <a:p>
            <a:pPr marL="582930" lvl="1" indent="-182880" fontAlgn="base">
              <a:spcAft>
                <a:spcPct val="0"/>
              </a:spcAft>
              <a:buFont typeface="Arial" pitchFamily="34" charset="0"/>
              <a:buChar char="•"/>
            </a:pPr>
            <a:endParaRPr lang="en-US" altLang="en-US" sz="1100" dirty="0"/>
          </a:p>
          <a:p>
            <a:pPr marL="0" indent="0" fontAlgn="base">
              <a:spcAft>
                <a:spcPct val="0"/>
              </a:spcAft>
            </a:pPr>
            <a:r>
              <a:rPr lang="en-US" altLang="en-US" sz="1200" b="1" dirty="0"/>
              <a:t>Lecture-08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Revision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endParaRPr lang="en-US" altLang="en-US" sz="1200" dirty="0"/>
          </a:p>
          <a:p>
            <a:pPr marL="0" indent="0" fontAlgn="base">
              <a:spcAft>
                <a:spcPct val="0"/>
              </a:spcAft>
            </a:pPr>
            <a:r>
              <a:rPr lang="en-US" altLang="en-US" sz="1100" b="1" dirty="0"/>
              <a:t>Lecture-09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100" dirty="0"/>
              <a:t>AVL Trees</a:t>
            </a:r>
            <a:endParaRPr lang="en-US" altLang="en-US" sz="1050" dirty="0"/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endParaRPr lang="en-US" altLang="en-US" sz="1100" dirty="0"/>
          </a:p>
          <a:p>
            <a:pPr marL="0" indent="0" fontAlgn="base">
              <a:spcAft>
                <a:spcPct val="0"/>
              </a:spcAft>
            </a:pPr>
            <a:r>
              <a:rPr lang="en-US" altLang="en-US" sz="1100" b="1" dirty="0"/>
              <a:t>Lecture-10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100" dirty="0"/>
              <a:t>Graphs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100" dirty="0"/>
              <a:t>BFS and DFS Traversal</a:t>
            </a:r>
            <a:endParaRPr lang="en-US" altLang="en-US" sz="1050" dirty="0"/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endParaRPr lang="en-US" altLang="en-US" sz="1100" dirty="0"/>
          </a:p>
          <a:p>
            <a:pPr marL="0" indent="0" fontAlgn="base">
              <a:spcAft>
                <a:spcPct val="0"/>
              </a:spcAft>
            </a:pPr>
            <a:r>
              <a:rPr lang="en-US" altLang="en-US" sz="1100" b="1" dirty="0"/>
              <a:t>Lecture-11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100" dirty="0"/>
              <a:t>Graphs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100" dirty="0"/>
              <a:t>Minimum Spanning Tree</a:t>
            </a:r>
          </a:p>
          <a:p>
            <a:pPr marL="58293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100" dirty="0"/>
              <a:t>Prims</a:t>
            </a:r>
          </a:p>
          <a:p>
            <a:pPr marL="58293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100" dirty="0" err="1"/>
              <a:t>Kruskals</a:t>
            </a:r>
            <a:endParaRPr lang="en-US" altLang="en-US" sz="1100" dirty="0"/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endParaRPr lang="en-US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304656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IN" dirty="0"/>
              <a:t>Agenda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6A9B68-4457-4DA2-A963-C6E1087137B2}"/>
              </a:ext>
            </a:extLst>
          </p:cNvPr>
          <p:cNvSpPr/>
          <p:nvPr/>
        </p:nvSpPr>
        <p:spPr>
          <a:xfrm>
            <a:off x="297426" y="1447800"/>
            <a:ext cx="84582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+mj-lt"/>
                <a:cs typeface="Arial" panose="020B0604020202020204" pitchFamily="34" charset="0"/>
              </a:rPr>
              <a:t>Greedy Method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  <a:cs typeface="Arial" panose="020B0604020202020204" pitchFamily="34" charset="0"/>
              </a:rPr>
              <a:t>Shortest Path Problem – 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  <a:cs typeface="Arial" panose="020B0604020202020204" pitchFamily="34" charset="0"/>
              </a:rPr>
              <a:t>Dijkstra’s Algorithm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Bellman Ford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+mj-lt"/>
              <a:cs typeface="Arial" panose="020B0604020202020204" pitchFamily="34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+mj-lt"/>
              <a:cs typeface="Arial" panose="020B06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7069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Graph Definitions and Basics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BB430DA-9EF4-44FE-9EA8-E5BB4C6010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445731"/>
            <a:ext cx="8382000" cy="4955069"/>
          </a:xfrm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marL="285750" algn="just"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w(p) is the weight of path p = &lt;v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v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,…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200" baseline="-25000" dirty="0" err="1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&gt; and is equal to sum of the weights of its constituent edges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Shortest Path Weight between vertex u and v is given by Ϩ(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u,v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 algn="just">
              <a:defRPr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7CCD1F-0942-4311-8896-34646C9F1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60" y="4659794"/>
            <a:ext cx="5314950" cy="7524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D12AE9-A35E-4C86-85F8-BEA68FB61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60" y="2317786"/>
            <a:ext cx="2162175" cy="7334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47975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Graph Definitions and Basics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3379B30-59C1-4BED-BBC7-3FFA13236E16}"/>
              </a:ext>
            </a:extLst>
          </p:cNvPr>
          <p:cNvSpPr txBox="1">
            <a:spLocks noChangeArrowheads="1"/>
          </p:cNvSpPr>
          <p:nvPr/>
        </p:nvSpPr>
        <p:spPr>
          <a:xfrm>
            <a:off x="298315" y="1524001"/>
            <a:ext cx="8382000" cy="2286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defRPr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Lemma –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Subpaths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of shortest paths are shortest paths</a:t>
            </a:r>
          </a:p>
          <a:p>
            <a:pPr marL="274320" indent="-27432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Given a weighted, directed graph G = (V, E) </a:t>
            </a:r>
          </a:p>
          <a:p>
            <a:pPr marL="274320" indent="-27432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Let p = &lt;v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v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... ,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000" baseline="-25000" dirty="0" err="1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&gt; be a shortest path from vertex v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to vertex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000" baseline="-25000" dirty="0" err="1">
                <a:latin typeface="Times New Roman" pitchFamily="18" charset="0"/>
                <a:cs typeface="Times New Roman" pitchFamily="18" charset="0"/>
              </a:rPr>
              <a:t>k</a:t>
            </a:r>
            <a:endParaRPr lang="en-US" sz="2000" baseline="-25000" dirty="0">
              <a:latin typeface="Times New Roman" pitchFamily="18" charset="0"/>
              <a:cs typeface="Times New Roman" pitchFamily="18" charset="0"/>
            </a:endParaRPr>
          </a:p>
          <a:p>
            <a:pPr marL="274320" indent="-27432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For any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j such that 0 &lt;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&lt; j &lt; k, let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000" baseline="-25000" dirty="0" err="1">
                <a:latin typeface="Times New Roman" pitchFamily="18" charset="0"/>
                <a:cs typeface="Times New Roman" pitchFamily="18" charset="0"/>
              </a:rPr>
              <a:t>ij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&lt;v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000" baseline="-25000" dirty="0" err="1">
                <a:latin typeface="Times New Roman" pitchFamily="18" charset="0"/>
                <a:cs typeface="Times New Roman" pitchFamily="18" charset="0"/>
              </a:rPr>
              <a:t>i+i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,..,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000" baseline="-25000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&gt; be the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subpath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of p from vertex v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to vertex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000" baseline="-25000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274320" indent="-27432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Then,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000" baseline="-25000" dirty="0" err="1">
                <a:latin typeface="Times New Roman" pitchFamily="18" charset="0"/>
                <a:cs typeface="Times New Roman" pitchFamily="18" charset="0"/>
              </a:rPr>
              <a:t>ij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is a shortest path from v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000" baseline="-25000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285750" indent="-285750" algn="just">
              <a:buFont typeface="Arial" pitchFamily="34" charset="0"/>
              <a:buChar char="•"/>
              <a:defRPr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F4312A7-1048-433C-BA46-A0C6803F0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4195763"/>
            <a:ext cx="3347699" cy="21336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Rectangle 3">
            <a:extLst>
              <a:ext uri="{FF2B5EF4-FFF2-40B4-BE49-F238E27FC236}">
                <a16:creationId xmlns:a16="http://schemas.microsoft.com/office/drawing/2014/main" id="{3DF34E21-551C-406B-8858-9C5DED022AD9}"/>
              </a:ext>
            </a:extLst>
          </p:cNvPr>
          <p:cNvSpPr txBox="1">
            <a:spLocks noChangeArrowheads="1"/>
          </p:cNvSpPr>
          <p:nvPr/>
        </p:nvSpPr>
        <p:spPr>
          <a:xfrm>
            <a:off x="298315" y="4158041"/>
            <a:ext cx="4426085" cy="21713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Negative Weighted edges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Negative Weighted Cycles.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Shortest path cannot have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Negative Weighted Cycles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Arial" pitchFamily="34" charset="0"/>
              <a:buChar char="•"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86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Graph Definitions and Basics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3379B30-59C1-4BED-BBC7-3FFA13236E16}"/>
              </a:ext>
            </a:extLst>
          </p:cNvPr>
          <p:cNvSpPr txBox="1">
            <a:spLocks noChangeArrowheads="1"/>
          </p:cNvSpPr>
          <p:nvPr/>
        </p:nvSpPr>
        <p:spPr>
          <a:xfrm>
            <a:off x="298315" y="1524000"/>
            <a:ext cx="5188085" cy="29718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 algn="just">
              <a:buFont typeface="Arial" panose="020B0604020202020204" pitchFamily="34" charset="0"/>
              <a:buChar char="•"/>
              <a:defRPr/>
            </a:pP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Shortest path does not contain </a:t>
            </a:r>
          </a:p>
          <a:p>
            <a:pPr marL="674370" lvl="1" indent="-27432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Negative weighted cycles or </a:t>
            </a:r>
          </a:p>
          <a:p>
            <a:pPr marL="674370" lvl="1" indent="-27432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Even positive weighted cycles (s, c, d, c)</a:t>
            </a:r>
          </a:p>
          <a:p>
            <a:pPr marL="1074420" lvl="2" indent="-274320" algn="just">
              <a:defRPr/>
            </a:pP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If there is cycle in a shortest path it can be removed and new shortest path can be found.</a:t>
            </a:r>
          </a:p>
          <a:p>
            <a:pPr marL="274320" indent="-274320" algn="just">
              <a:buFont typeface="Arial" panose="020B0604020202020204" pitchFamily="34" charset="0"/>
              <a:buChar char="•"/>
              <a:defRPr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274320" indent="-274320" algn="just">
              <a:buFont typeface="Arial" panose="020B0604020202020204" pitchFamily="34" charset="0"/>
              <a:buChar char="•"/>
              <a:defRPr/>
            </a:pP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Shortest paths have no cycles and are thus simple path</a:t>
            </a:r>
          </a:p>
          <a:p>
            <a:pPr marL="274320" indent="-274320" algn="just">
              <a:buFont typeface="Arial" panose="020B0604020202020204" pitchFamily="34" charset="0"/>
              <a:buChar char="•"/>
              <a:defRPr/>
            </a:pPr>
            <a:endParaRPr lang="en-US" sz="1900" dirty="0">
              <a:latin typeface="Times New Roman" pitchFamily="18" charset="0"/>
              <a:cs typeface="Times New Roman" pitchFamily="18" charset="0"/>
            </a:endParaRPr>
          </a:p>
          <a:p>
            <a:pPr marL="274320" indent="-274320" algn="just">
              <a:buFont typeface="Arial" panose="020B0604020202020204" pitchFamily="34" charset="0"/>
              <a:buChar char="•"/>
              <a:defRPr/>
            </a:pP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Shortest paths are not necessarily unique</a:t>
            </a:r>
          </a:p>
          <a:p>
            <a:pPr marL="274320" indent="-274320" algn="just">
              <a:buFont typeface="Arial" panose="020B0604020202020204" pitchFamily="34" charset="0"/>
              <a:buChar char="•"/>
              <a:defRPr/>
            </a:pPr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pPr marL="274320" indent="-274320" algn="just">
              <a:buFont typeface="Arial" panose="020B0604020202020204" pitchFamily="34" charset="0"/>
              <a:buChar char="•"/>
              <a:defRPr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Arial" pitchFamily="34" charset="0"/>
              <a:buChar char="•"/>
              <a:defRPr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F4312A7-1048-433C-BA46-A0C6803F0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1544266"/>
            <a:ext cx="3411295" cy="21741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8D5C348-8E3C-41F1-8B6B-29FD39F3D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983" y="4655320"/>
            <a:ext cx="6772275" cy="18010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83417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Graph Definitions and Basics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DEBBEE7-D66A-4A0E-AB59-4264B49BB330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3823646"/>
            <a:ext cx="5372792" cy="212425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defRPr/>
            </a:pP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Initialize –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Initially for all vertices set the values of d and </a:t>
            </a:r>
            <a:r>
              <a:rPr lang="el-GR" sz="2000" dirty="0">
                <a:latin typeface="Times New Roman" pitchFamily="18" charset="0"/>
                <a:cs typeface="Times New Roman" pitchFamily="18" charset="0"/>
              </a:rPr>
              <a:t>ᴨ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– </a:t>
            </a:r>
          </a:p>
          <a:p>
            <a:pPr lvl="1" algn="just">
              <a:buFont typeface="Arial" panose="020B0604020202020204" pitchFamily="34" charset="0"/>
              <a:buChar char="•"/>
              <a:defRPr/>
            </a:pPr>
            <a:r>
              <a:rPr lang="en-US" sz="1900" dirty="0" err="1">
                <a:latin typeface="Times New Roman" pitchFamily="18" charset="0"/>
                <a:cs typeface="Times New Roman" pitchFamily="18" charset="0"/>
              </a:rPr>
              <a:t>v.d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 = ∞</a:t>
            </a:r>
          </a:p>
          <a:p>
            <a:pPr lvl="1" algn="just">
              <a:buFont typeface="Arial" panose="020B0604020202020204" pitchFamily="34" charset="0"/>
              <a:buChar char="•"/>
              <a:defRPr/>
            </a:pP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v.</a:t>
            </a:r>
            <a:r>
              <a:rPr lang="el-GR" sz="1900" dirty="0">
                <a:latin typeface="Times New Roman" pitchFamily="18" charset="0"/>
                <a:cs typeface="Times New Roman" pitchFamily="18" charset="0"/>
              </a:rPr>
              <a:t>ᴨ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 = Nil</a:t>
            </a:r>
          </a:p>
          <a:p>
            <a:pPr lvl="1" algn="just">
              <a:buFont typeface="Arial" panose="020B0604020202020204" pitchFamily="34" charset="0"/>
              <a:buChar char="•"/>
              <a:defRPr/>
            </a:pP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Since s is the source vertex, its shortest-path distance is 0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Arial" pitchFamily="34" charset="0"/>
              <a:buChar char="•"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99684E-9C14-48CA-9F02-126992C2F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821" y="3848478"/>
            <a:ext cx="3067050" cy="13811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1367D9CB-323F-47FA-A9A6-63565BB31E52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1486278"/>
            <a:ext cx="8611984" cy="21713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Since any acyclic path in a Graph can contain at most |V| vertices, shortest path can have at most |V|-1 Edges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For any vertex v, we have the attributes – </a:t>
            </a:r>
          </a:p>
          <a:p>
            <a:pPr lvl="1" algn="just">
              <a:buFont typeface="Arial" panose="020B0604020202020204" pitchFamily="34" charset="0"/>
              <a:buChar char="•"/>
              <a:defRPr/>
            </a:pP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v.d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 Shortest path estimate</a:t>
            </a:r>
          </a:p>
          <a:p>
            <a:pPr lvl="1" algn="just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v.</a:t>
            </a:r>
            <a:r>
              <a:rPr lang="el-GR" sz="1800" dirty="0">
                <a:latin typeface="Times New Roman" pitchFamily="18" charset="0"/>
                <a:cs typeface="Times New Roman" pitchFamily="18" charset="0"/>
              </a:rPr>
              <a:t>ᴨ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- Parent of v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842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Graph Definitions and Basics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C20D7C-AB35-4809-85FF-43BCE0033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940" y="1447800"/>
            <a:ext cx="3067050" cy="13305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2DE25ADE-D792-41EA-9538-E5DA29F51DCC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1447800"/>
            <a:ext cx="5372792" cy="212425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Relaxation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– Given two vertices u and v and their shortest distance from source as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u.d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v.d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respectively. Then </a:t>
            </a:r>
          </a:p>
          <a:p>
            <a:pPr lvl="1" algn="just">
              <a:buFont typeface="Arial" panose="020B0604020202020204" pitchFamily="34" charset="0"/>
              <a:buChar char="•"/>
              <a:defRPr/>
            </a:pPr>
            <a:r>
              <a:rPr lang="en-US" sz="1900" dirty="0" err="1">
                <a:latin typeface="Times New Roman" pitchFamily="18" charset="0"/>
                <a:cs typeface="Times New Roman" pitchFamily="18" charset="0"/>
              </a:rPr>
              <a:t>v.d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900" dirty="0" err="1">
                <a:latin typeface="Times New Roman" pitchFamily="18" charset="0"/>
                <a:cs typeface="Times New Roman" pitchFamily="18" charset="0"/>
              </a:rPr>
              <a:t>u.d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 + w(</a:t>
            </a:r>
            <a:r>
              <a:rPr lang="en-US" sz="1900" dirty="0" err="1">
                <a:latin typeface="Times New Roman" pitchFamily="18" charset="0"/>
                <a:cs typeface="Times New Roman" pitchFamily="18" charset="0"/>
              </a:rPr>
              <a:t>u,v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) if </a:t>
            </a:r>
          </a:p>
          <a:p>
            <a:pPr lvl="1" algn="just">
              <a:buFont typeface="Arial" panose="020B0604020202020204" pitchFamily="34" charset="0"/>
              <a:buChar char="•"/>
              <a:defRPr/>
            </a:pPr>
            <a:r>
              <a:rPr lang="en-US" sz="1900" dirty="0" err="1">
                <a:latin typeface="Times New Roman" pitchFamily="18" charset="0"/>
                <a:cs typeface="Times New Roman" pitchFamily="18" charset="0"/>
              </a:rPr>
              <a:t>v.d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1900" dirty="0" err="1">
                <a:latin typeface="Times New Roman" pitchFamily="18" charset="0"/>
                <a:cs typeface="Times New Roman" pitchFamily="18" charset="0"/>
              </a:rPr>
              <a:t>u.d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 + w(</a:t>
            </a:r>
            <a:r>
              <a:rPr lang="en-US" sz="1900" dirty="0" err="1">
                <a:latin typeface="Times New Roman" pitchFamily="18" charset="0"/>
                <a:cs typeface="Times New Roman" pitchFamily="18" charset="0"/>
              </a:rPr>
              <a:t>u,v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Arial" pitchFamily="34" charset="0"/>
              <a:buChar char="•"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B46BA1-136D-48AA-BD35-907A1D1AB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19" y="3962400"/>
            <a:ext cx="4295775" cy="19335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43931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Graph Definitions and Basics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DE25ADE-D792-41EA-9538-E5DA29F51DCC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1447800"/>
            <a:ext cx="8458200" cy="48768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Triangle inequality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- For any edge (u, v), Ϩ(s, v) &lt; Ϩ(s, u) + w(u, v). 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Upper-bound property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-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v.d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&gt; Ϩ(s, v) for all vertices, and once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v.d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achieves the value Ϩ(s, v), it never changes. 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No-path property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- If there is no path from s to v, then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v.d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Ϩ(s, v) = ∞.</a:t>
            </a:r>
          </a:p>
          <a:p>
            <a:pPr marL="0" indent="0" algn="just">
              <a:defRPr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Convergence property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– If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u.d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Ϩ(s, u) at any time prior to relaxing edge (u, v), then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v.d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Ϩ(s, v) at all times afterward. 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Predecessor-subgraph property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- Once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v.d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Ϩ(s, v) for all vertices, the predecessor subgraph is a shortest-paths tree rooted at s. </a:t>
            </a: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Arial" pitchFamily="34" charset="0"/>
              <a:buChar char="•"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627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Graph Definitions and Basics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BB430DA-9EF4-44FE-9EA8-E5BB4C6010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445730"/>
            <a:ext cx="8534400" cy="5033337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285750" algn="just"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Shortest Path Problems</a:t>
            </a:r>
          </a:p>
          <a:p>
            <a:pPr marL="685800" lvl="1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Single Source Shortest Path Problem (Given Source to all Vertex)</a:t>
            </a:r>
          </a:p>
          <a:p>
            <a:pPr marL="1085850" lvl="2" algn="just">
              <a:defRPr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Bellman Ford – Negative edges allowed but No negative cycles. If there is negative cycle, it will detect and report it.</a:t>
            </a:r>
          </a:p>
          <a:p>
            <a:pPr marL="1085850" lvl="2" algn="just">
              <a:defRPr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Dijkstra – No negative edges</a:t>
            </a:r>
          </a:p>
          <a:p>
            <a:pPr marL="1085850" lvl="2" algn="just">
              <a:defRPr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685800" lvl="1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Single Destination Shortest Path Problem (All Vertex to Given Destination)</a:t>
            </a:r>
          </a:p>
          <a:p>
            <a:pPr marL="685800" lvl="1" algn="just">
              <a:buFont typeface="Arial" panose="020B0604020202020204" pitchFamily="34" charset="0"/>
              <a:buChar char="•"/>
              <a:defRPr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685800" lvl="1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Single Pair Shortest Path Problem (One Source – One Destination)</a:t>
            </a:r>
          </a:p>
          <a:p>
            <a:pPr marL="685800" lvl="1" algn="just">
              <a:buFont typeface="Arial" panose="020B0604020202020204" pitchFamily="34" charset="0"/>
              <a:buChar char="•"/>
              <a:defRPr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685800" lvl="1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All Pair Shortest Path Problem (All Vertex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(Source)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to all Vertex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(Destination)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1085850" lvl="2" algn="just">
              <a:defRPr/>
            </a:pP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Flyod-Warshall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Algorithm – No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Neagtive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cycles</a:t>
            </a:r>
          </a:p>
          <a:p>
            <a:pPr marL="1543050" lvl="3" algn="just"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685800" lvl="1" algn="just">
              <a:buFont typeface="Arial" panose="020B0604020202020204" pitchFamily="34" charset="0"/>
              <a:buChar char="•"/>
              <a:defRPr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310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Dijkstra’s Algorithm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7DAA2D4B-A2CC-4F5C-99DC-036F41C6A3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78861" y="1405325"/>
            <a:ext cx="4902739" cy="4766875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28575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Single source shortest path problem</a:t>
            </a:r>
          </a:p>
          <a:p>
            <a:pPr marL="685800" lvl="1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On a weighted directed Graph G = (V, E)</a:t>
            </a:r>
          </a:p>
          <a:p>
            <a:pPr marL="685800" lvl="1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All Edged Weights are non-negative</a:t>
            </a: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Maintain a min-priority Q of vertices ordered by their d value</a:t>
            </a: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Initially for all vertices set the values of d and </a:t>
            </a:r>
            <a:r>
              <a:rPr lang="el-GR" sz="2000" dirty="0">
                <a:latin typeface="Times New Roman" pitchFamily="18" charset="0"/>
                <a:cs typeface="Times New Roman" pitchFamily="18" charset="0"/>
              </a:rPr>
              <a:t>ᴨ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– </a:t>
            </a:r>
          </a:p>
          <a:p>
            <a:pPr lvl="1" algn="just">
              <a:buFont typeface="Arial" panose="020B0604020202020204" pitchFamily="34" charset="0"/>
              <a:buChar char="•"/>
              <a:defRPr/>
            </a:pPr>
            <a:r>
              <a:rPr lang="en-US" sz="1900" dirty="0" err="1">
                <a:latin typeface="Times New Roman" pitchFamily="18" charset="0"/>
                <a:cs typeface="Times New Roman" pitchFamily="18" charset="0"/>
              </a:rPr>
              <a:t>v.d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 = ∞</a:t>
            </a:r>
          </a:p>
          <a:p>
            <a:pPr lvl="1" algn="just">
              <a:buFont typeface="Arial" panose="020B0604020202020204" pitchFamily="34" charset="0"/>
              <a:buChar char="•"/>
              <a:defRPr/>
            </a:pP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v.</a:t>
            </a:r>
            <a:r>
              <a:rPr lang="el-GR" sz="1900" dirty="0">
                <a:latin typeface="Times New Roman" pitchFamily="18" charset="0"/>
                <a:cs typeface="Times New Roman" pitchFamily="18" charset="0"/>
              </a:rPr>
              <a:t>ᴨ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 = Nil</a:t>
            </a:r>
          </a:p>
          <a:p>
            <a:pPr lvl="1" algn="just">
              <a:buFont typeface="Arial" panose="020B0604020202020204" pitchFamily="34" charset="0"/>
              <a:buChar char="•"/>
              <a:defRPr/>
            </a:pP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Since s is the source vertex, its shortest-path distance is 0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endParaRPr lang="en-US" sz="2700" dirty="0">
              <a:latin typeface="Times New Roman" pitchFamily="18" charset="0"/>
              <a:cs typeface="Times New Roman" pitchFamily="18" charset="0"/>
            </a:endParaRP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endParaRPr lang="en-US" sz="3000" dirty="0">
              <a:latin typeface="Times New Roman" pitchFamily="18" charset="0"/>
              <a:cs typeface="Times New Roman" pitchFamily="18" charset="0"/>
            </a:endParaRPr>
          </a:p>
          <a:p>
            <a:pPr marL="685800" lvl="1" algn="just">
              <a:buFont typeface="Arial" panose="020B0604020202020204" pitchFamily="34" charset="0"/>
              <a:buChar char="•"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endParaRPr lang="en-US" sz="3000" dirty="0">
              <a:latin typeface="Times New Roman" pitchFamily="18" charset="0"/>
              <a:cs typeface="Times New Roman" pitchFamily="18" charset="0"/>
            </a:endParaRP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685800" lvl="1" algn="just">
              <a:buFont typeface="Arial" panose="020B0604020202020204" pitchFamily="34" charset="0"/>
              <a:buChar char="•"/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685800" lvl="1" algn="just">
              <a:buFont typeface="Arial" panose="020B0604020202020204" pitchFamily="34" charset="0"/>
              <a:buChar char="•"/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362C63-2489-4B07-BDEE-43D9DF9EC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4092" y="3101098"/>
            <a:ext cx="3409950" cy="23526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D4ABD1-1D15-4D16-AAD6-4587DA131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092" y="1411187"/>
            <a:ext cx="3409950" cy="15355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87330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Dijkstra’s Algorithm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A10408-7F63-4B39-B120-BBFE738C1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09800"/>
            <a:ext cx="3048000" cy="25361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C87A91-E9AD-4950-BDF3-1A7608705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190345"/>
            <a:ext cx="3223086" cy="219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397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Dijkstra’s Algorithm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A2208C9-2FD0-4FF4-8686-F8579139245E}"/>
              </a:ext>
            </a:extLst>
          </p:cNvPr>
          <p:cNvSpPr/>
          <p:nvPr/>
        </p:nvSpPr>
        <p:spPr>
          <a:xfrm>
            <a:off x="2652671" y="4890149"/>
            <a:ext cx="5334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430AA5-BCEB-4279-AA5A-9BC94F82A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1" y="1467822"/>
            <a:ext cx="3048000" cy="25361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A645AB-855A-464F-B8F4-8A586EBBA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1262" y="4337332"/>
            <a:ext cx="2333645" cy="15713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12A1D2-EB82-454E-A848-BB01773A1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00" y="3825852"/>
            <a:ext cx="2816428" cy="24333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4560AB3-50BC-4867-BCE5-B25E0BF382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251" y="4343817"/>
            <a:ext cx="2335693" cy="15649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F16C3A-7964-41E6-9CF9-DA95D0A14F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1467822"/>
            <a:ext cx="3133725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60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Dijkstra’s Algorithm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A2208C9-2FD0-4FF4-8686-F8579139245E}"/>
              </a:ext>
            </a:extLst>
          </p:cNvPr>
          <p:cNvSpPr/>
          <p:nvPr/>
        </p:nvSpPr>
        <p:spPr>
          <a:xfrm>
            <a:off x="2766847" y="5057816"/>
            <a:ext cx="5334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1A645AB-855A-464F-B8F4-8A586EBBA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72" y="4419600"/>
            <a:ext cx="2432468" cy="16379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12A1D2-EB82-454E-A848-BB01773A1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72" y="1495384"/>
            <a:ext cx="2855343" cy="24670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C848AC-7BB4-4B94-A9A6-4C526BBDC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462" y="4419600"/>
            <a:ext cx="2405183" cy="15712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766C70-5827-4B6B-A719-629315A2F2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9800" y="4186703"/>
            <a:ext cx="2674431" cy="21146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1E79C7-E4B3-4E6A-B8A8-463CDA855E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9462" y="1495384"/>
            <a:ext cx="3162300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957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Dijkstra’s Algorithm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A2208C9-2FD0-4FF4-8686-F8579139245E}"/>
              </a:ext>
            </a:extLst>
          </p:cNvPr>
          <p:cNvSpPr/>
          <p:nvPr/>
        </p:nvSpPr>
        <p:spPr>
          <a:xfrm>
            <a:off x="2766847" y="5057816"/>
            <a:ext cx="5334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C848AC-7BB4-4B94-A9A6-4C526BBDC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76" y="4482383"/>
            <a:ext cx="2405183" cy="15712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766C70-5827-4B6B-A719-629315A2F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72" y="1590004"/>
            <a:ext cx="2904012" cy="22961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0F648D-B262-42D7-AE3F-3AFF56BA97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0" y="4482382"/>
            <a:ext cx="2356836" cy="15712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D42805-92D5-47CF-B5C2-F9E0F8C955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0107" y="4038600"/>
            <a:ext cx="2613558" cy="21640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50C92B-B771-4243-865C-6F27B8473E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0247" y="1590004"/>
            <a:ext cx="3133725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589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Dijkstra’s Algorithm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A2208C9-2FD0-4FF4-8686-F8579139245E}"/>
              </a:ext>
            </a:extLst>
          </p:cNvPr>
          <p:cNvSpPr/>
          <p:nvPr/>
        </p:nvSpPr>
        <p:spPr>
          <a:xfrm>
            <a:off x="2563765" y="5110732"/>
            <a:ext cx="5334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0F648D-B262-42D7-AE3F-3AFF56BA9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18" y="4521642"/>
            <a:ext cx="2356836" cy="15712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D42805-92D5-47CF-B5C2-F9E0F8C95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88" y="1594868"/>
            <a:ext cx="3135425" cy="25961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7CBB2A-3EDD-493D-86E7-4CF54523E3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775" y="4521642"/>
            <a:ext cx="2374827" cy="15712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72D046B-E37F-48AE-8DA1-83D012B608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200" y="3819171"/>
            <a:ext cx="2689758" cy="23274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38DCFE-044E-4548-943B-92AA0DA688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5200" y="1597799"/>
            <a:ext cx="3152775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537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Dijkstra’s Algorithm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A2208C9-2FD0-4FF4-8686-F8579139245E}"/>
              </a:ext>
            </a:extLst>
          </p:cNvPr>
          <p:cNvSpPr/>
          <p:nvPr/>
        </p:nvSpPr>
        <p:spPr>
          <a:xfrm>
            <a:off x="2563765" y="5110732"/>
            <a:ext cx="5334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7CBB2A-3EDD-493D-86E7-4CF54523E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70" y="4542719"/>
            <a:ext cx="2374827" cy="15712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72D046B-E37F-48AE-8DA1-83D012B60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50" y="1577034"/>
            <a:ext cx="3020857" cy="26139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60DD08-D27F-4A99-B3AE-F6BD5860D1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577034"/>
            <a:ext cx="2505075" cy="4857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D5D7FD-9A97-49F8-8433-1EA8F92DD5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4454" y="4542719"/>
            <a:ext cx="2386821" cy="15712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C203AA-C888-4117-91A0-1C67A4D0E4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1262" y="3960724"/>
            <a:ext cx="2893043" cy="215321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983378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Dijkstra’s Algorithm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7DAA2D4B-A2CC-4F5C-99DC-036F41C6A3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78861" y="1405325"/>
            <a:ext cx="5817139" cy="3090475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28575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Greedy Algorithm - Chooses the lightest vertex as next step</a:t>
            </a: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Maintains a min-priority Q of vertices ordered by their d value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Hence operations on Min-Q are</a:t>
            </a:r>
          </a:p>
          <a:p>
            <a:pPr lvl="1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Line 3 – Insert</a:t>
            </a:r>
          </a:p>
          <a:p>
            <a:pPr lvl="1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Line 5 – Extract-Min (|V| times)</a:t>
            </a:r>
          </a:p>
          <a:p>
            <a:pPr lvl="1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Line 8 – Decrease-Key (Implicit in Relax) (|E| times)</a:t>
            </a:r>
          </a:p>
          <a:p>
            <a:pPr lvl="1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Extract-Min and Decrease-Key takes O(log V)</a:t>
            </a:r>
          </a:p>
          <a:p>
            <a:pPr lvl="1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Hence overall complexity is O((V+E)(log V)) or</a:t>
            </a:r>
          </a:p>
          <a:p>
            <a:pPr lvl="1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O(E log V)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362C63-2489-4B07-BDEE-43D9DF9EC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05325"/>
            <a:ext cx="2823108" cy="19477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88F51257-009A-436E-9D9B-D79C2E11689B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4605725"/>
            <a:ext cx="8179339" cy="169078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defRPr/>
            </a:pPr>
            <a:r>
              <a:rPr lang="en-US" sz="1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Bellman-Ford Vs Dijkstra</a:t>
            </a: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Bellman Ford can work on negative Weights as well. Also it can identify negative cycles if there are any.</a:t>
            </a: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Dijkstra can work only on positive weights. Better in complexity than Bellman Ford.</a:t>
            </a: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Dijkstra takes Greed approach whereas Bellman Ford takes Dynamic Programming approach.</a:t>
            </a:r>
          </a:p>
          <a:p>
            <a:pPr marL="0" indent="0" algn="just">
              <a:defRPr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39944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Bellman-Ford Algorithm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7DAA2D4B-A2CC-4F5C-99DC-036F41C6A3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78861" y="1405325"/>
            <a:ext cx="4902739" cy="4766875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28575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If a ≠ -∞ then a + ∞ = ∞ + a = ∞</a:t>
            </a: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If a ≠ ∞  then a + (-∞) = (-∞) + a = -∞</a:t>
            </a:r>
          </a:p>
          <a:p>
            <a:pPr marL="685800" lvl="1" algn="just">
              <a:buFont typeface="Arial" panose="020B0604020202020204" pitchFamily="34" charset="0"/>
              <a:buChar char="•"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Assumption - Graph is stored in the form of adjacency List</a:t>
            </a: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Negative weighted cycle is not allowed. If such cycle exist, the algorithm will return FALSE indicating no solution exist.</a:t>
            </a: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r>
              <a:rPr lang="en-US" sz="2000">
                <a:latin typeface="Times New Roman" pitchFamily="18" charset="0"/>
                <a:cs typeface="Times New Roman" pitchFamily="18" charset="0"/>
              </a:rPr>
              <a:t>Runs in O(VE)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endParaRPr lang="en-US" sz="3000" dirty="0">
              <a:latin typeface="Times New Roman" pitchFamily="18" charset="0"/>
              <a:cs typeface="Times New Roman" pitchFamily="18" charset="0"/>
            </a:endParaRP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endParaRPr lang="en-US" sz="3000" dirty="0">
              <a:latin typeface="Times New Roman" pitchFamily="18" charset="0"/>
              <a:cs typeface="Times New Roman" pitchFamily="18" charset="0"/>
            </a:endParaRPr>
          </a:p>
          <a:p>
            <a:pPr marL="685800" lvl="1" algn="just">
              <a:buFont typeface="Arial" panose="020B0604020202020204" pitchFamily="34" charset="0"/>
              <a:buChar char="•"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endParaRPr lang="en-US" sz="3000" dirty="0">
              <a:latin typeface="Times New Roman" pitchFamily="18" charset="0"/>
              <a:cs typeface="Times New Roman" pitchFamily="18" charset="0"/>
            </a:endParaRP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685800" lvl="1" algn="just">
              <a:buFont typeface="Arial" panose="020B0604020202020204" pitchFamily="34" charset="0"/>
              <a:buChar char="•"/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685800" lvl="1" algn="just">
              <a:buFont typeface="Arial" panose="020B0604020202020204" pitchFamily="34" charset="0"/>
              <a:buChar char="•"/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algn="just">
              <a:buFont typeface="Arial" panose="020B0604020202020204" pitchFamily="34" charset="0"/>
              <a:buChar char="•"/>
              <a:defRPr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F2C5EC-61D8-4D92-90A4-F1ED31422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409145"/>
            <a:ext cx="3519487" cy="24127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592792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Bellman-Ford Algorithm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6812D7-11DC-416A-8676-9195ACEBA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52600"/>
            <a:ext cx="3352800" cy="29094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FDC6B2-A1AB-4F61-BDB4-07FCD6CA5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83" y="3459804"/>
            <a:ext cx="2901361" cy="19828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18A72D-8A7F-4B5B-9B8A-7C0596F15F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7755" y="1778641"/>
            <a:ext cx="3067050" cy="13811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254714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Bellman-Ford Algorithm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82A5A5-1BCD-4BA9-AA95-46F883BD0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4158533"/>
            <a:ext cx="2438400" cy="20940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39044C-D21E-43B6-8214-79D26C448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1435074"/>
            <a:ext cx="2619637" cy="23706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7DE2E6-EF75-41D9-9486-21112158AD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0" y="4158533"/>
            <a:ext cx="2505075" cy="17323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57727F-C92F-4473-86AC-D692C4B88B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213" y="1447800"/>
            <a:ext cx="2730587" cy="23695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B2C3D7-910C-448E-8959-B36DE46AF2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273" y="4176367"/>
            <a:ext cx="2534858" cy="1732365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2A2208C9-2FD0-4FF4-8686-F8579139245E}"/>
              </a:ext>
            </a:extLst>
          </p:cNvPr>
          <p:cNvSpPr/>
          <p:nvPr/>
        </p:nvSpPr>
        <p:spPr>
          <a:xfrm>
            <a:off x="2919371" y="4872315"/>
            <a:ext cx="5334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8CE5336-9E0F-4F7C-B900-80C0714B6F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1483925"/>
            <a:ext cx="2619637" cy="11364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463152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Bellman-Ford Algorithm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82A5A5-1BCD-4BA9-AA95-46F883BD0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50" y="1571760"/>
            <a:ext cx="2580008" cy="22156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7DE2E6-EF75-41D9-9486-21112158A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50" y="4239217"/>
            <a:ext cx="2505075" cy="1732365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2A2208C9-2FD0-4FF4-8686-F8579139245E}"/>
              </a:ext>
            </a:extLst>
          </p:cNvPr>
          <p:cNvSpPr/>
          <p:nvPr/>
        </p:nvSpPr>
        <p:spPr>
          <a:xfrm>
            <a:off x="2854809" y="4800600"/>
            <a:ext cx="5334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BE6928-299F-4671-8A17-E4543F9CCB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2245" y="4239217"/>
            <a:ext cx="2580009" cy="21483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26EB2AC-8C98-47AB-AAA8-E72A92143B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401" y="4220247"/>
            <a:ext cx="2363320" cy="16232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8AFA118-84A8-4566-81D4-8EA284CE55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1599322"/>
            <a:ext cx="3067050" cy="13305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190944-3571-48A6-BA31-DE21D89DC5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3441" y="1579450"/>
            <a:ext cx="2505075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0190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Bellman-Ford Algorithm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A2208C9-2FD0-4FF4-8686-F8579139245E}"/>
              </a:ext>
            </a:extLst>
          </p:cNvPr>
          <p:cNvSpPr/>
          <p:nvPr/>
        </p:nvSpPr>
        <p:spPr>
          <a:xfrm>
            <a:off x="2854809" y="4800600"/>
            <a:ext cx="5334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BE6928-299F-4671-8A17-E4543F9CC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50" y="1556298"/>
            <a:ext cx="2580009" cy="21483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26EB2AC-8C98-47AB-AAA8-E72A92143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50" y="4141354"/>
            <a:ext cx="2363320" cy="16232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3E182DE-3A1D-4338-92A6-ADB584E7E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4434" y="1512073"/>
            <a:ext cx="2580009" cy="22955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6A0FC93-2218-4CB3-9083-354245E19F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1146" y="4141354"/>
            <a:ext cx="2465447" cy="162329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9DA28C4-A253-4DF3-A6C3-ABEA80EB5D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141354"/>
            <a:ext cx="2580010" cy="22408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70F6973-7BF8-4041-A7D2-8A7E6508BB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7302" y="1512073"/>
            <a:ext cx="3067050" cy="13305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532475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72390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Bellman-Ford Algorithm</a:t>
            </a: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8E1AD4-5D04-4004-81C7-4F76CC99FFA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A2208C9-2FD0-4FF4-8686-F8579139245E}"/>
              </a:ext>
            </a:extLst>
          </p:cNvPr>
          <p:cNvSpPr/>
          <p:nvPr/>
        </p:nvSpPr>
        <p:spPr>
          <a:xfrm>
            <a:off x="2667000" y="4800600"/>
            <a:ext cx="5334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6A0FC93-2218-4CB3-9083-354245E19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293755"/>
            <a:ext cx="2465447" cy="162329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9DA28C4-A253-4DF3-A6C3-ABEA80EB5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548955"/>
            <a:ext cx="2580010" cy="22408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DD21220-8F7D-4418-A495-3136CEE9E0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2326" y="4246603"/>
            <a:ext cx="2456532" cy="16704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9B27241-8229-47C4-87F1-4AA22F4947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3431" y="3789760"/>
            <a:ext cx="2945631" cy="25180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63BE935-46F4-4B30-8428-5EC9C4DBC9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5696" y="1519980"/>
            <a:ext cx="2582156" cy="22876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3FB4D7-0B99-4DAD-AB06-F17A10E6C8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2150" y="1548955"/>
            <a:ext cx="3067050" cy="13305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09058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994405D97371449A1F1274BEB9B26D" ma:contentTypeVersion="7" ma:contentTypeDescription="Create a new document." ma:contentTypeScope="" ma:versionID="4d714d6f4e02b8797c18bae80915866a">
  <xsd:schema xmlns:xsd="http://www.w3.org/2001/XMLSchema" xmlns:xs="http://www.w3.org/2001/XMLSchema" xmlns:p="http://schemas.microsoft.com/office/2006/metadata/properties" xmlns:ns2="682cbc32-fee7-4912-b25f-d1e036e61d30" targetNamespace="http://schemas.microsoft.com/office/2006/metadata/properties" ma:root="true" ma:fieldsID="89d7d93295ea2ddc158f52b603a4dbe0" ns2:_="">
    <xsd:import namespace="682cbc32-fee7-4912-b25f-d1e036e61d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2cbc32-fee7-4912-b25f-d1e036e61d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6C9C6A6-F5FD-4551-A58C-41EB597B3E98}"/>
</file>

<file path=customXml/itemProps2.xml><?xml version="1.0" encoding="utf-8"?>
<ds:datastoreItem xmlns:ds="http://schemas.openxmlformats.org/officeDocument/2006/customXml" ds:itemID="{8548B9A8-6F28-4CC8-8A37-EFD618EB6A03}"/>
</file>

<file path=customXml/itemProps3.xml><?xml version="1.0" encoding="utf-8"?>
<ds:datastoreItem xmlns:ds="http://schemas.openxmlformats.org/officeDocument/2006/customXml" ds:itemID="{177B3AAC-32D4-4373-BA3B-D69DE839B47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10807</TotalTime>
  <Words>1179</Words>
  <Application>Microsoft Office PowerPoint</Application>
  <PresentationFormat>On-screen Show (4:3)</PresentationFormat>
  <Paragraphs>254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Times New Roman</vt:lpstr>
      <vt:lpstr>Office Theme</vt:lpstr>
      <vt:lpstr>Data Structures and Algorithms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Harish Aggarwal</cp:lastModifiedBy>
  <cp:revision>746</cp:revision>
  <dcterms:created xsi:type="dcterms:W3CDTF">2011-09-14T09:42:05Z</dcterms:created>
  <dcterms:modified xsi:type="dcterms:W3CDTF">2025-10-11T06:23:18Z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0x01010028994405D97371449A1F1274BEB9B26D</vt:lpwstr>
  </property>
</Properties>
</file>